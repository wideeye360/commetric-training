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5" r:id="rId1"/>
  </p:sldMasterIdLst>
  <p:notesMasterIdLst>
    <p:notesMasterId r:id="rId14"/>
  </p:notesMasterIdLst>
  <p:sldIdLst>
    <p:sldId id="288" r:id="rId2"/>
    <p:sldId id="289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8" r:id="rId12"/>
    <p:sldId id="29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114" userDrawn="1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D3D"/>
    <a:srgbClr val="D7EEF2"/>
    <a:srgbClr val="FEF2E0"/>
    <a:srgbClr val="011C40"/>
    <a:srgbClr val="00FF87"/>
    <a:srgbClr val="000000"/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pos="3114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9F3EF-4721-40FD-AEBD-420A17CC17D9}" type="datetimeFigureOut">
              <a:rPr lang="en-GB" smtClean="0"/>
              <a:t>24/02/2026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ABC00D-C91B-4F89-9E21-C3A8382B354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23583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etric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etric.com/" TargetMode="External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0" t="2580"/>
          <a:stretch/>
        </p:blipFill>
        <p:spPr>
          <a:xfrm>
            <a:off x="-12699" y="1"/>
            <a:ext cx="11988389" cy="6681018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1160126" cy="350005"/>
          </a:xfrm>
        </p:spPr>
        <p:txBody>
          <a:bodyPr anchor="ctr"/>
          <a:lstStyle>
            <a:lvl1pPr algn="l"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1160126" cy="286973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8" y="6263198"/>
            <a:ext cx="1978688" cy="22650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15937" y="2379216"/>
            <a:ext cx="3239316" cy="266065"/>
          </a:xfrm>
        </p:spPr>
        <p:txBody>
          <a:bodyPr tIns="0"/>
          <a:lstStyle>
            <a:lvl1pPr>
              <a:defRPr sz="1200">
                <a:solidFill>
                  <a:schemeClr val="bg1"/>
                </a:solidFill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2021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Im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9" t="14055" r="718" b="-14055"/>
          <a:stretch/>
        </p:blipFill>
        <p:spPr>
          <a:xfrm>
            <a:off x="3981450" y="2300333"/>
            <a:ext cx="7892339" cy="52184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1160126" cy="350005"/>
          </a:xfrm>
        </p:spPr>
        <p:txBody>
          <a:bodyPr anchor="ctr"/>
          <a:lstStyle>
            <a:lvl1pPr algn="l">
              <a:defRPr sz="1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1160126" cy="286973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37" y="6263048"/>
            <a:ext cx="1980000" cy="226652"/>
          </a:xfrm>
          <a:prstGeom prst="rect">
            <a:avLst/>
          </a:prstGeom>
        </p:spPr>
      </p:pic>
      <p:sp>
        <p:nvSpPr>
          <p:cNvPr id="10" name="Text Placeholder 9"/>
          <p:cNvSpPr>
            <a:spLocks noGrp="1"/>
          </p:cNvSpPr>
          <p:nvPr>
            <p:ph type="body" sz="quarter" idx="10"/>
          </p:nvPr>
        </p:nvSpPr>
        <p:spPr>
          <a:xfrm>
            <a:off x="515938" y="2379216"/>
            <a:ext cx="3239316" cy="266400"/>
          </a:xfrm>
        </p:spPr>
        <p:txBody>
          <a:bodyPr tIns="0"/>
          <a:lstStyle>
            <a:lvl1pPr>
              <a:defRPr sz="1200">
                <a:solidFill>
                  <a:schemeClr val="accent1"/>
                </a:solidFill>
              </a:defRPr>
            </a:lvl1pPr>
            <a:lvl2pPr>
              <a:defRPr sz="1400">
                <a:solidFill>
                  <a:schemeClr val="accent1"/>
                </a:solidFill>
              </a:defRPr>
            </a:lvl2pPr>
            <a:lvl3pPr>
              <a:defRPr sz="1400">
                <a:solidFill>
                  <a:schemeClr val="accent1"/>
                </a:solidFill>
              </a:defRPr>
            </a:lvl3pPr>
            <a:lvl4pPr>
              <a:defRPr sz="1400">
                <a:solidFill>
                  <a:schemeClr val="accent1"/>
                </a:solidFill>
              </a:defRPr>
            </a:lvl4pPr>
            <a:lvl5pPr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663305" y="3135085"/>
            <a:ext cx="6031581" cy="3372613"/>
          </a:xfrm>
          <a:solidFill>
            <a:schemeClr val="bg2"/>
          </a:solidFill>
        </p:spPr>
        <p:txBody>
          <a:bodyPr vert="horz" lIns="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5375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_Ligh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2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2564721"/>
            <a:ext cx="4859337" cy="292388"/>
          </a:xfrm>
          <a:solidFill>
            <a:srgbClr val="FEF2E0">
              <a:alpha val="89804"/>
            </a:srgbClr>
          </a:solidFill>
          <a:effectLst>
            <a:softEdge rad="63500"/>
          </a:effectLst>
        </p:spPr>
        <p:txBody>
          <a:bodyPr wrap="square" anchor="t">
            <a:spAutoFit/>
          </a:bodyPr>
          <a:lstStyle>
            <a:lvl1pPr>
              <a:lnSpc>
                <a:spcPct val="100000"/>
              </a:lnSpc>
              <a:defRPr sz="16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8" y="3382510"/>
            <a:ext cx="4859337" cy="307777"/>
          </a:xfrm>
          <a:solidFill>
            <a:srgbClr val="FEF2E0">
              <a:alpha val="89804"/>
            </a:srgbClr>
          </a:solidFill>
          <a:effectLst>
            <a:softEdge rad="63500"/>
          </a:effectLst>
        </p:spPr>
        <p:txBody>
          <a:bodyPr wrap="square" anchor="ctr">
            <a:sp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Rounded Rectangle 6"/>
          <p:cNvSpPr/>
          <p:nvPr userDrawn="1"/>
        </p:nvSpPr>
        <p:spPr>
          <a:xfrm>
            <a:off x="11043821" y="257452"/>
            <a:ext cx="741779" cy="594804"/>
          </a:xfrm>
          <a:prstGeom prst="roundRect">
            <a:avLst/>
          </a:prstGeom>
          <a:solidFill>
            <a:schemeClr val="bg2">
              <a:alpha val="90000"/>
            </a:schemeClr>
          </a:solidFill>
          <a:ln>
            <a:noFill/>
          </a:ln>
          <a:effectLst>
            <a:softEdge rad="508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71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_Da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2" cy="685800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10972800" y="248572"/>
            <a:ext cx="741600" cy="594000"/>
          </a:xfrm>
          <a:prstGeom prst="roundRect">
            <a:avLst>
              <a:gd name="adj" fmla="val 24969"/>
            </a:avLst>
          </a:prstGeom>
          <a:solidFill>
            <a:srgbClr val="132D3D">
              <a:alpha val="94902"/>
            </a:srgb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800" y="417600"/>
            <a:ext cx="377403" cy="252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2564721"/>
            <a:ext cx="4859337" cy="317010"/>
          </a:xfrm>
          <a:solidFill>
            <a:schemeClr val="accent1">
              <a:alpha val="89804"/>
            </a:schemeClr>
          </a:solidFill>
          <a:effectLst>
            <a:softEdge rad="63500"/>
          </a:effectLst>
        </p:spPr>
        <p:txBody>
          <a:bodyPr anchor="t">
            <a:spAutoFit/>
          </a:bodyPr>
          <a:lstStyle>
            <a:lvl1pPr>
              <a:lnSpc>
                <a:spcPct val="110000"/>
              </a:lnSpc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8" y="3342242"/>
            <a:ext cx="4859337" cy="329321"/>
          </a:xfrm>
          <a:solidFill>
            <a:schemeClr val="accent1">
              <a:alpha val="89804"/>
            </a:schemeClr>
          </a:solidFill>
          <a:effectLst>
            <a:softEdge rad="63500"/>
          </a:effectLst>
        </p:spPr>
        <p:txBody>
          <a:bodyPr wrap="square" anchor="ctr"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976322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8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_Animated Grid Fas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M_Ambient_FastSinglelines">
            <a:hlinkClick r:id="" action="ppaction://media"/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2564721"/>
            <a:ext cx="4859337" cy="317010"/>
          </a:xfrm>
          <a:solidFill>
            <a:schemeClr val="accent1">
              <a:alpha val="89804"/>
            </a:schemeClr>
          </a:solidFill>
          <a:effectLst>
            <a:softEdge rad="63500"/>
          </a:effectLst>
        </p:spPr>
        <p:txBody>
          <a:bodyPr anchor="t">
            <a:spAutoFit/>
          </a:bodyPr>
          <a:lstStyle>
            <a:lvl1pPr>
              <a:lnSpc>
                <a:spcPct val="110000"/>
              </a:lnSpc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8" y="3342242"/>
            <a:ext cx="4859337" cy="329321"/>
          </a:xfrm>
          <a:solidFill>
            <a:schemeClr val="accent1">
              <a:alpha val="89804"/>
            </a:schemeClr>
          </a:solidFill>
          <a:effectLst>
            <a:softEdge rad="63500"/>
          </a:effectLst>
        </p:spPr>
        <p:txBody>
          <a:bodyPr wrap="square" anchor="ctr"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10972800" y="248572"/>
            <a:ext cx="741600" cy="594000"/>
          </a:xfrm>
          <a:prstGeom prst="roundRect">
            <a:avLst>
              <a:gd name="adj" fmla="val 24969"/>
            </a:avLst>
          </a:prstGeom>
          <a:solidFill>
            <a:srgbClr val="132D3D">
              <a:alpha val="94902"/>
            </a:srgb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800" y="417600"/>
            <a:ext cx="377403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751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55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pos="3386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ivider_Animated Grid Slo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M_Ambient_SlowSinglelines">
            <a:hlinkClick r:id="" action="ppaction://media"/>
          </p:cNvPr>
          <p:cNvPicPr>
            <a:picLocks noChangeAspect="1"/>
          </p:cNvPicPr>
          <p:nvPr userDrawn="1"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8" y="2564721"/>
            <a:ext cx="4859337" cy="317010"/>
          </a:xfrm>
          <a:solidFill>
            <a:schemeClr val="accent1">
              <a:alpha val="89804"/>
            </a:schemeClr>
          </a:solidFill>
          <a:effectLst>
            <a:softEdge rad="63500"/>
          </a:effectLst>
        </p:spPr>
        <p:txBody>
          <a:bodyPr anchor="t">
            <a:spAutoFit/>
          </a:bodyPr>
          <a:lstStyle>
            <a:lvl1pPr>
              <a:lnSpc>
                <a:spcPct val="110000"/>
              </a:lnSpc>
              <a:defRPr sz="1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8" y="3342242"/>
            <a:ext cx="4859337" cy="329321"/>
          </a:xfrm>
          <a:solidFill>
            <a:schemeClr val="accent1">
              <a:alpha val="89804"/>
            </a:schemeClr>
          </a:solidFill>
          <a:effectLst>
            <a:softEdge rad="63500"/>
          </a:effectLst>
        </p:spPr>
        <p:txBody>
          <a:bodyPr wrap="square" anchor="ctr">
            <a:spAutoFit/>
          </a:bodyPr>
          <a:lstStyle>
            <a:lvl1pPr marL="0" indent="0">
              <a:lnSpc>
                <a:spcPct val="110000"/>
              </a:lnSpc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Rounded Rectangle 10"/>
          <p:cNvSpPr/>
          <p:nvPr userDrawn="1"/>
        </p:nvSpPr>
        <p:spPr>
          <a:xfrm>
            <a:off x="10972800" y="248572"/>
            <a:ext cx="741600" cy="594000"/>
          </a:xfrm>
          <a:prstGeom prst="roundRect">
            <a:avLst>
              <a:gd name="adj" fmla="val 24969"/>
            </a:avLst>
          </a:prstGeom>
          <a:solidFill>
            <a:srgbClr val="132D3D">
              <a:alpha val="94902"/>
            </a:srgbClr>
          </a:solidFill>
          <a:ln>
            <a:noFill/>
          </a:ln>
          <a:effectLst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800" y="417600"/>
            <a:ext cx="377403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6472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53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  <p:extLst>
    <p:ext uri="{DCECCB84-F9BA-43D5-87BE-67443E8EF086}">
      <p15:sldGuideLst xmlns:p15="http://schemas.microsoft.com/office/powerpoint/2012/main">
        <p15:guide id="1" pos="338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72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6"/>
            <a:ext cx="10260012" cy="576000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cxnSp>
        <p:nvCxnSpPr>
          <p:cNvPr id="5" name="Straight Connector 4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56522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6"/>
            <a:ext cx="10260012" cy="576000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1400" dirty="0"/>
            </a:lvl1pPr>
          </a:lstStyle>
          <a:p>
            <a:pPr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sp>
        <p:nvSpPr>
          <p:cNvPr id="9" name="Content Placeholder 4"/>
          <p:cNvSpPr>
            <a:spLocks noGrp="1"/>
          </p:cNvSpPr>
          <p:nvPr>
            <p:ph sz="quarter" idx="10"/>
          </p:nvPr>
        </p:nvSpPr>
        <p:spPr>
          <a:xfrm>
            <a:off x="515938" y="1844674"/>
            <a:ext cx="11160124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0314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515938" y="1844674"/>
            <a:ext cx="5327650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1400" dirty="0"/>
            </a:lvl1pPr>
          </a:lstStyle>
          <a:p>
            <a:pPr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ntent Placeholder 4"/>
          <p:cNvSpPr>
            <a:spLocks noGrp="1"/>
          </p:cNvSpPr>
          <p:nvPr>
            <p:ph sz="quarter" idx="10"/>
          </p:nvPr>
        </p:nvSpPr>
        <p:spPr>
          <a:xfrm>
            <a:off x="6348412" y="1844674"/>
            <a:ext cx="5327649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253691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681" userDrawn="1">
          <p15:clr>
            <a:srgbClr val="FBAE40"/>
          </p15:clr>
        </p15:guide>
        <p15:guide id="2" pos="3999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0/50_Title and 2 Column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515938" y="1844674"/>
            <a:ext cx="5327650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4" name="Picture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564"/>
          <a:stretch/>
        </p:blipFill>
        <p:spPr>
          <a:xfrm>
            <a:off x="6241002" y="1566908"/>
            <a:ext cx="5699462" cy="52184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1400" dirty="0"/>
            </a:lvl1pPr>
          </a:lstStyle>
          <a:p>
            <a:pPr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7608888" y="2867025"/>
            <a:ext cx="4085998" cy="3640674"/>
          </a:xfrm>
          <a:solidFill>
            <a:schemeClr val="bg2"/>
          </a:solidFill>
        </p:spPr>
        <p:txBody>
          <a:bodyPr vert="horz" lIns="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0234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0/60_Title and 2 Column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>
            <a:spLocks noGrp="1"/>
          </p:cNvSpPr>
          <p:nvPr>
            <p:ph sz="quarter" idx="12"/>
          </p:nvPr>
        </p:nvSpPr>
        <p:spPr>
          <a:xfrm>
            <a:off x="515938" y="1844674"/>
            <a:ext cx="3132137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067"/>
          <a:stretch/>
        </p:blipFill>
        <p:spPr>
          <a:xfrm>
            <a:off x="3968318" y="1566908"/>
            <a:ext cx="7972146" cy="52184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vert="horz" lIns="0" tIns="45720" rIns="91440" bIns="45720" rtlCol="0" anchor="t">
            <a:noAutofit/>
          </a:bodyPr>
          <a:lstStyle>
            <a:lvl1pPr>
              <a:defRPr lang="en-GB" sz="1400" dirty="0"/>
            </a:lvl1pPr>
          </a:lstStyle>
          <a:p>
            <a:pPr lvl="0">
              <a:spcBef>
                <a:spcPts val="0"/>
              </a:spcBef>
            </a:pPr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5663305" y="2867025"/>
            <a:ext cx="6031581" cy="3640674"/>
          </a:xfrm>
          <a:solidFill>
            <a:schemeClr val="bg2"/>
          </a:solidFill>
        </p:spPr>
        <p:txBody>
          <a:bodyPr vert="horz" lIns="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93453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298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60/4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>
            <a:spLocks noGrp="1"/>
          </p:cNvSpPr>
          <p:nvPr>
            <p:ph sz="quarter" idx="10"/>
          </p:nvPr>
        </p:nvSpPr>
        <p:spPr>
          <a:xfrm>
            <a:off x="7643812" y="1844674"/>
            <a:ext cx="4032250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0" name="Content Placeholder 4"/>
          <p:cNvSpPr>
            <a:spLocks noGrp="1"/>
          </p:cNvSpPr>
          <p:nvPr>
            <p:ph sz="quarter" idx="12"/>
          </p:nvPr>
        </p:nvSpPr>
        <p:spPr>
          <a:xfrm>
            <a:off x="515938" y="1844674"/>
            <a:ext cx="6624637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85816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498" userDrawn="1">
          <p15:clr>
            <a:srgbClr val="FBAE40"/>
          </p15:clr>
        </p15:guide>
        <p15:guide id="2" pos="4815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20/20/60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4"/>
          <p:cNvSpPr>
            <a:spLocks noGrp="1"/>
          </p:cNvSpPr>
          <p:nvPr>
            <p:ph sz="quarter" idx="20"/>
          </p:nvPr>
        </p:nvSpPr>
        <p:spPr>
          <a:xfrm>
            <a:off x="2767142" y="1844674"/>
            <a:ext cx="2005594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9"/>
          </p:nvPr>
        </p:nvSpPr>
        <p:spPr>
          <a:xfrm>
            <a:off x="515938" y="1844674"/>
            <a:ext cx="2005626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385"/>
          <a:stretch/>
        </p:blipFill>
        <p:spPr>
          <a:xfrm>
            <a:off x="5018314" y="1566908"/>
            <a:ext cx="6922150" cy="521840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6407000" y="2590800"/>
            <a:ext cx="5287886" cy="3916899"/>
          </a:xfrm>
          <a:solidFill>
            <a:schemeClr val="bg2"/>
          </a:solidFill>
        </p:spPr>
        <p:txBody>
          <a:bodyPr vert="horz" lIns="0" tIns="45720" rIns="91440" bIns="45720" rtlCol="0">
            <a:noAutofit/>
          </a:bodyPr>
          <a:lstStyle>
            <a:lvl1pPr>
              <a:defRPr lang="en-GB"/>
            </a:lvl1pPr>
          </a:lstStyle>
          <a:p>
            <a:pPr lvl="0"/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19690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4"/>
          <p:cNvSpPr>
            <a:spLocks noGrp="1"/>
          </p:cNvSpPr>
          <p:nvPr>
            <p:ph sz="quarter" idx="14"/>
          </p:nvPr>
        </p:nvSpPr>
        <p:spPr>
          <a:xfrm>
            <a:off x="8291512" y="1844674"/>
            <a:ext cx="3384549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3" name="Content Placeholder 4"/>
          <p:cNvSpPr>
            <a:spLocks noGrp="1"/>
          </p:cNvSpPr>
          <p:nvPr>
            <p:ph sz="quarter" idx="10"/>
          </p:nvPr>
        </p:nvSpPr>
        <p:spPr>
          <a:xfrm>
            <a:off x="4403724" y="1844674"/>
            <a:ext cx="3384551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1" name="Content Placeholder 4"/>
          <p:cNvSpPr>
            <a:spLocks noGrp="1"/>
          </p:cNvSpPr>
          <p:nvPr>
            <p:ph sz="quarter" idx="13"/>
          </p:nvPr>
        </p:nvSpPr>
        <p:spPr>
          <a:xfrm>
            <a:off x="515938" y="1844674"/>
            <a:ext cx="3384550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82642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2457" userDrawn="1">
          <p15:clr>
            <a:srgbClr val="FBAE40"/>
          </p15:clr>
        </p15:guide>
        <p15:guide id="2" pos="2774" userDrawn="1">
          <p15:clr>
            <a:srgbClr val="FBAE40"/>
          </p15:clr>
        </p15:guide>
        <p15:guide id="3" pos="4906" userDrawn="1">
          <p15:clr>
            <a:srgbClr val="FBAE40"/>
          </p15:clr>
        </p15:guide>
        <p15:guide id="4" pos="5223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4"/>
          <p:cNvSpPr>
            <a:spLocks noGrp="1"/>
          </p:cNvSpPr>
          <p:nvPr>
            <p:ph sz="quarter" idx="13"/>
          </p:nvPr>
        </p:nvSpPr>
        <p:spPr>
          <a:xfrm>
            <a:off x="515938" y="1844674"/>
            <a:ext cx="2541171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4"/>
          <p:cNvSpPr>
            <a:spLocks noGrp="1"/>
          </p:cNvSpPr>
          <p:nvPr>
            <p:ph sz="quarter" idx="14"/>
          </p:nvPr>
        </p:nvSpPr>
        <p:spPr>
          <a:xfrm>
            <a:off x="3388923" y="1844674"/>
            <a:ext cx="2541171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6" name="Content Placeholder 4"/>
          <p:cNvSpPr>
            <a:spLocks noGrp="1"/>
          </p:cNvSpPr>
          <p:nvPr>
            <p:ph sz="quarter" idx="15"/>
          </p:nvPr>
        </p:nvSpPr>
        <p:spPr>
          <a:xfrm>
            <a:off x="6261908" y="1844674"/>
            <a:ext cx="2541171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7" name="Content Placeholder 4"/>
          <p:cNvSpPr>
            <a:spLocks noGrp="1"/>
          </p:cNvSpPr>
          <p:nvPr>
            <p:ph sz="quarter" idx="16"/>
          </p:nvPr>
        </p:nvSpPr>
        <p:spPr>
          <a:xfrm>
            <a:off x="9134892" y="1844674"/>
            <a:ext cx="2541171" cy="4645025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120257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35" userDrawn="1">
          <p15:clr>
            <a:srgbClr val="FBAE40"/>
          </p15:clr>
        </p15:guide>
        <p15:guide id="2" pos="2139" userDrawn="1">
          <p15:clr>
            <a:srgbClr val="FBAE40"/>
          </p15:clr>
        </p15:guide>
        <p15:guide id="3" pos="5541" userDrawn="1">
          <p15:clr>
            <a:srgbClr val="FBAE40"/>
          </p15:clr>
        </p15:guide>
        <p15:guide id="4" pos="5745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and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4"/>
          <p:cNvSpPr>
            <a:spLocks noGrp="1"/>
          </p:cNvSpPr>
          <p:nvPr>
            <p:ph sz="quarter" idx="16"/>
          </p:nvPr>
        </p:nvSpPr>
        <p:spPr>
          <a:xfrm>
            <a:off x="8291512" y="3429000"/>
            <a:ext cx="3384549" cy="3060699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8" name="Content Placeholder 4"/>
          <p:cNvSpPr>
            <a:spLocks noGrp="1"/>
          </p:cNvSpPr>
          <p:nvPr>
            <p:ph sz="quarter" idx="17"/>
          </p:nvPr>
        </p:nvSpPr>
        <p:spPr>
          <a:xfrm>
            <a:off x="4403724" y="3429000"/>
            <a:ext cx="3384551" cy="3060699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19" name="Content Placeholder 4"/>
          <p:cNvSpPr>
            <a:spLocks noGrp="1"/>
          </p:cNvSpPr>
          <p:nvPr>
            <p:ph sz="quarter" idx="18"/>
          </p:nvPr>
        </p:nvSpPr>
        <p:spPr>
          <a:xfrm>
            <a:off x="515938" y="3429000"/>
            <a:ext cx="3384549" cy="3060699"/>
          </a:xfrm>
        </p:spPr>
        <p:txBody>
          <a:bodyPr tIns="0" rIns="0" bIns="0"/>
          <a:lstStyle>
            <a:lvl1pPr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b="1"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200"/>
            </a:lvl2pPr>
            <a:lvl3pPr marL="177800" indent="-17780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-"/>
              <a:defRPr sz="1200"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100"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  <a:defRPr sz="1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5937" y="368300"/>
            <a:ext cx="10260013" cy="350005"/>
          </a:xfrm>
        </p:spPr>
        <p:txBody>
          <a:bodyPr anchor="ctr"/>
          <a:lstStyle>
            <a:lvl1pPr algn="l"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5938" y="729027"/>
            <a:ext cx="10260012" cy="575898"/>
          </a:xfrm>
        </p:spPr>
        <p:txBody>
          <a:bodyPr anchor="t"/>
          <a:lstStyle>
            <a:lvl1pPr marL="0" indent="0" algn="l">
              <a:spcBef>
                <a:spcPts val="0"/>
              </a:spcBef>
              <a:buNone/>
              <a:defRPr sz="14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515938" y="1844675"/>
            <a:ext cx="3384549" cy="137669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 dirty="0"/>
          </a:p>
        </p:txBody>
      </p:sp>
      <p:sp>
        <p:nvSpPr>
          <p:cNvPr id="15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403724" y="1844675"/>
            <a:ext cx="3384551" cy="137669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8291512" y="1844675"/>
            <a:ext cx="3384551" cy="1376691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058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939" y="367200"/>
            <a:ext cx="10260000" cy="346229"/>
          </a:xfrm>
        </p:spPr>
        <p:txBody>
          <a:bodyPr bIns="0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Box 8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15937" y="1016794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34696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8" name="TextBox 7"/>
          <p:cNvSpPr txBox="1"/>
          <p:nvPr userDrawn="1"/>
        </p:nvSpPr>
        <p:spPr>
          <a:xfrm>
            <a:off x="515938" y="6489700"/>
            <a:ext cx="673326" cy="369332"/>
          </a:xfrm>
          <a:prstGeom prst="rect">
            <a:avLst/>
          </a:prstGeom>
          <a:noFill/>
        </p:spPr>
        <p:txBody>
          <a:bodyPr wrap="square" lIns="0" rtlCol="0" anchor="ctr">
            <a:noAutofit/>
          </a:bodyPr>
          <a:lstStyle/>
          <a:p>
            <a:fld id="{CFFAC0B7-110F-4295-BA28-2418E7E1FD08}" type="slidenum">
              <a:rPr lang="en-GB" sz="1000" smtClean="0"/>
              <a:t>‹#›</a:t>
            </a:fld>
            <a:endParaRPr lang="en-GB" sz="1000" dirty="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30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22605" y="367200"/>
            <a:ext cx="5353345" cy="3614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4619625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0" name="TextBox 9"/>
          <p:cNvSpPr txBox="1"/>
          <p:nvPr userDrawn="1"/>
        </p:nvSpPr>
        <p:spPr>
          <a:xfrm>
            <a:off x="11002735" y="6489700"/>
            <a:ext cx="673326" cy="369332"/>
          </a:xfrm>
          <a:prstGeom prst="rect">
            <a:avLst/>
          </a:prstGeom>
          <a:noFill/>
        </p:spPr>
        <p:txBody>
          <a:bodyPr wrap="square" lIns="0" rIns="0" rtlCol="0" anchor="ctr">
            <a:noAutofit/>
          </a:bodyPr>
          <a:lstStyle/>
          <a:p>
            <a:pPr algn="r"/>
            <a:fld id="{CFFAC0B7-110F-4295-BA28-2418E7E1FD08}" type="slidenum">
              <a:rPr lang="en-GB" sz="1000" smtClean="0"/>
              <a:pPr algn="r"/>
              <a:t>‹#›</a:t>
            </a:fld>
            <a:endParaRPr lang="en-GB" sz="1000" dirty="0"/>
          </a:p>
        </p:txBody>
      </p:sp>
      <p:sp>
        <p:nvSpPr>
          <p:cNvPr id="12" name="Table Placeholder 11"/>
          <p:cNvSpPr>
            <a:spLocks noGrp="1"/>
          </p:cNvSpPr>
          <p:nvPr>
            <p:ph type="tbl" sz="quarter" idx="12"/>
          </p:nvPr>
        </p:nvSpPr>
        <p:spPr>
          <a:xfrm>
            <a:off x="5422900" y="1304925"/>
            <a:ext cx="6253163" cy="5184775"/>
          </a:xfrm>
          <a:solidFill>
            <a:schemeClr val="tx2"/>
          </a:solidFill>
        </p:spPr>
        <p:txBody>
          <a:bodyPr/>
          <a:lstStyle/>
          <a:p>
            <a:r>
              <a:rPr lang="en-US"/>
              <a:t>Click icon to add table</a:t>
            </a:r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368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act Messa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5936" y="368299"/>
            <a:ext cx="10260013" cy="345600"/>
          </a:xfrm>
          <a:noFill/>
          <a:effectLst/>
        </p:spPr>
        <p:txBody>
          <a:bodyPr wrap="square" anchor="ctr">
            <a:spAutoFit/>
          </a:bodyPr>
          <a:lstStyle>
            <a:lvl1pPr>
              <a:lnSpc>
                <a:spcPct val="110000"/>
              </a:lnSpc>
              <a:defRPr sz="16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515938" y="5904000"/>
            <a:ext cx="7092950" cy="201600"/>
          </a:xfrm>
          <a:noFill/>
          <a:effectLst/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Edit Master text styles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515938" y="633189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15938" y="2545872"/>
            <a:ext cx="7092950" cy="1661993"/>
          </a:xfrm>
        </p:spPr>
        <p:txBody>
          <a:bodyPr tIns="0" rIns="0" bIns="0" anchor="ctr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sz="6000">
                <a:latin typeface="+mj-lt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75012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15938" y="2664000"/>
            <a:ext cx="10260012" cy="830997"/>
          </a:xfrm>
          <a:noFill/>
          <a:effectLst/>
        </p:spPr>
        <p:txBody>
          <a:bodyPr wrap="square" anchor="t">
            <a:spAutoFit/>
          </a:bodyPr>
          <a:lstStyle>
            <a:lvl1pPr>
              <a:lnSpc>
                <a:spcPct val="9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515938" y="5904000"/>
            <a:ext cx="7092950" cy="203133"/>
          </a:xfrm>
          <a:noFill/>
          <a:effectLst/>
        </p:spPr>
        <p:txBody>
          <a:bodyPr vert="horz" wrap="square" lIns="0" tIns="0" rIns="0" bIns="0" rtlCol="0" anchor="t">
            <a:spAutoFit/>
          </a:bodyPr>
          <a:lstStyle>
            <a:lvl1pPr>
              <a:defRPr lang="en-US" sz="1200" b="0" smtClean="0"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</a:pPr>
            <a:r>
              <a:rPr lang="en-US"/>
              <a:t>Edit Master text styles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8177" t="18073" r="29763" b="53793"/>
          <a:stretch/>
        </p:blipFill>
        <p:spPr>
          <a:xfrm>
            <a:off x="252474" y="1543899"/>
            <a:ext cx="1234074" cy="1036156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>
            <a:off x="515938" y="633189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 userDrawn="1"/>
        </p:nvCxnSpPr>
        <p:spPr>
          <a:xfrm>
            <a:off x="515937" y="1512000"/>
            <a:ext cx="11160124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6956" y="416734"/>
            <a:ext cx="379105" cy="253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044433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d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2" cy="685800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906486" y="2928257"/>
            <a:ext cx="6324600" cy="1034143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hlinkClick r:id="rId3"/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3033000"/>
            <a:ext cx="5966403" cy="7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947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Contact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2" cy="685800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2906486" y="2928257"/>
            <a:ext cx="6324600" cy="1034143"/>
          </a:xfrm>
          <a:prstGeom prst="roundRect">
            <a:avLst/>
          </a:prstGeom>
          <a:solidFill>
            <a:schemeClr val="accent1">
              <a:alpha val="90000"/>
            </a:schemeClr>
          </a:solidFill>
          <a:ln>
            <a:noFill/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>
            <a:hlinkClick r:id="rId3"/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799" y="3033000"/>
            <a:ext cx="5966403" cy="792000"/>
          </a:xfrm>
          <a:prstGeom prst="rect">
            <a:avLst/>
          </a:prstGeom>
        </p:spPr>
      </p:pic>
      <p:sp>
        <p:nvSpPr>
          <p:cNvPr id="6" name="Content Placeholder 3"/>
          <p:cNvSpPr>
            <a:spLocks noGrp="1"/>
          </p:cNvSpPr>
          <p:nvPr>
            <p:ph sz="quarter" idx="10"/>
          </p:nvPr>
        </p:nvSpPr>
        <p:spPr>
          <a:xfrm>
            <a:off x="479397" y="4864298"/>
            <a:ext cx="3266632" cy="768437"/>
          </a:xfrm>
          <a:prstGeom prst="roundRect">
            <a:avLst/>
          </a:prstGeom>
          <a:solidFill>
            <a:srgbClr val="132D3D">
              <a:alpha val="85098"/>
            </a:srgbClr>
          </a:solidFill>
          <a:ln w="38100">
            <a:noFill/>
          </a:ln>
          <a:effectLst>
            <a:softEdge rad="190500"/>
          </a:effectLst>
        </p:spPr>
        <p:txBody>
          <a:bodyPr wrap="square">
            <a:spAutoFit/>
          </a:bodyPr>
          <a:lstStyle>
            <a:lvl1pPr>
              <a:defRPr b="0">
                <a:solidFill>
                  <a:schemeClr val="bg1"/>
                </a:solidFill>
              </a:defRPr>
            </a:lvl1pPr>
            <a:lvl2pPr>
              <a:defRPr b="0">
                <a:solidFill>
                  <a:schemeClr val="bg1"/>
                </a:solidFill>
              </a:defRPr>
            </a:lvl2pPr>
            <a:lvl3pPr>
              <a:defRPr b="0">
                <a:solidFill>
                  <a:schemeClr val="bg1"/>
                </a:solidFill>
              </a:defRPr>
            </a:lvl3pPr>
            <a:lvl4pPr>
              <a:defRPr b="0">
                <a:solidFill>
                  <a:schemeClr val="bg1"/>
                </a:solidFill>
              </a:defRPr>
            </a:lvl4pPr>
            <a:lvl5pPr>
              <a:defRPr b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64534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5939" y="367200"/>
            <a:ext cx="11160124" cy="34622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937" y="1844675"/>
            <a:ext cx="11160125" cy="4645024"/>
          </a:xfrm>
          <a:prstGeom prst="rect">
            <a:avLst/>
          </a:prstGeom>
        </p:spPr>
        <p:txBody>
          <a:bodyPr vert="horz" lIns="0" tIns="45720" rIns="91440" bIns="45720" rtlCol="0">
            <a:no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0"/>
            <a:r>
              <a:rPr lang="en-US" dirty="0"/>
              <a:t>Second level</a:t>
            </a:r>
          </a:p>
          <a:p>
            <a:pPr lvl="0"/>
            <a:r>
              <a:rPr lang="en-US" dirty="0"/>
              <a:t>Third level</a:t>
            </a:r>
          </a:p>
          <a:p>
            <a:pPr lvl="0"/>
            <a:r>
              <a:rPr lang="en-US" dirty="0"/>
              <a:t>Fourth level</a:t>
            </a:r>
          </a:p>
          <a:p>
            <a:pPr lvl="0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599" y="6558524"/>
            <a:ext cx="4114800" cy="2317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3716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9" r:id="rId5"/>
    <p:sldLayoutId id="2147483756" r:id="rId6"/>
    <p:sldLayoutId id="2147483750" r:id="rId7"/>
    <p:sldLayoutId id="2147483751" r:id="rId8"/>
    <p:sldLayoutId id="2147483752" r:id="rId9"/>
    <p:sldLayoutId id="2147483758" r:id="rId10"/>
    <p:sldLayoutId id="2147483759" r:id="rId11"/>
    <p:sldLayoutId id="2147483753" r:id="rId12"/>
    <p:sldLayoutId id="2147483760" r:id="rId13"/>
    <p:sldLayoutId id="2147483754" r:id="rId14"/>
    <p:sldLayoutId id="2147483762" r:id="rId15"/>
    <p:sldLayoutId id="2147483755" r:id="rId16"/>
    <p:sldLayoutId id="2147483743" r:id="rId17"/>
    <p:sldLayoutId id="2147483744" r:id="rId18"/>
    <p:sldLayoutId id="2147483761" r:id="rId19"/>
    <p:sldLayoutId id="2147483745" r:id="rId20"/>
    <p:sldLayoutId id="2147483757" r:id="rId21"/>
    <p:sldLayoutId id="2147483746" r:id="rId22"/>
    <p:sldLayoutId id="2147483748" r:id="rId2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None/>
        <a:defRPr sz="12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12738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68338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35038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9675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5" orient="horz" pos="4088" userDrawn="1">
          <p15:clr>
            <a:srgbClr val="F26B43"/>
          </p15:clr>
        </p15:guide>
        <p15:guide id="46" pos="7355" userDrawn="1">
          <p15:clr>
            <a:srgbClr val="F26B43"/>
          </p15:clr>
        </p15:guide>
        <p15:guide id="47" pos="325" userDrawn="1">
          <p15:clr>
            <a:srgbClr val="F26B43"/>
          </p15:clr>
        </p15:guide>
        <p15:guide id="48" orient="horz" pos="1162" userDrawn="1">
          <p15:clr>
            <a:srgbClr val="F26B43"/>
          </p15:clr>
        </p15:guide>
        <p15:guide id="50" pos="3681" userDrawn="1">
          <p15:clr>
            <a:srgbClr val="F26B43"/>
          </p15:clr>
        </p15:guide>
        <p15:guide id="51" orient="horz" pos="459" userDrawn="1">
          <p15:clr>
            <a:srgbClr val="F26B43"/>
          </p15:clr>
        </p15:guide>
        <p15:guide id="52" orient="horz" pos="232" userDrawn="1">
          <p15:clr>
            <a:srgbClr val="F26B43"/>
          </p15:clr>
        </p15:guide>
        <p15:guide id="53" pos="6788" userDrawn="1">
          <p15:clr>
            <a:srgbClr val="F26B43"/>
          </p15:clr>
        </p15:guide>
        <p15:guide id="54" orient="horz" pos="822" userDrawn="1">
          <p15:clr>
            <a:srgbClr val="F26B43"/>
          </p15:clr>
        </p15:guide>
        <p15:guide id="55" pos="399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Freelancer network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Framework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2026</a:t>
            </a:r>
          </a:p>
          <a:p>
            <a:endParaRPr lang="en-US" dirty="0"/>
          </a:p>
          <a:p>
            <a:r>
              <a:rPr lang="en-GB" dirty="0"/>
              <a:t>Created by: Christina </a:t>
            </a:r>
            <a:r>
              <a:rPr lang="en-GB" dirty="0" err="1"/>
              <a:t>Totseva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1267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1105965" y="368300"/>
            <a:ext cx="745724" cy="360363"/>
          </a:xfrm>
          <a:prstGeom prst="roundRect">
            <a:avLst/>
          </a:prstGeom>
          <a:solidFill>
            <a:srgbClr val="132D3D">
              <a:alpha val="85098"/>
            </a:srgbClr>
          </a:solidFill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itle 5"/>
          <p:cNvSpPr>
            <a:spLocks noGrp="1"/>
          </p:cNvSpPr>
          <p:nvPr>
            <p:ph type="ctrTitle" idx="4294967295"/>
          </p:nvPr>
        </p:nvSpPr>
        <p:spPr>
          <a:xfrm>
            <a:off x="515938" y="5349077"/>
            <a:ext cx="5327650" cy="360099"/>
          </a:xfrm>
        </p:spPr>
        <p:txBody>
          <a:bodyPr wrap="square">
            <a:spAutoFit/>
          </a:bodyPr>
          <a:lstStyle/>
          <a:p>
            <a:r>
              <a:rPr lang="en-GB" sz="2600" dirty="0">
                <a:solidFill>
                  <a:schemeClr val="accent2"/>
                </a:solidFill>
                <a:latin typeface="Arial Black" panose="020B0A04020102020204" pitchFamily="34" charset="0"/>
              </a:rPr>
              <a:t>That’s how we build trust</a:t>
            </a:r>
          </a:p>
        </p:txBody>
      </p:sp>
      <p:sp>
        <p:nvSpPr>
          <p:cNvPr id="10" name="Rectangle 9"/>
          <p:cNvSpPr/>
          <p:nvPr/>
        </p:nvSpPr>
        <p:spPr>
          <a:xfrm>
            <a:off x="-275209" y="1600977"/>
            <a:ext cx="6623621" cy="828000"/>
          </a:xfrm>
          <a:prstGeom prst="rect">
            <a:avLst/>
          </a:prstGeom>
          <a:solidFill>
            <a:srgbClr val="D7EEF2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138"/>
            <a:r>
              <a:rPr lang="en-GB" sz="1600" b="1" dirty="0">
                <a:solidFill>
                  <a:schemeClr val="tx1"/>
                </a:solidFill>
              </a:rPr>
              <a:t>We don’t just deliver reports - we inform decisions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8659" y="421568"/>
            <a:ext cx="377404" cy="25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-275208" y="2807664"/>
            <a:ext cx="6623620" cy="828000"/>
          </a:xfrm>
          <a:prstGeom prst="rect">
            <a:avLst/>
          </a:prstGeom>
          <a:solidFill>
            <a:srgbClr val="D7EEF2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138"/>
            <a:r>
              <a:rPr lang="en-GB" sz="1600" b="1" dirty="0">
                <a:solidFill>
                  <a:schemeClr val="tx1"/>
                </a:solidFill>
              </a:rPr>
              <a:t>Your work directly impacts how clients understand media and act on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-275208" y="4014351"/>
            <a:ext cx="6623620" cy="828000"/>
          </a:xfrm>
          <a:prstGeom prst="rect">
            <a:avLst/>
          </a:prstGeom>
          <a:solidFill>
            <a:srgbClr val="D7EEF2">
              <a:alpha val="8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719138"/>
            <a:r>
              <a:rPr lang="en-GB" sz="1600" b="1" dirty="0">
                <a:solidFill>
                  <a:schemeClr val="tx1"/>
                </a:solidFill>
              </a:rPr>
              <a:t>We operate to high standards:</a:t>
            </a:r>
          </a:p>
          <a:p>
            <a:pPr marL="719138"/>
            <a:r>
              <a:rPr lang="en-GB" sz="1600" b="1" dirty="0">
                <a:solidFill>
                  <a:schemeClr val="tx1"/>
                </a:solidFill>
              </a:rPr>
              <a:t>accuracy, clarity, responsiveness, and on-time delivery</a:t>
            </a:r>
          </a:p>
        </p:txBody>
      </p:sp>
      <p:sp>
        <p:nvSpPr>
          <p:cNvPr id="17" name="Title 5"/>
          <p:cNvSpPr txBox="1">
            <a:spLocks/>
          </p:cNvSpPr>
          <p:nvPr/>
        </p:nvSpPr>
        <p:spPr>
          <a:xfrm>
            <a:off x="515938" y="378024"/>
            <a:ext cx="5984874" cy="775597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Welcome to the </a:t>
            </a:r>
            <a:r>
              <a:rPr lang="en-GB" sz="2800" dirty="0" err="1">
                <a:solidFill>
                  <a:schemeClr val="accent2"/>
                </a:solidFill>
                <a:latin typeface="Arial Black" panose="020B0A04020102020204" pitchFamily="34" charset="0"/>
              </a:rPr>
              <a:t>Commetric</a:t>
            </a:r>
            <a:r>
              <a:rPr lang="en-GB" sz="2800" dirty="0">
                <a:solidFill>
                  <a:schemeClr val="accent2"/>
                </a:solidFill>
                <a:latin typeface="Arial Black" panose="020B0A04020102020204" pitchFamily="34" charset="0"/>
              </a:rPr>
              <a:t> freelancer network</a:t>
            </a:r>
          </a:p>
        </p:txBody>
      </p:sp>
    </p:spTree>
    <p:extLst>
      <p:ext uri="{BB962C8B-B14F-4D97-AF65-F5344CB8AC3E}">
        <p14:creationId xmlns:p14="http://schemas.microsoft.com/office/powerpoint/2010/main" val="11259177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8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75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4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Our 7-pillar freelancer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51450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444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Standardized onboarding &amp; guides</a:t>
            </a:r>
          </a:p>
        </p:txBody>
      </p:sp>
      <p:sp>
        <p:nvSpPr>
          <p:cNvPr id="5" name="Rectangle 4"/>
          <p:cNvSpPr/>
          <p:nvPr/>
        </p:nvSpPr>
        <p:spPr>
          <a:xfrm>
            <a:off x="2118757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Skills-based assignment model</a:t>
            </a:r>
          </a:p>
          <a:p>
            <a:pPr algn="ctr"/>
            <a:endParaRPr lang="en-GB" sz="1400" dirty="0"/>
          </a:p>
        </p:txBody>
      </p:sp>
      <p:sp>
        <p:nvSpPr>
          <p:cNvPr id="9" name="Rectangle 8"/>
          <p:cNvSpPr/>
          <p:nvPr/>
        </p:nvSpPr>
        <p:spPr>
          <a:xfrm>
            <a:off x="3624301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Tiered talent structure</a:t>
            </a:r>
            <a:endParaRPr lang="en-GB" sz="1400" dirty="0"/>
          </a:p>
        </p:txBody>
      </p:sp>
      <p:sp>
        <p:nvSpPr>
          <p:cNvPr id="10" name="Rectangle 9"/>
          <p:cNvSpPr/>
          <p:nvPr/>
        </p:nvSpPr>
        <p:spPr>
          <a:xfrm>
            <a:off x="5156096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Continuous feedback &amp; </a:t>
            </a:r>
          </a:p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QA loop</a:t>
            </a:r>
            <a:endParaRPr lang="en-GB" sz="1400" dirty="0"/>
          </a:p>
        </p:txBody>
      </p:sp>
      <p:sp>
        <p:nvSpPr>
          <p:cNvPr id="11" name="Rectangle 10"/>
          <p:cNvSpPr/>
          <p:nvPr/>
        </p:nvSpPr>
        <p:spPr>
          <a:xfrm>
            <a:off x="6661640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Collaboration</a:t>
            </a:r>
          </a:p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&amp; workflow platform</a:t>
            </a:r>
            <a:endParaRPr lang="en-GB" sz="1400" dirty="0"/>
          </a:p>
        </p:txBody>
      </p:sp>
      <p:sp>
        <p:nvSpPr>
          <p:cNvPr id="12" name="Rectangle 11"/>
          <p:cNvSpPr/>
          <p:nvPr/>
        </p:nvSpPr>
        <p:spPr>
          <a:xfrm>
            <a:off x="8252338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Community &amp; incentives</a:t>
            </a:r>
            <a:endParaRPr lang="en-GB" sz="1400" dirty="0"/>
          </a:p>
        </p:txBody>
      </p:sp>
      <p:sp>
        <p:nvSpPr>
          <p:cNvPr id="13" name="Rectangle 12"/>
          <p:cNvSpPr/>
          <p:nvPr/>
        </p:nvSpPr>
        <p:spPr>
          <a:xfrm>
            <a:off x="9876063" y="1844675"/>
            <a:ext cx="1800000" cy="4645025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190500" dist="88900" dir="10800000" algn="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432000" rIns="108000" bIns="0" rtlCol="0" anchor="t"/>
          <a:lstStyle/>
          <a:p>
            <a:r>
              <a:rPr lang="en-US" sz="1400" dirty="0">
                <a:solidFill>
                  <a:schemeClr val="tx1"/>
                </a:solidFill>
                <a:latin typeface="Arial Black" panose="020B0A04020102020204" pitchFamily="34" charset="0"/>
              </a:rPr>
              <a:t>Performance data &amp; quality metrics</a:t>
            </a:r>
            <a:endParaRPr lang="en-GB" sz="1400" dirty="0"/>
          </a:p>
        </p:txBody>
      </p:sp>
    </p:spTree>
    <p:extLst>
      <p:ext uri="{BB962C8B-B14F-4D97-AF65-F5344CB8AC3E}">
        <p14:creationId xmlns:p14="http://schemas.microsoft.com/office/powerpoint/2010/main" val="3182444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25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475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5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25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Pillar 1: Standardized </a:t>
            </a:r>
            <a:r>
              <a:rPr lang="en-GB" dirty="0" err="1"/>
              <a:t>onboarding</a:t>
            </a:r>
            <a:r>
              <a:rPr lang="en-GB" dirty="0"/>
              <a:t> &amp; guides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To eliminate uncertainty and provide structure for best performance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2157319"/>
              </p:ext>
            </p:extLst>
          </p:nvPr>
        </p:nvGraphicFramePr>
        <p:xfrm>
          <a:off x="515938" y="2752652"/>
          <a:ext cx="2866453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66453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We provide clear quality guidelines, examples, templates, and defined expectations</a:t>
                      </a:r>
                      <a:endParaRPr lang="en-GB" sz="1400" b="0" dirty="0">
                        <a:solidFill>
                          <a:schemeClr val="accent1"/>
                        </a:solidFill>
                      </a:endParaRP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GB" sz="1200" dirty="0"/>
                        <a:t>Every project is supported by documented standards to ensure consistency, transparency, and shared understanding across the network.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6545892"/>
              </p:ext>
            </p:extLst>
          </p:nvPr>
        </p:nvGraphicFramePr>
        <p:xfrm>
          <a:off x="3589798" y="2752651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Project briefs outline scope, priorities, and client requirements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Project briefs outline scope, priorities, and client requirements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1574491"/>
              </p:ext>
            </p:extLst>
          </p:nvPr>
        </p:nvGraphicFramePr>
        <p:xfrm>
          <a:off x="6353205" y="2752651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Style guides and QC checklists create consistent quality standards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These tools are provided to support you in meeting client expectations and minimizing revisions.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748368"/>
              </p:ext>
            </p:extLst>
          </p:nvPr>
        </p:nvGraphicFramePr>
        <p:xfrm>
          <a:off x="9116611" y="2752651"/>
          <a:ext cx="2556000" cy="189412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Structured </a:t>
                      </a:r>
                      <a:r>
                        <a:rPr lang="en-GB" sz="1400" b="1" dirty="0" err="1">
                          <a:solidFill>
                            <a:schemeClr val="accent1"/>
                          </a:solidFill>
                        </a:rPr>
                        <a:t>onboarding</a:t>
                      </a: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 ensures alignment from day one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You receive the necessary information, access, and guidance so that expectations are clear and performance standards are transparent.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41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Pillar 2: Skills-based assignment model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294967295"/>
          </p:nvPr>
        </p:nvSpPr>
        <p:spPr>
          <a:xfrm>
            <a:off x="515938" y="1304925"/>
            <a:ext cx="5654044" cy="5184775"/>
          </a:xfrm>
        </p:spPr>
        <p:txBody>
          <a:bodyPr tIns="0" rIns="0" bIns="0"/>
          <a:lstStyle/>
          <a:p>
            <a:pPr marL="171450" indent="-171450">
              <a:buFont typeface="Arial" panose="020B0604020202020204" pitchFamily="34" charset="0"/>
              <a:buChar char="-"/>
            </a:pPr>
            <a:r>
              <a:rPr lang="en-US" b="1" dirty="0"/>
              <a:t>Work is mapped to a defined skills and experience matrix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Assignments are allocated based on demonstrated capabilities, prior performance, and project complexity. This ensures the right level of expertise is matched to the right task.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en-US" b="1" dirty="0"/>
              <a:t>Industry familiarity is considered.</a:t>
            </a:r>
            <a:br>
              <a:rPr lang="en-US" dirty="0"/>
            </a:br>
            <a:r>
              <a:rPr lang="en-US" dirty="0"/>
              <a:t>Experience within relevant sectors (e.g., finance, healthcare, tech, public policy) improves contextual understanding, terminology accuracy, and analytical depth.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en-US" b="1" dirty="0"/>
              <a:t>Language proficiency is considered.</a:t>
            </a:r>
            <a:br>
              <a:rPr lang="en-US" dirty="0"/>
            </a:br>
            <a:r>
              <a:rPr lang="en-US" dirty="0"/>
              <a:t>Assignments requiring nuanced interpretation, high-quality summaries, or client-facing language are matched to freelancers with strong written fluency and editorial precision.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en-US" b="1" dirty="0"/>
              <a:t>Tool familiarity is considered.</a:t>
            </a:r>
            <a:br>
              <a:rPr lang="en-US" dirty="0"/>
            </a:br>
            <a:r>
              <a:rPr lang="en-US" dirty="0"/>
              <a:t>Experience with platforms such as Signal, Cogent, Meltwater, and similar monitoring tools improves efficiency and reduces onboarding time for complex briefs.</a:t>
            </a:r>
          </a:p>
          <a:p>
            <a:pPr marL="171450" indent="-171450">
              <a:buFont typeface="Arial" panose="020B0604020202020204" pitchFamily="34" charset="0"/>
              <a:buChar char="-"/>
            </a:pPr>
            <a:r>
              <a:rPr lang="en-US" b="1" dirty="0"/>
              <a:t>Task complexity is matched to skill level.</a:t>
            </a:r>
            <a:br>
              <a:rPr lang="en-US" dirty="0"/>
            </a:br>
            <a:r>
              <a:rPr lang="en-US" dirty="0"/>
              <a:t>Not all tasks require the same level of analytical depth:</a:t>
            </a:r>
          </a:p>
          <a:p>
            <a:pPr marL="349250" lvl="2" indent="-171450">
              <a:buFont typeface="Arial" panose="020B0604020202020204" pitchFamily="34" charset="0"/>
              <a:buChar char="-"/>
            </a:pPr>
            <a:r>
              <a:rPr lang="en-US" sz="1200" b="1" dirty="0"/>
              <a:t>Snippet selection and tagging</a:t>
            </a:r>
            <a:r>
              <a:rPr lang="en-US" sz="1200" dirty="0"/>
              <a:t> require precision, attention to detail, and correct application of inclusion/exclusion criteria.</a:t>
            </a:r>
          </a:p>
          <a:p>
            <a:pPr marL="349250" lvl="2" indent="-171450">
              <a:buFont typeface="Arial" panose="020B0604020202020204" pitchFamily="34" charset="0"/>
              <a:buChar char="-"/>
            </a:pPr>
            <a:r>
              <a:rPr lang="en-US" sz="1200" b="1" dirty="0"/>
              <a:t>Headline summaries and analytical write-ups</a:t>
            </a:r>
            <a:r>
              <a:rPr lang="en-US" sz="1200" dirty="0"/>
              <a:t> require stronger synthesis skills, contextual understanding, and structured writing ability.</a:t>
            </a:r>
          </a:p>
          <a:p>
            <a:pPr marL="349250" lvl="2" indent="-171450">
              <a:buFont typeface="Arial" panose="020B0604020202020204" pitchFamily="34" charset="0"/>
              <a:buChar char="-"/>
            </a:pPr>
            <a:r>
              <a:rPr lang="en-US" sz="1200" dirty="0"/>
              <a:t>More complex narrative or thematic summaries are assigned to freelancers with proven analytical and writing capability.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0477"/>
          <a:stretch/>
        </p:blipFill>
        <p:spPr>
          <a:xfrm>
            <a:off x="6042080" y="2687781"/>
            <a:ext cx="5752757" cy="406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198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8185212" y="1842853"/>
            <a:ext cx="3490851" cy="312859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Pillar 3: Tiered talent structure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The tier system ensures that complexity is matched to capability — protecting quality while creating clear growth opportunities.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0"/>
          </p:nvPr>
        </p:nvSpPr>
        <p:spPr>
          <a:xfrm>
            <a:off x="8377045" y="2020618"/>
            <a:ext cx="3107184" cy="2773067"/>
          </a:xfrm>
        </p:spPr>
        <p:txBody>
          <a:bodyPr>
            <a:spAutoFit/>
          </a:bodyPr>
          <a:lstStyle/>
          <a:p>
            <a:r>
              <a:rPr lang="en-GB" dirty="0"/>
              <a:t>Progression Criteria</a:t>
            </a:r>
          </a:p>
          <a:p>
            <a:pPr lvl="1"/>
            <a:r>
              <a:rPr lang="en-GB" dirty="0"/>
              <a:t>Movement between tiers is performance-based and data-informed. Key factors include:</a:t>
            </a:r>
          </a:p>
          <a:p>
            <a:pPr lvl="2"/>
            <a:r>
              <a:rPr lang="en-GB" dirty="0"/>
              <a:t>Sustained QA scores and low revision rates</a:t>
            </a:r>
          </a:p>
          <a:p>
            <a:pPr lvl="2"/>
            <a:r>
              <a:rPr lang="en-GB" dirty="0"/>
              <a:t>Consistent on-time delivery</a:t>
            </a:r>
          </a:p>
          <a:p>
            <a:pPr lvl="2"/>
            <a:r>
              <a:rPr lang="en-GB" dirty="0"/>
              <a:t>Responsiveness and shift reliability</a:t>
            </a:r>
          </a:p>
          <a:p>
            <a:pPr lvl="2"/>
            <a:r>
              <a:rPr lang="en-GB" dirty="0"/>
              <a:t>Demonstrated ability to apply feedback</a:t>
            </a:r>
          </a:p>
          <a:p>
            <a:pPr lvl="2"/>
            <a:r>
              <a:rPr lang="en-GB" dirty="0"/>
              <a:t>Positive client or PM feedback</a:t>
            </a:r>
          </a:p>
          <a:p>
            <a:pPr lvl="1"/>
            <a:r>
              <a:rPr lang="en-GB" dirty="0"/>
              <a:t>Progression reflects demonstrated capability - not tenure alone.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801680"/>
              </p:ext>
            </p:extLst>
          </p:nvPr>
        </p:nvGraphicFramePr>
        <p:xfrm>
          <a:off x="2849732" y="5064964"/>
          <a:ext cx="5095774" cy="142473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095774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355040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/>
                        <a:t>Tier 3 – New / Trial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Recently </a:t>
                      </a:r>
                      <a:r>
                        <a:rPr lang="en-GB" sz="1200" dirty="0" err="1"/>
                        <a:t>onboarded</a:t>
                      </a:r>
                      <a:r>
                        <a:rPr lang="en-GB" sz="1200" dirty="0"/>
                        <a:t> or new to a specific project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Assigned lower-complexity tasks (e.g., snippet selection, tagging, basic formatting)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Work may be reviewed more closely during the initial phase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Focus: accuracy, adherence to guidelines, and reliability</a:t>
                      </a:r>
                    </a:p>
                  </a:txBody>
                  <a:tcPr marL="0" marR="0" marT="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457771"/>
              </p:ext>
            </p:extLst>
          </p:nvPr>
        </p:nvGraphicFramePr>
        <p:xfrm>
          <a:off x="2849732" y="3406854"/>
          <a:ext cx="5095774" cy="129437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095774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2943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/>
                        <a:t>Tier 2 – Solid Contributor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Demonstrated consistent QA performance and delivery reliability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Handles standard newsletter production and structured summaries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Requires minimal supervision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Escalates risks appropriately and applies feedback consistently</a:t>
                      </a:r>
                    </a:p>
                  </a:txBody>
                  <a:tcPr marL="0" marR="0" marT="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917210"/>
              </p:ext>
            </p:extLst>
          </p:nvPr>
        </p:nvGraphicFramePr>
        <p:xfrm>
          <a:off x="2849732" y="1842853"/>
          <a:ext cx="5095774" cy="129437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095774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294376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/>
                        <a:t>Tier 1 – Expert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Proven high QA scores and strong analytical capability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Handles complex briefs, nuanced summaries, and narrative synthesis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May support </a:t>
                      </a:r>
                      <a:r>
                        <a:rPr lang="en-GB" sz="1200" dirty="0" err="1"/>
                        <a:t>onboarding</a:t>
                      </a:r>
                      <a:r>
                        <a:rPr lang="en-GB" sz="1200" dirty="0"/>
                        <a:t> or act as a quality reference point for others</a:t>
                      </a:r>
                    </a:p>
                    <a:p>
                      <a:pPr marL="171450" indent="-171450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-"/>
                      </a:pPr>
                      <a:r>
                        <a:rPr lang="en-GB" sz="1200" dirty="0"/>
                        <a:t>Trusted with high-sensitivity or high-visibility client work</a:t>
                      </a:r>
                    </a:p>
                  </a:txBody>
                  <a:tcPr marL="0" marR="0" marT="0" marB="10800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pic>
        <p:nvPicPr>
          <p:cNvPr id="15" name="Content Placeholder 14"/>
          <p:cNvPicPr>
            <a:picLocks noGrp="1" noChangeAspect="1"/>
          </p:cNvPicPr>
          <p:nvPr>
            <p:ph sz="quarter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1324" y="1476885"/>
            <a:ext cx="3256508" cy="5427513"/>
          </a:xfrm>
        </p:spPr>
      </p:pic>
    </p:spTree>
    <p:extLst>
      <p:ext uri="{BB962C8B-B14F-4D97-AF65-F5344CB8AC3E}">
        <p14:creationId xmlns:p14="http://schemas.microsoft.com/office/powerpoint/2010/main" val="3331754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5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75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25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70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25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825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25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9500"/>
                            </p:stCondLst>
                            <p:childTnLst>
                              <p:par>
                                <p:cTn id="3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25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75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25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2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25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3250"/>
                            </p:stCondLst>
                            <p:childTnLst>
                              <p:par>
                                <p:cTn id="5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25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450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25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Pillar 4: Continuous feedback &amp; QA loop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694668"/>
              </p:ext>
            </p:extLst>
          </p:nvPr>
        </p:nvGraphicFramePr>
        <p:xfrm>
          <a:off x="515938" y="2752652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All work is reviewed using structured quality rubrics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We assess accuracy, relevance, clarity, adherence to client instructions, and overall analytical quality to ensure consistent standards across the network.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588920"/>
              </p:ext>
            </p:extLst>
          </p:nvPr>
        </p:nvGraphicFramePr>
        <p:xfrm>
          <a:off x="3280199" y="2752651"/>
          <a:ext cx="2865600" cy="209529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656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Lead Analysts and Project Managers provide structured, actionable feedback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Feedback is expected to be reviewed immediately, carefully and implemented in the next planned deliverable (future deliverables). Repeated issues that are not addressed may impact work allocation and progression.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3424784"/>
              </p:ext>
            </p:extLst>
          </p:nvPr>
        </p:nvGraphicFramePr>
        <p:xfrm>
          <a:off x="6353205" y="2752651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Risks must be escalated immediately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If you identify ambiguity, missing data, technical issues, or time risks, inform the PM or Lead Analyst at once. Early escalation protects delivery and client trust.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9187182"/>
              </p:ext>
            </p:extLst>
          </p:nvPr>
        </p:nvGraphicFramePr>
        <p:xfrm>
          <a:off x="9116611" y="2752651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Silence is treated as non-availability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If you are unreachable during your shift or fail to respond to critical messages, we assume you are unavailable and may reassign the work to protect deadlines.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84662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Pillar 5: Collaboration &amp; workflow platform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008934"/>
              </p:ext>
            </p:extLst>
          </p:nvPr>
        </p:nvGraphicFramePr>
        <p:xfrm>
          <a:off x="515938" y="2752652"/>
          <a:ext cx="2556000" cy="209529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Use your </a:t>
                      </a:r>
                      <a:r>
                        <a:rPr lang="en-GB" sz="1400" b="1" dirty="0" err="1">
                          <a:solidFill>
                            <a:schemeClr val="accent1"/>
                          </a:solidFill>
                        </a:rPr>
                        <a:t>Commetric</a:t>
                      </a: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 email and Microsoft Teams for all project communication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Client instructions, updates, and operational messages must be handled through official channels to ensure traceability and accountability. Personal email or informal channels should not be used for project work.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982095"/>
              </p:ext>
            </p:extLst>
          </p:nvPr>
        </p:nvGraphicFramePr>
        <p:xfrm>
          <a:off x="3280199" y="2752651"/>
          <a:ext cx="2556000" cy="2497632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Log all worked time accurately and promptly in Aladdin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Time must be recorded after each deliverable and before month-end. Accurate timesheets are essential for transparency, billing integrity, and ongoing collaboration. Projects have predetermined time for preparation, which is the benchmark and the goal to meet and improve on.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6760139"/>
              </p:ext>
            </p:extLst>
          </p:nvPr>
        </p:nvGraphicFramePr>
        <p:xfrm>
          <a:off x="6044460" y="2752651"/>
          <a:ext cx="2556000" cy="206176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Confirm written instructions before acting on them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When receiving specific client or PM instructions (inclusion/exclusion of stories, new Client requirements, format changes, priority shifts), acknowledge in writing that you have read and understood them. This prevents misalignment and rework.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9552224"/>
              </p:ext>
            </p:extLst>
          </p:nvPr>
        </p:nvGraphicFramePr>
        <p:xfrm>
          <a:off x="8808721" y="2752651"/>
          <a:ext cx="2865600" cy="2899968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656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Ensure all required tools and access are ready before your shift starts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Platform access (Signal, Cogent, Meltwater, etc.), internet stability, and login credentials must be checked in advance. Production time should not be spent resolving preventable access issues. It is a good idea to have a backup plan for potential situations with internet or power instability, computer failure, etc. in order to prevent such situations affecting your planned workflow.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430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Pillar 6: Engagement through community &amp; incentives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15939" y="2716566"/>
            <a:ext cx="3443502" cy="26633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216000" b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bg-BG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Microsoft Teams community and recognition</a:t>
            </a:r>
            <a:endParaRPr lang="en-US" altLang="bg-BG" sz="1400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bg-BG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Our Teams channels are not just operational spaces </a:t>
            </a:r>
            <a:r>
              <a:rPr lang="en-US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- </a:t>
            </a:r>
            <a:r>
              <a:rPr lang="bg-BG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they are where updates, best practices, clarifications, and recognition are shared. Strong contributors are acknowledged and visible within the network.</a:t>
            </a:r>
            <a:endParaRPr lang="en-US" altLang="bg-BG" sz="14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374250" y="2716566"/>
            <a:ext cx="3443502" cy="26633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216000" b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Priority access to briefs for reliable freelancers</a:t>
            </a:r>
            <a:endParaRPr lang="en-US" altLang="bg-BG" sz="1400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Consistent performance, strong QA results, and dependable attendance lead to earlier access to new projects, more stable workload allocation, and involvement in higher-complexity assignments.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32561" y="2716566"/>
            <a:ext cx="3443502" cy="266330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72000" rIns="216000" bIns="72000" rtlCol="0" anchor="ctr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Clear growth pathways and long-term collaboration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Freelancers who demonstrate quality, responsiveness, and ownership progress through tiers, gain more responsibility, and build long-term working relationships with project teams.</a:t>
            </a:r>
          </a:p>
        </p:txBody>
      </p:sp>
      <p:sp>
        <p:nvSpPr>
          <p:cNvPr id="6" name="Oval 5"/>
          <p:cNvSpPr>
            <a:spLocks noChangeAspect="1"/>
          </p:cNvSpPr>
          <p:nvPr/>
        </p:nvSpPr>
        <p:spPr>
          <a:xfrm>
            <a:off x="1607690" y="1686758"/>
            <a:ext cx="1260000" cy="12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26" name="Picture 2" descr="Microsoft Teams - Wikipedia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6861" y="1956758"/>
            <a:ext cx="681657" cy="7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Oval 7"/>
          <p:cNvSpPr>
            <a:spLocks noChangeAspect="1"/>
          </p:cNvSpPr>
          <p:nvPr/>
        </p:nvSpPr>
        <p:spPr>
          <a:xfrm>
            <a:off x="5466001" y="1686758"/>
            <a:ext cx="1260000" cy="12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6001" y="1956758"/>
            <a:ext cx="720000" cy="720000"/>
          </a:xfrm>
          <a:prstGeom prst="rect">
            <a:avLst/>
          </a:prstGeom>
        </p:spPr>
      </p:pic>
      <p:sp>
        <p:nvSpPr>
          <p:cNvPr id="10" name="Oval 9"/>
          <p:cNvSpPr>
            <a:spLocks noChangeAspect="1"/>
          </p:cNvSpPr>
          <p:nvPr/>
        </p:nvSpPr>
        <p:spPr>
          <a:xfrm>
            <a:off x="9324312" y="1686758"/>
            <a:ext cx="1260000" cy="126000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905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4312" y="1996758"/>
            <a:ext cx="720000" cy="6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8127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Pillar 7: Performance data &amp; quality metrics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Performance data ensures decisions about allocation, progression, and rates are objective and merit-based.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0042252"/>
              </p:ext>
            </p:extLst>
          </p:nvPr>
        </p:nvGraphicFramePr>
        <p:xfrm>
          <a:off x="515938" y="2752652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On-time delivery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Deliverables must be submitted at the agreed time. Consistent punctuality demonstrates reliability and protects client trust. Repeated delays may impact future work allocation.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935365"/>
              </p:ext>
            </p:extLst>
          </p:nvPr>
        </p:nvGraphicFramePr>
        <p:xfrm>
          <a:off x="3280199" y="2752651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Revision rates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We track how often deliverables require corrections or rework. Low revision rates indicate strong understanding of briefs, adherence to guidelines, and analytical accuracy.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485463"/>
              </p:ext>
            </p:extLst>
          </p:nvPr>
        </p:nvGraphicFramePr>
        <p:xfrm>
          <a:off x="6044460" y="2752651"/>
          <a:ext cx="28656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8656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QA scores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Output is evaluated against structured quality criteria, including accuracy, relevance, clarity, adherence to client instructions, and consistency with the style guide. QA scores inform tier progression and workload allocation.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97598"/>
              </p:ext>
            </p:extLst>
          </p:nvPr>
        </p:nvGraphicFramePr>
        <p:xfrm>
          <a:off x="9120063" y="2752650"/>
          <a:ext cx="2556000" cy="1739449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56000">
                  <a:extLst>
                    <a:ext uri="{9D8B030D-6E8A-4147-A177-3AD203B41FA5}">
                      <a16:colId xmlns:a16="http://schemas.microsoft.com/office/drawing/2014/main" val="1207264999"/>
                    </a:ext>
                  </a:extLst>
                </a:gridCol>
              </a:tblGrid>
              <a:tr h="1739449">
                <a:tc>
                  <a:txBody>
                    <a:bodyPr/>
                    <a:lstStyle/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400" b="1" dirty="0">
                          <a:solidFill>
                            <a:schemeClr val="accent1"/>
                          </a:solidFill>
                        </a:rPr>
                        <a:t>Responsiveness and attendance reliability</a:t>
                      </a:r>
                    </a:p>
                    <a:p>
                      <a:pPr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</a:pPr>
                      <a:r>
                        <a:rPr lang="en-GB" sz="1200" dirty="0"/>
                        <a:t>Timely replies to PM and client instructions, confirmed shift starts, and consistent attendance for agreed shifts are key indicators of professionalism and dependability</a:t>
                      </a:r>
                    </a:p>
                  </a:txBody>
                  <a:tcPr marL="0" marR="0" marT="108000" marB="0"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45938553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15938" y="6098206"/>
            <a:ext cx="1116012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bg-BG" sz="1200" dirty="0">
                <a:latin typeface="Arial" panose="020B0604020202020204" pitchFamily="34" charset="0"/>
              </a:rPr>
              <a:t>Performance metrics will be updated monthly and accessible via </a:t>
            </a:r>
            <a:r>
              <a:rPr lang="en-US" altLang="bg-BG" sz="1200" dirty="0" err="1">
                <a:latin typeface="Arial" panose="020B0604020202020204" pitchFamily="34" charset="0"/>
              </a:rPr>
              <a:t>Commetric’s</a:t>
            </a:r>
            <a:r>
              <a:rPr lang="en-US" altLang="bg-BG" sz="1200" dirty="0">
                <a:latin typeface="Arial" panose="020B0604020202020204" pitchFamily="34" charset="0"/>
              </a:rPr>
              <a:t> freelancer platform. The performance will be accompanied by a feedback session.</a:t>
            </a:r>
            <a:endParaRPr lang="bg-BG" altLang="bg-BG" sz="12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1804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2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75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2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65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Non-negotiables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515939" y="1304925"/>
            <a:ext cx="3443502" cy="20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Start on time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Be online and ready to begin work at the agreed shift start. Send your start confirmation message before commencing. Production time must not be reduced by late logins or preparation delays.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88295" y="1304925"/>
            <a:ext cx="3443502" cy="20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Deliver on time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All deliverables must be submitted at the agreed deadline. If a timing risk emerges, escalate immediately - do not wait until the deadline has passed.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32561" y="1304925"/>
            <a:ext cx="3443502" cy="2004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/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Follow the brief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Every output must comply with the approved project style guide and client instructions. Consistency in formatting, tone, structure, and tagging is part of quality delivery.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00086" y="3737467"/>
            <a:ext cx="3443502" cy="25006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>
            <a:sp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Escalate immediately if issues arise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Technical problems, unclear instructions, workload risks (more articles than usual), or personal emergencies must be communicated to the lead analyst/PM without delay. Early escalation protects the client and the team.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48413" y="3737467"/>
            <a:ext cx="3443502" cy="250064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tIns="144000" rIns="216000" bIns="144000" rtlCol="0" anchor="t">
            <a:noAutofit/>
          </a:bodyPr>
          <a:lstStyle/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b="1" dirty="0">
                <a:solidFill>
                  <a:schemeClr val="accent1"/>
                </a:solidFill>
                <a:latin typeface="Arial" panose="020B0604020202020204" pitchFamily="34" charset="0"/>
              </a:rPr>
              <a:t>Log hours accurately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n-GB" altLang="bg-BG" sz="1400" dirty="0">
                <a:solidFill>
                  <a:schemeClr val="tx1"/>
                </a:solidFill>
                <a:latin typeface="Arial" panose="020B0604020202020204" pitchFamily="34" charset="0"/>
              </a:rPr>
              <a:t>Record all worked time promptly and truthfully in Aladdin. Timesheets must reflect actual work completed and be submitted before month-end.</a:t>
            </a:r>
          </a:p>
        </p:txBody>
      </p:sp>
    </p:spTree>
    <p:extLst>
      <p:ext uri="{BB962C8B-B14F-4D97-AF65-F5344CB8AC3E}">
        <p14:creationId xmlns:p14="http://schemas.microsoft.com/office/powerpoint/2010/main" val="4216071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10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3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6" dur="10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2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5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2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1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10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6" dur="10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5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10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allAtOnce" animBg="1"/>
      <p:bldP spid="7" grpId="0" build="allAtOnce" animBg="1"/>
      <p:bldP spid="9" grpId="0" build="allAtOnce" animBg="1"/>
      <p:bldP spid="10" grpId="0" build="allAtOnce" animBg="1"/>
      <p:bldP spid="11" grpId="0" build="allAtOnce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8052105"/>
      </p:ext>
    </p:extLst>
  </p:cSld>
  <p:clrMapOvr>
    <a:masterClrMapping/>
  </p:clrMapOvr>
</p:sld>
</file>

<file path=ppt/theme/theme1.xml><?xml version="1.0" encoding="utf-8"?>
<a:theme xmlns:a="http://schemas.openxmlformats.org/drawingml/2006/main" name="Reporting Master | Small font">
  <a:themeElements>
    <a:clrScheme name="Commetric 2019">
      <a:dk1>
        <a:srgbClr val="0F1520"/>
      </a:dk1>
      <a:lt1>
        <a:srgbClr val="FFFFFF"/>
      </a:lt1>
      <a:dk2>
        <a:srgbClr val="D7EEF2"/>
      </a:dk2>
      <a:lt2>
        <a:srgbClr val="FEF2E0"/>
      </a:lt2>
      <a:accent1>
        <a:srgbClr val="132D3D"/>
      </a:accent1>
      <a:accent2>
        <a:srgbClr val="25D8FF"/>
      </a:accent2>
      <a:accent3>
        <a:srgbClr val="7A4E41"/>
      </a:accent3>
      <a:accent4>
        <a:srgbClr val="F9B485"/>
      </a:accent4>
      <a:accent5>
        <a:srgbClr val="565670"/>
      </a:accent5>
      <a:accent6>
        <a:srgbClr val="DBC0FF"/>
      </a:accent6>
      <a:hlink>
        <a:srgbClr val="0081C5"/>
      </a:hlink>
      <a:folHlink>
        <a:srgbClr val="AB47B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lIns="72000" tIns="72000" rIns="72000" bIns="72000" rtlCol="0">
        <a:spAutoFit/>
      </a:bodyPr>
      <a:lstStyle>
        <a:defPPr>
          <a:defRPr sz="1400" dirty="0" smtClean="0"/>
        </a:defPPr>
      </a:lstStyle>
    </a:txDef>
  </a:objectDefaults>
  <a:extraClrSchemeLst/>
  <a:custClrLst>
    <a:custClr name="Viridian">
      <a:srgbClr val="3D5E60"/>
    </a:custClr>
    <a:custClr name="Snowy mint">
      <a:srgbClr val="CDF2CD"/>
    </a:custClr>
    <a:custClr name="Stiletto">
      <a:srgbClr val="973939"/>
    </a:custClr>
    <a:custClr name="Sundown">
      <a:srgbClr val="EFA8A8"/>
    </a:custClr>
    <a:custClr name="Rose Ebony">
      <a:srgbClr val="573737"/>
    </a:custClr>
    <a:custClr name="Rose Taupe">
      <a:srgbClr val="905B5B"/>
    </a:custClr>
    <a:custClr name="Old Gold">
      <a:srgbClr val="BDA646"/>
    </a:custClr>
    <a:custClr name="Jasmine">
      <a:srgbClr val="FFDA85"/>
    </a:custClr>
    <a:custClr name="Dim Gray">
      <a:srgbClr val="5D5148"/>
    </a:custClr>
    <a:custClr name="Desert Sand">
      <a:srgbClr val="D2B5A2"/>
    </a:custClr>
    <a:custClr name="Positive">
      <a:srgbClr val="4BAD48"/>
    </a:custClr>
    <a:custClr name="Balanced">
      <a:srgbClr val="FFB300"/>
    </a:custClr>
    <a:custClr name="Neutral">
      <a:srgbClr val="C1C1C3"/>
    </a:custClr>
    <a:custClr name="Negative">
      <a:srgbClr val="AC1536"/>
    </a:custClr>
  </a:custClrLst>
  <a:extLst>
    <a:ext uri="{05A4C25C-085E-4340-85A3-A5531E510DB2}">
      <thm15:themeFamily xmlns:thm15="http://schemas.microsoft.com/office/thememl/2012/main" name="Commetric PPT Template 2026" id="{F32DC19D-1F6F-4A56-A6DF-CBDC82F8C569}" vid="{4DFF04C4-FE28-4E12-9A06-9F0FC190A67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Commetric Core PPT Template 2026</Template>
  <TotalTime>181</TotalTime>
  <Words>1462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Arial Black</vt:lpstr>
      <vt:lpstr>Calibri</vt:lpstr>
      <vt:lpstr>Reporting Master | Small font</vt:lpstr>
      <vt:lpstr>Freelancer network</vt:lpstr>
      <vt:lpstr>That’s how we build trust</vt:lpstr>
      <vt:lpstr>Our 7-pillar freelancer model</vt:lpstr>
      <vt:lpstr>Pillar 1: Standardized onboarding &amp; guides</vt:lpstr>
      <vt:lpstr>Pillar 2: Skills-based assignment model</vt:lpstr>
      <vt:lpstr>Pillar 3: Tiered talent structure</vt:lpstr>
      <vt:lpstr>Pillar 4: Continuous feedback &amp; QA loop</vt:lpstr>
      <vt:lpstr>Pillar 5: Collaboration &amp; workflow platform</vt:lpstr>
      <vt:lpstr>Pillar 6: Engagement through community &amp; incentives</vt:lpstr>
      <vt:lpstr>Pillar 7: Performance data &amp; quality metrics</vt:lpstr>
      <vt:lpstr>Non-negotiables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Freelancer network</dc:title>
  <dc:creator>Rositsa Cherneva</dc:creator>
  <cp:lastModifiedBy>Christina Dimova</cp:lastModifiedBy>
  <cp:revision>30</cp:revision>
  <dcterms:created xsi:type="dcterms:W3CDTF">2026-02-23T06:54:42Z</dcterms:created>
  <dcterms:modified xsi:type="dcterms:W3CDTF">2026-02-24T09:23:28Z</dcterms:modified>
</cp:coreProperties>
</file>