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9"/>
  </p:notesMasterIdLst>
  <p:sldIdLst>
    <p:sldId id="288" r:id="rId2"/>
    <p:sldId id="294" r:id="rId3"/>
    <p:sldId id="293" r:id="rId4"/>
    <p:sldId id="290" r:id="rId5"/>
    <p:sldId id="295" r:id="rId6"/>
    <p:sldId id="297" r:id="rId7"/>
    <p:sldId id="316" r:id="rId8"/>
    <p:sldId id="296" r:id="rId9"/>
    <p:sldId id="298" r:id="rId10"/>
    <p:sldId id="299" r:id="rId11"/>
    <p:sldId id="300" r:id="rId12"/>
    <p:sldId id="301" r:id="rId13"/>
    <p:sldId id="302" r:id="rId14"/>
    <p:sldId id="303" r:id="rId15"/>
    <p:sldId id="304" r:id="rId16"/>
    <p:sldId id="305" r:id="rId17"/>
    <p:sldId id="306" r:id="rId18"/>
    <p:sldId id="307" r:id="rId19"/>
    <p:sldId id="308" r:id="rId20"/>
    <p:sldId id="309" r:id="rId21"/>
    <p:sldId id="310" r:id="rId22"/>
    <p:sldId id="311" r:id="rId23"/>
    <p:sldId id="317" r:id="rId24"/>
    <p:sldId id="313" r:id="rId25"/>
    <p:sldId id="314" r:id="rId26"/>
    <p:sldId id="315" r:id="rId27"/>
    <p:sldId id="292"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4044" userDrawn="1">
          <p15:clr>
            <a:srgbClr val="A4A3A4"/>
          </p15:clr>
        </p15:guide>
        <p15:guide id="2" orient="horz" pos="218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E0"/>
    <a:srgbClr val="FBEC88"/>
    <a:srgbClr val="00FF87"/>
    <a:srgbClr val="011C40"/>
    <a:srgbClr val="000000"/>
    <a:srgbClr val="4040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517" autoAdjust="0"/>
    <p:restoredTop sz="94660"/>
  </p:normalViewPr>
  <p:slideViewPr>
    <p:cSldViewPr snapToGrid="0">
      <p:cViewPr varScale="1">
        <p:scale>
          <a:sx n="115" d="100"/>
          <a:sy n="115" d="100"/>
        </p:scale>
        <p:origin x="402" y="114"/>
      </p:cViewPr>
      <p:guideLst>
        <p:guide pos="4044"/>
        <p:guide orient="horz" pos="2183"/>
      </p:guideLst>
    </p:cSldViewPr>
  </p:slideViewPr>
  <p:notesTextViewPr>
    <p:cViewPr>
      <p:scale>
        <a:sx n="1" d="1"/>
        <a:sy n="1" d="1"/>
      </p:scale>
      <p:origin x="0" y="0"/>
    </p:cViewPr>
  </p:notesTextViewPr>
  <p:sorterViewPr>
    <p:cViewPr>
      <p:scale>
        <a:sx n="100" d="100"/>
        <a:sy n="100" d="100"/>
      </p:scale>
      <p:origin x="0" y="-546"/>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0D9F3EF-4721-40FD-AEBD-420A17CC17D9}" type="datetimeFigureOut">
              <a:rPr lang="en-GB" smtClean="0"/>
              <a:t>25/05/2023</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ABC00D-C91B-4F89-9E21-C3A8382B3544}" type="slidenum">
              <a:rPr lang="en-GB" smtClean="0"/>
              <a:t>‹#›</a:t>
            </a:fld>
            <a:endParaRPr lang="en-GB"/>
          </a:p>
        </p:txBody>
      </p:sp>
    </p:spTree>
    <p:extLst>
      <p:ext uri="{BB962C8B-B14F-4D97-AF65-F5344CB8AC3E}">
        <p14:creationId xmlns:p14="http://schemas.microsoft.com/office/powerpoint/2010/main" val="24523583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hyperlink" Target="https://commetric.com/" TargetMode="Externa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hyperlink" Target="https://commetric.com/" TargetMode="External"/><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 Id="rId5" Type="http://schemas.openxmlformats.org/officeDocument/2006/relationships/image" Target="../media/image15.png"/><Relationship Id="rId4" Type="http://schemas.openxmlformats.org/officeDocument/2006/relationships/image" Target="../media/image14.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839788" y="1981200"/>
            <a:ext cx="4853441" cy="876300"/>
          </a:xfrm>
        </p:spPr>
        <p:txBody>
          <a:bodyPr anchor="t"/>
          <a:lstStyle>
            <a:lvl1pPr algn="l">
              <a:defRPr sz="2800"/>
            </a:lvl1pPr>
          </a:lstStyle>
          <a:p>
            <a:r>
              <a:rPr lang="en-US" smtClean="0"/>
              <a:t>Click to edit Master title style</a:t>
            </a:r>
            <a:endParaRPr lang="en-GB" dirty="0"/>
          </a:p>
        </p:txBody>
      </p:sp>
      <p:sp>
        <p:nvSpPr>
          <p:cNvPr id="3" name="Subtitle 2"/>
          <p:cNvSpPr>
            <a:spLocks noGrp="1"/>
          </p:cNvSpPr>
          <p:nvPr>
            <p:ph type="subTitle" idx="1"/>
          </p:nvPr>
        </p:nvSpPr>
        <p:spPr>
          <a:xfrm>
            <a:off x="839788" y="3073400"/>
            <a:ext cx="5561012" cy="546100"/>
          </a:xfrm>
        </p:spPr>
        <p:txBody>
          <a:bodyPr anchor="t"/>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GB" dirty="0"/>
          </a:p>
        </p:txBody>
      </p:sp>
      <p:pic>
        <p:nvPicPr>
          <p:cNvPr id="9" name="Picture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98499" y="0"/>
            <a:ext cx="2799642" cy="1574799"/>
          </a:xfrm>
          <a:prstGeom prst="rect">
            <a:avLst/>
          </a:prstGeom>
        </p:spPr>
      </p:pic>
      <p:sp>
        <p:nvSpPr>
          <p:cNvPr id="10" name="TextBox 9">
            <a:hlinkClick r:id="rId4"/>
          </p:cNvPr>
          <p:cNvSpPr txBox="1"/>
          <p:nvPr userDrawn="1"/>
        </p:nvSpPr>
        <p:spPr>
          <a:xfrm>
            <a:off x="839788" y="5923776"/>
            <a:ext cx="2116028" cy="276999"/>
          </a:xfrm>
          <a:prstGeom prst="rect">
            <a:avLst/>
          </a:prstGeom>
          <a:noFill/>
        </p:spPr>
        <p:txBody>
          <a:bodyPr wrap="none" lIns="0" tIns="0" rIns="0" bIns="0" rtlCol="0">
            <a:spAutoFit/>
          </a:bodyPr>
          <a:lstStyle/>
          <a:p>
            <a:r>
              <a:rPr lang="en-US" dirty="0" smtClean="0">
                <a:solidFill>
                  <a:schemeClr val="bg1"/>
                </a:solidFill>
                <a:latin typeface="+mn-lt"/>
              </a:rPr>
              <a:t>www.commetric.com</a:t>
            </a:r>
            <a:endParaRPr lang="en-GB" dirty="0">
              <a:solidFill>
                <a:schemeClr val="bg1"/>
              </a:solidFill>
              <a:latin typeface="+mn-lt"/>
            </a:endParaRPr>
          </a:p>
        </p:txBody>
      </p:sp>
    </p:spTree>
    <p:extLst>
      <p:ext uri="{BB962C8B-B14F-4D97-AF65-F5344CB8AC3E}">
        <p14:creationId xmlns:p14="http://schemas.microsoft.com/office/powerpoint/2010/main" val="16265669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Header_01">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831850" y="2225041"/>
            <a:ext cx="4349750" cy="960120"/>
          </a:xfrm>
        </p:spPr>
        <p:txBody>
          <a:bodyPr anchor="t"/>
          <a:lstStyle>
            <a:lvl1pPr>
              <a:defRPr sz="2800"/>
            </a:lvl1pPr>
          </a:lstStyle>
          <a:p>
            <a:r>
              <a:rPr lang="en-US" smtClean="0"/>
              <a:t>Click to edit Master title style</a:t>
            </a:r>
            <a:endParaRPr lang="en-GB" dirty="0"/>
          </a:p>
        </p:txBody>
      </p:sp>
      <p:sp>
        <p:nvSpPr>
          <p:cNvPr id="3" name="Text Placeholder 2"/>
          <p:cNvSpPr>
            <a:spLocks noGrp="1"/>
          </p:cNvSpPr>
          <p:nvPr>
            <p:ph type="body" idx="1"/>
          </p:nvPr>
        </p:nvSpPr>
        <p:spPr>
          <a:xfrm>
            <a:off x="831850" y="3489961"/>
            <a:ext cx="4349750" cy="609599"/>
          </a:xfrm>
        </p:spPr>
        <p:txBody>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5" name="Footer Placeholder 4"/>
          <p:cNvSpPr>
            <a:spLocks noGrp="1"/>
          </p:cNvSpPr>
          <p:nvPr>
            <p:ph type="ftr" sz="quarter" idx="11"/>
          </p:nvPr>
        </p:nvSpPr>
        <p:spPr/>
        <p:txBody>
          <a:bodyPr/>
          <a:lstStyle/>
          <a:p>
            <a:endParaRPr lang="en-GB"/>
          </a:p>
        </p:txBody>
      </p:sp>
      <p:pic>
        <p:nvPicPr>
          <p:cNvPr id="9" name="Picture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98499" y="0"/>
            <a:ext cx="2799642" cy="1574799"/>
          </a:xfrm>
          <a:prstGeom prst="rect">
            <a:avLst/>
          </a:prstGeom>
        </p:spPr>
      </p:pic>
      <p:sp>
        <p:nvSpPr>
          <p:cNvPr id="10" name="Rectangle 9"/>
          <p:cNvSpPr/>
          <p:nvPr userDrawn="1"/>
        </p:nvSpPr>
        <p:spPr>
          <a:xfrm>
            <a:off x="-446315" y="0"/>
            <a:ext cx="1144813" cy="1196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171757651"/>
      </p:ext>
    </p:extLst>
  </p:cSld>
  <p:clrMapOvr>
    <a:masterClrMapping/>
  </p:clrMapOvr>
  <p:extLst mod="1">
    <p:ext uri="{DCECCB84-F9BA-43D5-87BE-67443E8EF086}">
      <p15:sldGuideLst xmlns:p15="http://schemas.microsoft.com/office/powerpoint/2012/main">
        <p15:guide id="1" pos="3386"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_02">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831850" y="2225041"/>
            <a:ext cx="4349750" cy="960120"/>
          </a:xfrm>
        </p:spPr>
        <p:txBody>
          <a:bodyPr anchor="t"/>
          <a:lstStyle>
            <a:lvl1pPr>
              <a:defRPr sz="2800"/>
            </a:lvl1pPr>
          </a:lstStyle>
          <a:p>
            <a:r>
              <a:rPr lang="en-US" smtClean="0"/>
              <a:t>Click to edit Master title style</a:t>
            </a:r>
            <a:endParaRPr lang="en-GB" dirty="0"/>
          </a:p>
        </p:txBody>
      </p:sp>
      <p:sp>
        <p:nvSpPr>
          <p:cNvPr id="3" name="Text Placeholder 2"/>
          <p:cNvSpPr>
            <a:spLocks noGrp="1"/>
          </p:cNvSpPr>
          <p:nvPr>
            <p:ph type="body" idx="1"/>
          </p:nvPr>
        </p:nvSpPr>
        <p:spPr>
          <a:xfrm>
            <a:off x="831850" y="3489961"/>
            <a:ext cx="4349750" cy="609599"/>
          </a:xfrm>
        </p:spPr>
        <p:txBody>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5" name="Footer Placeholder 4"/>
          <p:cNvSpPr>
            <a:spLocks noGrp="1"/>
          </p:cNvSpPr>
          <p:nvPr>
            <p:ph type="ftr" sz="quarter" idx="11"/>
          </p:nvPr>
        </p:nvSpPr>
        <p:spPr/>
        <p:txBody>
          <a:bodyPr/>
          <a:lstStyle/>
          <a:p>
            <a:endParaRPr lang="en-GB"/>
          </a:p>
        </p:txBody>
      </p:sp>
      <p:pic>
        <p:nvPicPr>
          <p:cNvPr id="9" name="Picture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98499" y="0"/>
            <a:ext cx="2799642" cy="1574799"/>
          </a:xfrm>
          <a:prstGeom prst="rect">
            <a:avLst/>
          </a:prstGeom>
        </p:spPr>
      </p:pic>
      <p:sp>
        <p:nvSpPr>
          <p:cNvPr id="10" name="Rectangle 9"/>
          <p:cNvSpPr/>
          <p:nvPr userDrawn="1"/>
        </p:nvSpPr>
        <p:spPr>
          <a:xfrm>
            <a:off x="-446315" y="0"/>
            <a:ext cx="1144813" cy="1196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135636530"/>
      </p:ext>
    </p:extLst>
  </p:cSld>
  <p:clrMapOvr>
    <a:masterClrMapping/>
  </p:clrMapOvr>
  <p:extLst mod="1">
    <p:ext uri="{DCECCB84-F9BA-43D5-87BE-67443E8EF086}">
      <p15:sldGuideLst xmlns:p15="http://schemas.microsoft.com/office/powerpoint/2012/main">
        <p15:guide id="1" pos="3386">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_03">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831850" y="2225041"/>
            <a:ext cx="4349750" cy="960120"/>
          </a:xfrm>
        </p:spPr>
        <p:txBody>
          <a:bodyPr anchor="t"/>
          <a:lstStyle>
            <a:lvl1pPr>
              <a:defRPr sz="2800"/>
            </a:lvl1pPr>
          </a:lstStyle>
          <a:p>
            <a:r>
              <a:rPr lang="en-US" smtClean="0"/>
              <a:t>Click to edit Master title style</a:t>
            </a:r>
            <a:endParaRPr lang="en-GB" dirty="0"/>
          </a:p>
        </p:txBody>
      </p:sp>
      <p:sp>
        <p:nvSpPr>
          <p:cNvPr id="3" name="Text Placeholder 2"/>
          <p:cNvSpPr>
            <a:spLocks noGrp="1"/>
          </p:cNvSpPr>
          <p:nvPr>
            <p:ph type="body" idx="1"/>
          </p:nvPr>
        </p:nvSpPr>
        <p:spPr>
          <a:xfrm>
            <a:off x="831850" y="3489961"/>
            <a:ext cx="4349750" cy="609599"/>
          </a:xfrm>
        </p:spPr>
        <p:txBody>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5" name="Footer Placeholder 4"/>
          <p:cNvSpPr>
            <a:spLocks noGrp="1"/>
          </p:cNvSpPr>
          <p:nvPr>
            <p:ph type="ftr" sz="quarter" idx="11"/>
          </p:nvPr>
        </p:nvSpPr>
        <p:spPr/>
        <p:txBody>
          <a:bodyPr/>
          <a:lstStyle/>
          <a:p>
            <a:endParaRPr lang="en-GB"/>
          </a:p>
        </p:txBody>
      </p:sp>
      <p:pic>
        <p:nvPicPr>
          <p:cNvPr id="9" name="Picture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98499" y="0"/>
            <a:ext cx="2799642" cy="1574799"/>
          </a:xfrm>
          <a:prstGeom prst="rect">
            <a:avLst/>
          </a:prstGeom>
        </p:spPr>
      </p:pic>
      <p:sp>
        <p:nvSpPr>
          <p:cNvPr id="10" name="Rectangle 9"/>
          <p:cNvSpPr/>
          <p:nvPr userDrawn="1"/>
        </p:nvSpPr>
        <p:spPr>
          <a:xfrm>
            <a:off x="-446315" y="0"/>
            <a:ext cx="1144813" cy="1196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937850065"/>
      </p:ext>
    </p:extLst>
  </p:cSld>
  <p:clrMapOvr>
    <a:masterClrMapping/>
  </p:clrMapOvr>
  <p:extLst mod="1">
    <p:ext uri="{DCECCB84-F9BA-43D5-87BE-67443E8EF086}">
      <p15:sldGuideLst xmlns:p15="http://schemas.microsoft.com/office/powerpoint/2012/main">
        <p15:guide id="1" pos="3386">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_04">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831850" y="2225041"/>
            <a:ext cx="4349750" cy="960120"/>
          </a:xfrm>
        </p:spPr>
        <p:txBody>
          <a:bodyPr anchor="t"/>
          <a:lstStyle>
            <a:lvl1pPr>
              <a:defRPr sz="2800"/>
            </a:lvl1pPr>
          </a:lstStyle>
          <a:p>
            <a:r>
              <a:rPr lang="en-US" smtClean="0"/>
              <a:t>Click to edit Master title style</a:t>
            </a:r>
            <a:endParaRPr lang="en-GB" dirty="0"/>
          </a:p>
        </p:txBody>
      </p:sp>
      <p:sp>
        <p:nvSpPr>
          <p:cNvPr id="3" name="Text Placeholder 2"/>
          <p:cNvSpPr>
            <a:spLocks noGrp="1"/>
          </p:cNvSpPr>
          <p:nvPr>
            <p:ph type="body" idx="1"/>
          </p:nvPr>
        </p:nvSpPr>
        <p:spPr>
          <a:xfrm>
            <a:off x="831850" y="3489961"/>
            <a:ext cx="4349750" cy="609599"/>
          </a:xfrm>
        </p:spPr>
        <p:txBody>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5" name="Footer Placeholder 4"/>
          <p:cNvSpPr>
            <a:spLocks noGrp="1"/>
          </p:cNvSpPr>
          <p:nvPr>
            <p:ph type="ftr" sz="quarter" idx="11"/>
          </p:nvPr>
        </p:nvSpPr>
        <p:spPr/>
        <p:txBody>
          <a:bodyPr/>
          <a:lstStyle/>
          <a:p>
            <a:endParaRPr lang="en-GB"/>
          </a:p>
        </p:txBody>
      </p:sp>
      <p:pic>
        <p:nvPicPr>
          <p:cNvPr id="9" name="Picture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98499" y="0"/>
            <a:ext cx="2799642" cy="1574799"/>
          </a:xfrm>
          <a:prstGeom prst="rect">
            <a:avLst/>
          </a:prstGeom>
        </p:spPr>
      </p:pic>
      <p:sp>
        <p:nvSpPr>
          <p:cNvPr id="10" name="Rectangle 9"/>
          <p:cNvSpPr/>
          <p:nvPr userDrawn="1"/>
        </p:nvSpPr>
        <p:spPr>
          <a:xfrm>
            <a:off x="-446315" y="0"/>
            <a:ext cx="1144813" cy="1196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009790637"/>
      </p:ext>
    </p:extLst>
  </p:cSld>
  <p:clrMapOvr>
    <a:masterClrMapping/>
  </p:clrMapOvr>
  <p:extLst mod="1">
    <p:ext uri="{DCECCB84-F9BA-43D5-87BE-67443E8EF086}">
      <p15:sldGuideLst xmlns:p15="http://schemas.microsoft.com/office/powerpoint/2012/main">
        <p15:guide id="1" pos="3386">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_gradient 01">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7" name="Pictur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67266" y="-99485"/>
            <a:ext cx="3124201" cy="1822451"/>
          </a:xfrm>
          <a:prstGeom prst="rect">
            <a:avLst/>
          </a:prstGeom>
        </p:spPr>
      </p:pic>
      <p:sp>
        <p:nvSpPr>
          <p:cNvPr id="2" name="Title 1"/>
          <p:cNvSpPr>
            <a:spLocks noGrp="1"/>
          </p:cNvSpPr>
          <p:nvPr>
            <p:ph type="title"/>
          </p:nvPr>
        </p:nvSpPr>
        <p:spPr>
          <a:xfrm>
            <a:off x="831849" y="2612571"/>
            <a:ext cx="4992008" cy="572590"/>
          </a:xfrm>
        </p:spPr>
        <p:txBody>
          <a:bodyPr anchor="t"/>
          <a:lstStyle>
            <a:lvl1pPr>
              <a:defRPr sz="2800">
                <a:solidFill>
                  <a:srgbClr val="011C40"/>
                </a:solidFill>
              </a:defRPr>
            </a:lvl1pPr>
          </a:lstStyle>
          <a:p>
            <a:r>
              <a:rPr lang="en-US" smtClean="0"/>
              <a:t>Click to edit Master title style</a:t>
            </a:r>
            <a:endParaRPr lang="en-GB" dirty="0"/>
          </a:p>
        </p:txBody>
      </p:sp>
      <p:sp>
        <p:nvSpPr>
          <p:cNvPr id="3" name="Text Placeholder 2"/>
          <p:cNvSpPr>
            <a:spLocks noGrp="1"/>
          </p:cNvSpPr>
          <p:nvPr>
            <p:ph type="body" idx="1"/>
          </p:nvPr>
        </p:nvSpPr>
        <p:spPr>
          <a:xfrm>
            <a:off x="831850" y="3489961"/>
            <a:ext cx="4698092" cy="609599"/>
          </a:xfrm>
        </p:spPr>
        <p:txBody>
          <a:bodyPr/>
          <a:lstStyle>
            <a:lvl1pPr marL="0" indent="0">
              <a:buNone/>
              <a:defRPr sz="1800">
                <a:solidFill>
                  <a:srgbClr val="011C40"/>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5" name="Footer Placeholder 4"/>
          <p:cNvSpPr>
            <a:spLocks noGrp="1"/>
          </p:cNvSpPr>
          <p:nvPr>
            <p:ph type="ftr" sz="quarter" idx="11"/>
          </p:nvPr>
        </p:nvSpPr>
        <p:spPr/>
        <p:txBody>
          <a:bodyPr/>
          <a:lstStyle>
            <a:lvl1pPr>
              <a:defRPr>
                <a:solidFill>
                  <a:schemeClr val="bg1"/>
                </a:solidFill>
              </a:defRPr>
            </a:lvl1pPr>
          </a:lstStyle>
          <a:p>
            <a:endParaRPr lang="en-GB" dirty="0"/>
          </a:p>
        </p:txBody>
      </p:sp>
      <p:sp>
        <p:nvSpPr>
          <p:cNvPr id="11" name="TextBox 10"/>
          <p:cNvSpPr txBox="1"/>
          <p:nvPr userDrawn="1"/>
        </p:nvSpPr>
        <p:spPr>
          <a:xfrm>
            <a:off x="839788" y="6352143"/>
            <a:ext cx="673326" cy="369332"/>
          </a:xfrm>
          <a:prstGeom prst="rect">
            <a:avLst/>
          </a:prstGeom>
          <a:noFill/>
        </p:spPr>
        <p:txBody>
          <a:bodyPr wrap="square" lIns="0" rtlCol="0" anchor="ctr">
            <a:noAutofit/>
          </a:bodyPr>
          <a:lstStyle/>
          <a:p>
            <a:fld id="{CFFAC0B7-110F-4295-BA28-2418E7E1FD08}" type="slidenum">
              <a:rPr lang="en-GB" sz="1000" smtClean="0">
                <a:solidFill>
                  <a:schemeClr val="bg1"/>
                </a:solidFill>
              </a:rPr>
              <a:t>‹#›</a:t>
            </a:fld>
            <a:endParaRPr lang="en-GB" sz="1000" dirty="0">
              <a:solidFill>
                <a:schemeClr val="bg1"/>
              </a:solidFill>
            </a:endParaRPr>
          </a:p>
        </p:txBody>
      </p:sp>
    </p:spTree>
    <p:extLst>
      <p:ext uri="{BB962C8B-B14F-4D97-AF65-F5344CB8AC3E}">
        <p14:creationId xmlns:p14="http://schemas.microsoft.com/office/powerpoint/2010/main" val="3440020076"/>
      </p:ext>
    </p:extLst>
  </p:cSld>
  <p:clrMapOvr>
    <a:masterClrMapping/>
  </p:clrMapOvr>
  <p:extLst mod="1">
    <p:ext uri="{DCECCB84-F9BA-43D5-87BE-67443E8EF086}">
      <p15:sldGuideLst xmlns:p15="http://schemas.microsoft.com/office/powerpoint/2012/main">
        <p15:guide id="1" pos="3386">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Section Header_gradient 02">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7" name="Pictur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67266" y="-99485"/>
            <a:ext cx="3124201" cy="1822451"/>
          </a:xfrm>
          <a:prstGeom prst="rect">
            <a:avLst/>
          </a:prstGeom>
        </p:spPr>
      </p:pic>
      <p:sp>
        <p:nvSpPr>
          <p:cNvPr id="2" name="Title 1"/>
          <p:cNvSpPr>
            <a:spLocks noGrp="1"/>
          </p:cNvSpPr>
          <p:nvPr>
            <p:ph type="title"/>
          </p:nvPr>
        </p:nvSpPr>
        <p:spPr>
          <a:xfrm>
            <a:off x="831849" y="2612571"/>
            <a:ext cx="4992008" cy="572590"/>
          </a:xfrm>
        </p:spPr>
        <p:txBody>
          <a:bodyPr anchor="t"/>
          <a:lstStyle>
            <a:lvl1pPr>
              <a:defRPr sz="2800">
                <a:solidFill>
                  <a:srgbClr val="011C40"/>
                </a:solidFill>
              </a:defRPr>
            </a:lvl1pPr>
          </a:lstStyle>
          <a:p>
            <a:r>
              <a:rPr lang="en-US" smtClean="0"/>
              <a:t>Click to edit Master title style</a:t>
            </a:r>
            <a:endParaRPr lang="en-GB" dirty="0"/>
          </a:p>
        </p:txBody>
      </p:sp>
      <p:sp>
        <p:nvSpPr>
          <p:cNvPr id="3" name="Text Placeholder 2"/>
          <p:cNvSpPr>
            <a:spLocks noGrp="1"/>
          </p:cNvSpPr>
          <p:nvPr>
            <p:ph type="body" idx="1"/>
          </p:nvPr>
        </p:nvSpPr>
        <p:spPr>
          <a:xfrm>
            <a:off x="831850" y="3489961"/>
            <a:ext cx="4698092" cy="609599"/>
          </a:xfrm>
        </p:spPr>
        <p:txBody>
          <a:bodyPr/>
          <a:lstStyle>
            <a:lvl1pPr marL="0" indent="0">
              <a:buNone/>
              <a:defRPr sz="1800">
                <a:solidFill>
                  <a:srgbClr val="011C40"/>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5" name="Footer Placeholder 4"/>
          <p:cNvSpPr>
            <a:spLocks noGrp="1"/>
          </p:cNvSpPr>
          <p:nvPr>
            <p:ph type="ftr" sz="quarter" idx="11"/>
          </p:nvPr>
        </p:nvSpPr>
        <p:spPr/>
        <p:txBody>
          <a:bodyPr/>
          <a:lstStyle>
            <a:lvl1pPr>
              <a:defRPr>
                <a:solidFill>
                  <a:schemeClr val="bg1"/>
                </a:solidFill>
              </a:defRPr>
            </a:lvl1pPr>
          </a:lstStyle>
          <a:p>
            <a:endParaRPr lang="en-GB" dirty="0"/>
          </a:p>
        </p:txBody>
      </p:sp>
      <p:sp>
        <p:nvSpPr>
          <p:cNvPr id="11" name="TextBox 10"/>
          <p:cNvSpPr txBox="1"/>
          <p:nvPr userDrawn="1"/>
        </p:nvSpPr>
        <p:spPr>
          <a:xfrm>
            <a:off x="839788" y="6352143"/>
            <a:ext cx="673326" cy="369332"/>
          </a:xfrm>
          <a:prstGeom prst="rect">
            <a:avLst/>
          </a:prstGeom>
          <a:noFill/>
        </p:spPr>
        <p:txBody>
          <a:bodyPr wrap="square" lIns="0" rtlCol="0" anchor="ctr">
            <a:noAutofit/>
          </a:bodyPr>
          <a:lstStyle/>
          <a:p>
            <a:fld id="{CFFAC0B7-110F-4295-BA28-2418E7E1FD08}" type="slidenum">
              <a:rPr lang="en-GB" sz="1000" smtClean="0">
                <a:solidFill>
                  <a:schemeClr val="bg1"/>
                </a:solidFill>
              </a:rPr>
              <a:t>‹#›</a:t>
            </a:fld>
            <a:endParaRPr lang="en-GB" sz="1000" dirty="0">
              <a:solidFill>
                <a:schemeClr val="bg1"/>
              </a:solidFill>
            </a:endParaRPr>
          </a:p>
        </p:txBody>
      </p:sp>
    </p:spTree>
    <p:extLst>
      <p:ext uri="{BB962C8B-B14F-4D97-AF65-F5344CB8AC3E}">
        <p14:creationId xmlns:p14="http://schemas.microsoft.com/office/powerpoint/2010/main" val="735661950"/>
      </p:ext>
    </p:extLst>
  </p:cSld>
  <p:clrMapOvr>
    <a:masterClrMapping/>
  </p:clrMapOvr>
  <p:extLst mod="1">
    <p:ext uri="{DCECCB84-F9BA-43D5-87BE-67443E8EF086}">
      <p15:sldGuideLst xmlns:p15="http://schemas.microsoft.com/office/powerpoint/2012/main">
        <p15:guide id="1" pos="3386">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dirty="0"/>
          </a:p>
        </p:txBody>
      </p:sp>
      <p:sp>
        <p:nvSpPr>
          <p:cNvPr id="9" name="TextBox 8"/>
          <p:cNvSpPr txBox="1"/>
          <p:nvPr userDrawn="1"/>
        </p:nvSpPr>
        <p:spPr>
          <a:xfrm>
            <a:off x="839788" y="6352143"/>
            <a:ext cx="673326" cy="369332"/>
          </a:xfrm>
          <a:prstGeom prst="rect">
            <a:avLst/>
          </a:prstGeom>
          <a:noFill/>
        </p:spPr>
        <p:txBody>
          <a:bodyPr wrap="square" lIns="0" rtlCol="0" anchor="ctr">
            <a:noAutofit/>
          </a:bodyPr>
          <a:lstStyle/>
          <a:p>
            <a:fld id="{CFFAC0B7-110F-4295-BA28-2418E7E1FD08}" type="slidenum">
              <a:rPr lang="en-GB" sz="1000" smtClean="0"/>
              <a:t>‹#›</a:t>
            </a:fld>
            <a:endParaRPr lang="en-GB" sz="1000" dirty="0"/>
          </a:p>
        </p:txBody>
      </p:sp>
    </p:spTree>
    <p:extLst>
      <p:ext uri="{BB962C8B-B14F-4D97-AF65-F5344CB8AC3E}">
        <p14:creationId xmlns:p14="http://schemas.microsoft.com/office/powerpoint/2010/main" val="313337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838200" y="1196975"/>
            <a:ext cx="5181600" cy="49799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6172200" y="1196975"/>
            <a:ext cx="5181600" cy="49799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11"/>
          </p:nvPr>
        </p:nvSpPr>
        <p:spPr/>
        <p:txBody>
          <a:bodyPr/>
          <a:lstStyle/>
          <a:p>
            <a:endParaRPr lang="en-GB"/>
          </a:p>
        </p:txBody>
      </p:sp>
      <p:sp>
        <p:nvSpPr>
          <p:cNvPr id="8" name="TextBox 7"/>
          <p:cNvSpPr txBox="1"/>
          <p:nvPr userDrawn="1"/>
        </p:nvSpPr>
        <p:spPr>
          <a:xfrm>
            <a:off x="839788" y="6352143"/>
            <a:ext cx="673326" cy="369332"/>
          </a:xfrm>
          <a:prstGeom prst="rect">
            <a:avLst/>
          </a:prstGeom>
          <a:noFill/>
        </p:spPr>
        <p:txBody>
          <a:bodyPr wrap="square" lIns="0" rtlCol="0" anchor="ctr">
            <a:noAutofit/>
          </a:bodyPr>
          <a:lstStyle/>
          <a:p>
            <a:fld id="{CFFAC0B7-110F-4295-BA28-2418E7E1FD08}" type="slidenum">
              <a:rPr lang="en-GB" sz="1000" smtClean="0"/>
              <a:t>‹#›</a:t>
            </a:fld>
            <a:endParaRPr lang="en-GB" sz="1000" dirty="0"/>
          </a:p>
        </p:txBody>
      </p:sp>
    </p:spTree>
    <p:extLst>
      <p:ext uri="{BB962C8B-B14F-4D97-AF65-F5344CB8AC3E}">
        <p14:creationId xmlns:p14="http://schemas.microsoft.com/office/powerpoint/2010/main" val="24379650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2/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838200" y="1196975"/>
            <a:ext cx="6518276" cy="49799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7500938" y="1196975"/>
            <a:ext cx="3852862" cy="49799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11"/>
          </p:nvPr>
        </p:nvSpPr>
        <p:spPr/>
        <p:txBody>
          <a:bodyPr/>
          <a:lstStyle/>
          <a:p>
            <a:endParaRPr lang="en-GB"/>
          </a:p>
        </p:txBody>
      </p:sp>
      <p:sp>
        <p:nvSpPr>
          <p:cNvPr id="7" name="TextBox 6"/>
          <p:cNvSpPr txBox="1"/>
          <p:nvPr userDrawn="1"/>
        </p:nvSpPr>
        <p:spPr>
          <a:xfrm>
            <a:off x="839788" y="6352143"/>
            <a:ext cx="673326" cy="369332"/>
          </a:xfrm>
          <a:prstGeom prst="rect">
            <a:avLst/>
          </a:prstGeom>
          <a:noFill/>
        </p:spPr>
        <p:txBody>
          <a:bodyPr wrap="square" lIns="0" rtlCol="0" anchor="ctr">
            <a:noAutofit/>
          </a:bodyPr>
          <a:lstStyle/>
          <a:p>
            <a:fld id="{CFFAC0B7-110F-4295-BA28-2418E7E1FD08}" type="slidenum">
              <a:rPr lang="en-GB" sz="1000" smtClean="0"/>
              <a:t>‹#›</a:t>
            </a:fld>
            <a:endParaRPr lang="en-GB" sz="1000" dirty="0"/>
          </a:p>
        </p:txBody>
      </p:sp>
    </p:spTree>
    <p:extLst>
      <p:ext uri="{BB962C8B-B14F-4D97-AF65-F5344CB8AC3E}">
        <p14:creationId xmlns:p14="http://schemas.microsoft.com/office/powerpoint/2010/main" val="31730701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4" name="Footer Placeholder 3"/>
          <p:cNvSpPr>
            <a:spLocks noGrp="1"/>
          </p:cNvSpPr>
          <p:nvPr>
            <p:ph type="ftr" sz="quarter" idx="11"/>
          </p:nvPr>
        </p:nvSpPr>
        <p:spPr/>
        <p:txBody>
          <a:bodyPr/>
          <a:lstStyle/>
          <a:p>
            <a:endParaRPr lang="en-GB"/>
          </a:p>
        </p:txBody>
      </p:sp>
      <p:sp>
        <p:nvSpPr>
          <p:cNvPr id="6" name="TextBox 5"/>
          <p:cNvSpPr txBox="1"/>
          <p:nvPr userDrawn="1"/>
        </p:nvSpPr>
        <p:spPr>
          <a:xfrm>
            <a:off x="839788" y="6352143"/>
            <a:ext cx="673326" cy="369332"/>
          </a:xfrm>
          <a:prstGeom prst="rect">
            <a:avLst/>
          </a:prstGeom>
          <a:noFill/>
        </p:spPr>
        <p:txBody>
          <a:bodyPr wrap="square" lIns="0" rtlCol="0" anchor="ctr">
            <a:noAutofit/>
          </a:bodyPr>
          <a:lstStyle/>
          <a:p>
            <a:fld id="{CFFAC0B7-110F-4295-BA28-2418E7E1FD08}" type="slidenum">
              <a:rPr lang="en-GB" sz="1000" smtClean="0"/>
              <a:t>‹#›</a:t>
            </a:fld>
            <a:endParaRPr lang="en-GB" sz="1000" dirty="0"/>
          </a:p>
        </p:txBody>
      </p:sp>
    </p:spTree>
    <p:extLst>
      <p:ext uri="{BB962C8B-B14F-4D97-AF65-F5344CB8AC3E}">
        <p14:creationId xmlns:p14="http://schemas.microsoft.com/office/powerpoint/2010/main" val="10807303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lang="en-GB"/>
          </a:p>
        </p:txBody>
      </p:sp>
      <p:sp>
        <p:nvSpPr>
          <p:cNvPr id="5" name="TextBox 4"/>
          <p:cNvSpPr txBox="1"/>
          <p:nvPr userDrawn="1"/>
        </p:nvSpPr>
        <p:spPr>
          <a:xfrm>
            <a:off x="839788" y="6352143"/>
            <a:ext cx="673326" cy="369332"/>
          </a:xfrm>
          <a:prstGeom prst="rect">
            <a:avLst/>
          </a:prstGeom>
          <a:noFill/>
        </p:spPr>
        <p:txBody>
          <a:bodyPr wrap="square" lIns="0" rtlCol="0" anchor="ctr">
            <a:noAutofit/>
          </a:bodyPr>
          <a:lstStyle/>
          <a:p>
            <a:fld id="{CFFAC0B7-110F-4295-BA28-2418E7E1FD08}" type="slidenum">
              <a:rPr lang="en-GB" sz="1000" smtClean="0"/>
              <a:t>‹#›</a:t>
            </a:fld>
            <a:endParaRPr lang="en-GB" sz="1000" dirty="0"/>
          </a:p>
        </p:txBody>
      </p:sp>
    </p:spTree>
    <p:extLst>
      <p:ext uri="{BB962C8B-B14F-4D97-AF65-F5344CB8AC3E}">
        <p14:creationId xmlns:p14="http://schemas.microsoft.com/office/powerpoint/2010/main" val="35982651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extBox 6">
            <a:hlinkClick r:id="rId3"/>
          </p:cNvPr>
          <p:cNvSpPr txBox="1"/>
          <p:nvPr userDrawn="1"/>
        </p:nvSpPr>
        <p:spPr>
          <a:xfrm>
            <a:off x="839788" y="3777197"/>
            <a:ext cx="2116028" cy="276999"/>
          </a:xfrm>
          <a:prstGeom prst="rect">
            <a:avLst/>
          </a:prstGeom>
          <a:noFill/>
        </p:spPr>
        <p:txBody>
          <a:bodyPr wrap="none" lIns="0" tIns="0" rIns="0" bIns="0" rtlCol="0">
            <a:spAutoFit/>
          </a:bodyPr>
          <a:lstStyle/>
          <a:p>
            <a:r>
              <a:rPr lang="en-US" dirty="0" smtClean="0">
                <a:solidFill>
                  <a:srgbClr val="011C40"/>
                </a:solidFill>
                <a:latin typeface="+mn-lt"/>
              </a:rPr>
              <a:t>www.commetric.com</a:t>
            </a:r>
            <a:endParaRPr lang="en-GB" dirty="0">
              <a:solidFill>
                <a:srgbClr val="011C40"/>
              </a:solidFill>
              <a:latin typeface="+mn-lt"/>
            </a:endParaRPr>
          </a:p>
        </p:txBody>
      </p:sp>
    </p:spTree>
    <p:extLst>
      <p:ext uri="{BB962C8B-B14F-4D97-AF65-F5344CB8AC3E}">
        <p14:creationId xmlns:p14="http://schemas.microsoft.com/office/powerpoint/2010/main" val="42670933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acts">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4" name="Picture 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625340" y="4648504"/>
            <a:ext cx="1602468" cy="1602468"/>
          </a:xfrm>
          <a:prstGeom prst="rect">
            <a:avLst/>
          </a:prstGeom>
        </p:spPr>
      </p:pic>
      <p:pic>
        <p:nvPicPr>
          <p:cNvPr id="6" name="Picture 5"/>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7500938" y="2889000"/>
            <a:ext cx="540000" cy="540000"/>
          </a:xfrm>
          <a:prstGeom prst="rect">
            <a:avLst/>
          </a:prstGeom>
        </p:spPr>
      </p:pic>
      <p:pic>
        <p:nvPicPr>
          <p:cNvPr id="7" name="Picture 6"/>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7500938" y="2120387"/>
            <a:ext cx="540000" cy="540000"/>
          </a:xfrm>
          <a:prstGeom prst="rect">
            <a:avLst/>
          </a:prstGeom>
        </p:spPr>
      </p:pic>
      <p:sp>
        <p:nvSpPr>
          <p:cNvPr id="9" name="Text Placeholder 8"/>
          <p:cNvSpPr>
            <a:spLocks noGrp="1"/>
          </p:cNvSpPr>
          <p:nvPr>
            <p:ph type="body" sz="quarter" idx="10"/>
          </p:nvPr>
        </p:nvSpPr>
        <p:spPr>
          <a:xfrm>
            <a:off x="8220075" y="2120900"/>
            <a:ext cx="3132138" cy="539750"/>
          </a:xfrm>
        </p:spPr>
        <p:txBody>
          <a:bodyPr anchor="ctr"/>
          <a:lstStyle>
            <a:lvl1pPr>
              <a:defRPr sz="1400"/>
            </a:lvl1pPr>
          </a:lstStyle>
          <a:p>
            <a:pPr lvl="0"/>
            <a:r>
              <a:rPr lang="en-US" smtClean="0"/>
              <a:t>Edit Master text styles</a:t>
            </a:r>
          </a:p>
        </p:txBody>
      </p:sp>
      <p:sp>
        <p:nvSpPr>
          <p:cNvPr id="10" name="Text Placeholder 8"/>
          <p:cNvSpPr>
            <a:spLocks noGrp="1"/>
          </p:cNvSpPr>
          <p:nvPr>
            <p:ph type="body" sz="quarter" idx="11"/>
          </p:nvPr>
        </p:nvSpPr>
        <p:spPr>
          <a:xfrm>
            <a:off x="8220075" y="2889000"/>
            <a:ext cx="3132138" cy="539750"/>
          </a:xfrm>
        </p:spPr>
        <p:txBody>
          <a:bodyPr anchor="ctr"/>
          <a:lstStyle>
            <a:lvl1pPr>
              <a:defRPr sz="1400"/>
            </a:lvl1pPr>
          </a:lstStyle>
          <a:p>
            <a:pPr lvl="0"/>
            <a:r>
              <a:rPr lang="en-US" smtClean="0"/>
              <a:t>Edit Master text styles</a:t>
            </a:r>
          </a:p>
        </p:txBody>
      </p:sp>
      <p:sp>
        <p:nvSpPr>
          <p:cNvPr id="11" name="Text Placeholder 8"/>
          <p:cNvSpPr>
            <a:spLocks noGrp="1"/>
          </p:cNvSpPr>
          <p:nvPr>
            <p:ph type="body" sz="quarter" idx="12"/>
          </p:nvPr>
        </p:nvSpPr>
        <p:spPr>
          <a:xfrm>
            <a:off x="7500938" y="1196975"/>
            <a:ext cx="3851274" cy="539750"/>
          </a:xfrm>
        </p:spPr>
        <p:txBody>
          <a:bodyPr anchor="t"/>
          <a:lstStyle>
            <a:lvl1pPr>
              <a:defRPr sz="2000" b="1"/>
            </a:lvl1pPr>
          </a:lstStyle>
          <a:p>
            <a:pPr lvl="0"/>
            <a:r>
              <a:rPr lang="en-US" smtClean="0"/>
              <a:t>Edit Master text styles</a:t>
            </a:r>
          </a:p>
        </p:txBody>
      </p:sp>
    </p:spTree>
    <p:extLst>
      <p:ext uri="{BB962C8B-B14F-4D97-AF65-F5344CB8AC3E}">
        <p14:creationId xmlns:p14="http://schemas.microsoft.com/office/powerpoint/2010/main" val="28584204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6"/>
            <a:ext cx="10515600" cy="608268"/>
          </a:xfrm>
          <a:prstGeom prst="rect">
            <a:avLst/>
          </a:prstGeom>
        </p:spPr>
        <p:txBody>
          <a:bodyPr vert="horz" lIns="0" tIns="45720" rIns="0" bIns="45720" rtlCol="0" anchor="ctr">
            <a:noAutofit/>
          </a:bodyPr>
          <a:lstStyle/>
          <a:p>
            <a:r>
              <a:rPr lang="en-US" smtClean="0"/>
              <a:t>Click to edit Master title style</a:t>
            </a:r>
            <a:endParaRPr lang="en-GB" dirty="0"/>
          </a:p>
        </p:txBody>
      </p:sp>
      <p:sp>
        <p:nvSpPr>
          <p:cNvPr id="3" name="Text Placeholder 2"/>
          <p:cNvSpPr>
            <a:spLocks noGrp="1"/>
          </p:cNvSpPr>
          <p:nvPr>
            <p:ph type="body" idx="1"/>
          </p:nvPr>
        </p:nvSpPr>
        <p:spPr>
          <a:xfrm>
            <a:off x="838200" y="1209368"/>
            <a:ext cx="10515600" cy="4967595"/>
          </a:xfrm>
          <a:prstGeom prst="rect">
            <a:avLst/>
          </a:prstGeom>
        </p:spPr>
        <p:txBody>
          <a:bodyPr vert="horz" lIns="0" tIns="45720" rIns="91440" bIns="45720" rtlCol="0">
            <a:noAutofit/>
          </a:body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GB"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000">
                <a:solidFill>
                  <a:schemeClr val="tx1">
                    <a:tint val="75000"/>
                  </a:schemeClr>
                </a:solidFill>
              </a:defRPr>
            </a:lvl1pPr>
          </a:lstStyle>
          <a:p>
            <a:endParaRPr lang="en-GB" dirty="0"/>
          </a:p>
        </p:txBody>
      </p:sp>
      <p:sp>
        <p:nvSpPr>
          <p:cNvPr id="10" name="Rounded Rectangle 9"/>
          <p:cNvSpPr/>
          <p:nvPr userDrawn="1"/>
        </p:nvSpPr>
        <p:spPr>
          <a:xfrm>
            <a:off x="-412955" y="365126"/>
            <a:ext cx="1002890" cy="608268"/>
          </a:xfrm>
          <a:prstGeom prst="roundRect">
            <a:avLst>
              <a:gd name="adj" fmla="val 50000"/>
            </a:avLst>
          </a:prstGeom>
          <a:gradFill flip="none" rotWithShape="1">
            <a:gsLst>
              <a:gs pos="0">
                <a:schemeClr val="accent2"/>
              </a:gs>
              <a:gs pos="100000">
                <a:srgbClr val="00FF87"/>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6" name="Picture 5"/>
          <p:cNvPicPr>
            <a:picLocks noChangeAspect="1"/>
          </p:cNvPicPr>
          <p:nvPr userDrawn="1"/>
        </p:nvPicPr>
        <p:blipFill>
          <a:blip r:embed="rId16"/>
          <a:stretch>
            <a:fillRect/>
          </a:stretch>
        </p:blipFill>
        <p:spPr>
          <a:xfrm>
            <a:off x="8442826" y="6292002"/>
            <a:ext cx="3078747" cy="493819"/>
          </a:xfrm>
          <a:prstGeom prst="rect">
            <a:avLst/>
          </a:prstGeom>
        </p:spPr>
      </p:pic>
    </p:spTree>
    <p:extLst>
      <p:ext uri="{BB962C8B-B14F-4D97-AF65-F5344CB8AC3E}">
        <p14:creationId xmlns:p14="http://schemas.microsoft.com/office/powerpoint/2010/main" val="80986149"/>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60" r:id="rId3"/>
    <p:sldLayoutId id="2147483661" r:id="rId4"/>
    <p:sldLayoutId id="2147483662" r:id="rId5"/>
    <p:sldLayoutId id="2147483663" r:id="rId6"/>
    <p:sldLayoutId id="2147483667" r:id="rId7"/>
    <p:sldLayoutId id="2147483650" r:id="rId8"/>
    <p:sldLayoutId id="2147483652" r:id="rId9"/>
    <p:sldLayoutId id="2147483664" r:id="rId10"/>
    <p:sldLayoutId id="2147483654" r:id="rId11"/>
    <p:sldLayoutId id="2147483655" r:id="rId12"/>
    <p:sldLayoutId id="2147483665" r:id="rId13"/>
    <p:sldLayoutId id="2147483666" r:id="rId14"/>
  </p:sldLayoutIdLst>
  <p:hf hdr="0" ftr="0" dt="0"/>
  <p:txStyles>
    <p:titleStyle>
      <a:lvl1pPr algn="l" defTabSz="914400" rtl="0" eaLnBrk="1" latinLnBrk="0" hangingPunct="1">
        <a:lnSpc>
          <a:spcPct val="90000"/>
        </a:lnSpc>
        <a:spcBef>
          <a:spcPct val="0"/>
        </a:spcBef>
        <a:buNone/>
        <a:defRPr sz="2400" b="1" kern="1200">
          <a:solidFill>
            <a:schemeClr val="tx1"/>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3906" userDrawn="1">
          <p15:clr>
            <a:srgbClr val="F26B43"/>
          </p15:clr>
        </p15:guide>
        <p15:guide id="2" pos="7151" userDrawn="1">
          <p15:clr>
            <a:srgbClr val="F26B43"/>
          </p15:clr>
        </p15:guide>
        <p15:guide id="3" pos="529" userDrawn="1">
          <p15:clr>
            <a:srgbClr val="F26B43"/>
          </p15:clr>
        </p15:guide>
        <p15:guide id="4" orient="horz" pos="754" userDrawn="1">
          <p15:clr>
            <a:srgbClr val="F26B43"/>
          </p15:clr>
        </p15:guide>
        <p15:guide id="5" pos="4634" userDrawn="1">
          <p15:clr>
            <a:srgbClr val="F26B43"/>
          </p15:clr>
        </p15:guide>
        <p15:guide id="6" pos="4725"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 Target="slide5.xml"/><Relationship Id="rId7" Type="http://schemas.openxmlformats.org/officeDocument/2006/relationships/slide" Target="slide20.xml"/><Relationship Id="rId2" Type="http://schemas.openxmlformats.org/officeDocument/2006/relationships/slide" Target="slide4.xml"/><Relationship Id="rId1" Type="http://schemas.openxmlformats.org/officeDocument/2006/relationships/slideLayout" Target="../slideLayouts/slideLayout7.xml"/><Relationship Id="rId6" Type="http://schemas.openxmlformats.org/officeDocument/2006/relationships/slide" Target="slide16.xml"/><Relationship Id="rId5" Type="http://schemas.openxmlformats.org/officeDocument/2006/relationships/slide" Target="slide10.xml"/><Relationship Id="rId4" Type="http://schemas.openxmlformats.org/officeDocument/2006/relationships/slide" Target="slide9.xml"/></Relationships>
</file>

<file path=ppt/slides/_rels/slide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jpe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4.xml.rels><?xml version="1.0" encoding="UTF-8" standalone="yes"?>
<Relationships xmlns="http://schemas.openxmlformats.org/package/2006/relationships"><Relationship Id="rId3" Type="http://schemas.openxmlformats.org/officeDocument/2006/relationships/hyperlink" Target="https://www.youtube.com/watch?v=MDLdb36zO2Q" TargetMode="External"/><Relationship Id="rId2" Type="http://schemas.openxmlformats.org/officeDocument/2006/relationships/image" Target="../media/image20.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png"/><Relationship Id="rId1" Type="http://schemas.openxmlformats.org/officeDocument/2006/relationships/slideLayout" Target="../slideLayouts/slideLayout9.xml"/><Relationship Id="rId5" Type="http://schemas.openxmlformats.org/officeDocument/2006/relationships/image" Target="../media/image27.jpeg"/><Relationship Id="rId4" Type="http://schemas.openxmlformats.org/officeDocument/2006/relationships/image" Target="../media/image2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9.xml"/><Relationship Id="rId4" Type="http://schemas.openxmlformats.org/officeDocument/2006/relationships/image" Target="../media/image36.png"/></Relationships>
</file>

<file path=ppt/slides/_rels/slide1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9.xml"/><Relationship Id="rId4" Type="http://schemas.openxmlformats.org/officeDocument/2006/relationships/image" Target="../media/image39.png"/></Relationships>
</file>

<file path=ppt/slides/_rels/slide1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9.xml"/><Relationship Id="rId4" Type="http://schemas.openxmlformats.org/officeDocument/2006/relationships/image" Target="../media/image45.png"/></Relationships>
</file>

<file path=ppt/slides/_rels/slide1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9.xml"/><Relationship Id="rId5" Type="http://schemas.openxmlformats.org/officeDocument/2006/relationships/image" Target="../media/image53.png"/><Relationship Id="rId4" Type="http://schemas.openxmlformats.org/officeDocument/2006/relationships/image" Target="../media/image5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Cogent basics</a:t>
            </a:r>
            <a:endParaRPr lang="en-GB" dirty="0"/>
          </a:p>
        </p:txBody>
      </p:sp>
      <p:sp>
        <p:nvSpPr>
          <p:cNvPr id="3" name="Text Placeholder 2"/>
          <p:cNvSpPr>
            <a:spLocks noGrp="1"/>
          </p:cNvSpPr>
          <p:nvPr>
            <p:ph type="subTitle" idx="1"/>
          </p:nvPr>
        </p:nvSpPr>
        <p:spPr>
          <a:xfrm>
            <a:off x="839788" y="2584450"/>
            <a:ext cx="5561012" cy="546100"/>
          </a:xfrm>
        </p:spPr>
        <p:txBody>
          <a:bodyPr/>
          <a:lstStyle/>
          <a:p>
            <a:r>
              <a:rPr lang="en-US" dirty="0" smtClean="0"/>
              <a:t>with </a:t>
            </a:r>
            <a:r>
              <a:rPr lang="en-US" dirty="0" err="1" smtClean="0"/>
              <a:t>Radi</a:t>
            </a:r>
            <a:r>
              <a:rPr lang="en-US" dirty="0" smtClean="0"/>
              <a:t> </a:t>
            </a:r>
            <a:r>
              <a:rPr lang="en-US" dirty="0" smtClean="0">
                <a:sym typeface="Wingdings" panose="05000000000000000000" pitchFamily="2" charset="2"/>
              </a:rPr>
              <a:t></a:t>
            </a:r>
            <a:endParaRPr lang="en-GB" dirty="0"/>
          </a:p>
        </p:txBody>
      </p:sp>
    </p:spTree>
    <p:extLst>
      <p:ext uri="{BB962C8B-B14F-4D97-AF65-F5344CB8AC3E}">
        <p14:creationId xmlns:p14="http://schemas.microsoft.com/office/powerpoint/2010/main" val="209126781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9788" y="1565167"/>
            <a:ext cx="4992008" cy="572590"/>
          </a:xfrm>
        </p:spPr>
        <p:txBody>
          <a:bodyPr/>
          <a:lstStyle/>
          <a:p>
            <a:r>
              <a:rPr lang="en-US" dirty="0" smtClean="0"/>
              <a:t>Table of contents</a:t>
            </a:r>
            <a:endParaRPr lang="en-US" dirty="0"/>
          </a:p>
        </p:txBody>
      </p:sp>
      <p:sp>
        <p:nvSpPr>
          <p:cNvPr id="3" name="Text Placeholder 2"/>
          <p:cNvSpPr>
            <a:spLocks noGrp="1"/>
          </p:cNvSpPr>
          <p:nvPr>
            <p:ph type="body" idx="1"/>
          </p:nvPr>
        </p:nvSpPr>
        <p:spPr>
          <a:xfrm>
            <a:off x="839788" y="2137757"/>
            <a:ext cx="10623464" cy="4630188"/>
          </a:xfrm>
        </p:spPr>
        <p:txBody>
          <a:bodyPr/>
          <a:lstStyle/>
          <a:p>
            <a:r>
              <a:rPr lang="en-US" dirty="0" smtClean="0">
                <a:hlinkClick r:id="rId2" action="ppaction://hlinksldjump"/>
              </a:rPr>
              <a:t>What is Cogent?</a:t>
            </a:r>
            <a:r>
              <a:rPr lang="en-US" dirty="0" smtClean="0"/>
              <a:t> </a:t>
            </a:r>
            <a:r>
              <a:rPr lang="en-US" sz="1400" dirty="0" smtClean="0"/>
              <a:t>Slide 4</a:t>
            </a:r>
          </a:p>
          <a:p>
            <a:r>
              <a:rPr lang="en-US" dirty="0" smtClean="0">
                <a:hlinkClick r:id="rId3" action="ppaction://hlinksldjump"/>
              </a:rPr>
              <a:t>Signing in</a:t>
            </a:r>
            <a:r>
              <a:rPr lang="en-US" dirty="0" smtClean="0"/>
              <a:t> </a:t>
            </a:r>
            <a:r>
              <a:rPr lang="en-US" sz="1400" dirty="0" smtClean="0"/>
              <a:t>Slide 5</a:t>
            </a:r>
            <a:endParaRPr lang="en-US" sz="1400" dirty="0"/>
          </a:p>
          <a:p>
            <a:r>
              <a:rPr lang="en-US" dirty="0" smtClean="0">
                <a:hlinkClick r:id="rId4" action="ppaction://hlinksldjump"/>
              </a:rPr>
              <a:t>Media </a:t>
            </a:r>
            <a:r>
              <a:rPr lang="en-US" dirty="0">
                <a:hlinkClick r:id="rId4" action="ppaction://hlinksldjump"/>
              </a:rPr>
              <a:t>Analysis </a:t>
            </a:r>
            <a:r>
              <a:rPr lang="en-US" dirty="0" smtClean="0">
                <a:hlinkClick r:id="rId4" action="ppaction://hlinksldjump"/>
              </a:rPr>
              <a:t>View</a:t>
            </a:r>
            <a:r>
              <a:rPr lang="en-US" dirty="0" smtClean="0"/>
              <a:t> </a:t>
            </a:r>
            <a:r>
              <a:rPr lang="en-US" sz="1400" dirty="0" smtClean="0"/>
              <a:t>Slide 9 </a:t>
            </a:r>
            <a:endParaRPr lang="en-US" dirty="0"/>
          </a:p>
          <a:p>
            <a:r>
              <a:rPr lang="en-US" dirty="0" smtClean="0">
                <a:hlinkClick r:id="rId5" action="ppaction://hlinksldjump"/>
              </a:rPr>
              <a:t>Left-hand side</a:t>
            </a:r>
            <a:r>
              <a:rPr lang="en-US" dirty="0" smtClean="0"/>
              <a:t> </a:t>
            </a:r>
            <a:r>
              <a:rPr lang="en-US" sz="1400" dirty="0" smtClean="0"/>
              <a:t>Slide 10 - 15</a:t>
            </a:r>
            <a:endParaRPr lang="en-US" dirty="0" smtClean="0"/>
          </a:p>
          <a:p>
            <a:r>
              <a:rPr lang="en-US" dirty="0" err="1" smtClean="0">
                <a:hlinkClick r:id="rId6" action="ppaction://hlinksldjump"/>
              </a:rPr>
              <a:t>Centrefold</a:t>
            </a:r>
            <a:r>
              <a:rPr lang="en-US" dirty="0" smtClean="0"/>
              <a:t> </a:t>
            </a:r>
            <a:r>
              <a:rPr lang="en-US" sz="1400" dirty="0" smtClean="0"/>
              <a:t>Slide 16 - 19</a:t>
            </a:r>
            <a:endParaRPr lang="en-US" sz="1400" dirty="0"/>
          </a:p>
          <a:p>
            <a:r>
              <a:rPr lang="en-US" dirty="0" smtClean="0">
                <a:hlinkClick r:id="rId7" action="ppaction://hlinksldjump"/>
              </a:rPr>
              <a:t>Right-hand side</a:t>
            </a:r>
            <a:r>
              <a:rPr lang="en-US" dirty="0" smtClean="0"/>
              <a:t> </a:t>
            </a:r>
            <a:r>
              <a:rPr lang="en-US" sz="1400" dirty="0" smtClean="0"/>
              <a:t>Slide 20 - 26</a:t>
            </a:r>
            <a:endParaRPr lang="en-US" sz="1400" dirty="0"/>
          </a:p>
        </p:txBody>
      </p:sp>
    </p:spTree>
    <p:extLst>
      <p:ext uri="{BB962C8B-B14F-4D97-AF65-F5344CB8AC3E}">
        <p14:creationId xmlns:p14="http://schemas.microsoft.com/office/powerpoint/2010/main" val="35721499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0" name="Picture 6" descr="Software Developer - Job Description"/>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20933" t="-1" r="46519" b="36397"/>
          <a:stretch/>
        </p:blipFill>
        <p:spPr bwMode="auto">
          <a:xfrm>
            <a:off x="1505663" y="2313939"/>
            <a:ext cx="1167355" cy="91245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1234227" y="3971355"/>
            <a:ext cx="1929088" cy="794730"/>
          </a:xfrm>
          <a:prstGeom prst="rect">
            <a:avLst/>
          </a:prstGeom>
        </p:spPr>
      </p:pic>
      <p:sp>
        <p:nvSpPr>
          <p:cNvPr id="2" name="Title 1"/>
          <p:cNvSpPr>
            <a:spLocks noGrp="1"/>
          </p:cNvSpPr>
          <p:nvPr>
            <p:ph type="title"/>
          </p:nvPr>
        </p:nvSpPr>
        <p:spPr>
          <a:xfrm>
            <a:off x="839788" y="1809679"/>
            <a:ext cx="3260678" cy="504260"/>
          </a:xfrm>
        </p:spPr>
        <p:txBody>
          <a:bodyPr/>
          <a:lstStyle/>
          <a:p>
            <a:r>
              <a:rPr lang="en-US" dirty="0" smtClean="0"/>
              <a:t>What is Cogent?</a:t>
            </a:r>
            <a:endParaRPr lang="en-US" dirty="0"/>
          </a:p>
        </p:txBody>
      </p:sp>
      <p:pic>
        <p:nvPicPr>
          <p:cNvPr id="1028" name="Picture 4" descr="Microsoft Excel - Wikipedia"/>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39788" y="2731783"/>
            <a:ext cx="883578" cy="82172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Thinking Emoji Meme | The Table Wiki | Fandom"/>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482585" y="2594669"/>
            <a:ext cx="988776" cy="988776"/>
          </a:xfrm>
          <a:prstGeom prst="rect">
            <a:avLst/>
          </a:prstGeom>
          <a:noFill/>
          <a:extLst>
            <a:ext uri="{909E8E84-426E-40DD-AFC4-6F175D3DCCD1}">
              <a14:hiddenFill xmlns:a14="http://schemas.microsoft.com/office/drawing/2010/main">
                <a:solidFill>
                  <a:srgbClr val="FFFFFF"/>
                </a:solidFill>
              </a14:hiddenFill>
            </a:ext>
          </a:extLst>
        </p:spPr>
      </p:pic>
      <p:sp>
        <p:nvSpPr>
          <p:cNvPr id="6" name="Equal 5"/>
          <p:cNvSpPr/>
          <p:nvPr/>
        </p:nvSpPr>
        <p:spPr>
          <a:xfrm>
            <a:off x="1914958" y="3299632"/>
            <a:ext cx="567627" cy="567627"/>
          </a:xfrm>
          <a:prstGeom prst="mathEqua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a:solidFill>
                <a:schemeClr val="tx1"/>
              </a:solidFill>
            </a:endParaRPr>
          </a:p>
        </p:txBody>
      </p:sp>
    </p:spTree>
    <p:extLst>
      <p:ext uri="{BB962C8B-B14F-4D97-AF65-F5344CB8AC3E}">
        <p14:creationId xmlns:p14="http://schemas.microsoft.com/office/powerpoint/2010/main" val="23017887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ounded Rectangle 7"/>
          <p:cNvSpPr/>
          <p:nvPr/>
        </p:nvSpPr>
        <p:spPr>
          <a:xfrm>
            <a:off x="7464739" y="3581145"/>
            <a:ext cx="3965260" cy="2359735"/>
          </a:xfrm>
          <a:prstGeom prst="roundRect">
            <a:avLst/>
          </a:prstGeom>
          <a:solidFill>
            <a:srgbClr val="00FF87">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a:p>
        </p:txBody>
      </p:sp>
      <p:sp>
        <p:nvSpPr>
          <p:cNvPr id="4" name="Title 3"/>
          <p:cNvSpPr>
            <a:spLocks noGrp="1"/>
          </p:cNvSpPr>
          <p:nvPr>
            <p:ph type="title"/>
          </p:nvPr>
        </p:nvSpPr>
        <p:spPr/>
        <p:txBody>
          <a:bodyPr/>
          <a:lstStyle/>
          <a:p>
            <a:r>
              <a:rPr lang="en-US" dirty="0" smtClean="0"/>
              <a:t>No, really, what is it?</a:t>
            </a:r>
            <a:endParaRPr lang="en-GB" dirty="0"/>
          </a:p>
        </p:txBody>
      </p:sp>
      <p:sp>
        <p:nvSpPr>
          <p:cNvPr id="5" name="Content Placeholder 4"/>
          <p:cNvSpPr>
            <a:spLocks noGrp="1"/>
          </p:cNvSpPr>
          <p:nvPr>
            <p:ph sz="half" idx="1"/>
          </p:nvPr>
        </p:nvSpPr>
        <p:spPr>
          <a:xfrm>
            <a:off x="838200" y="1196974"/>
            <a:ext cx="5600700" cy="4994275"/>
          </a:xfrm>
        </p:spPr>
        <p:txBody>
          <a:bodyPr/>
          <a:lstStyle/>
          <a:p>
            <a:pPr>
              <a:lnSpc>
                <a:spcPct val="130000"/>
              </a:lnSpc>
              <a:spcBef>
                <a:spcPts val="0"/>
              </a:spcBef>
              <a:spcAft>
                <a:spcPts val="1200"/>
              </a:spcAft>
            </a:pPr>
            <a:r>
              <a:rPr lang="en-US" b="1" dirty="0"/>
              <a:t>Cogent</a:t>
            </a:r>
            <a:r>
              <a:rPr lang="en-US" dirty="0"/>
              <a:t> is </a:t>
            </a:r>
            <a:r>
              <a:rPr lang="en-US" dirty="0" smtClean="0"/>
              <a:t>the </a:t>
            </a:r>
            <a:r>
              <a:rPr lang="en-US" b="1" dirty="0" smtClean="0"/>
              <a:t>platform </a:t>
            </a:r>
            <a:r>
              <a:rPr lang="en-US" dirty="0"/>
              <a:t>we use to </a:t>
            </a:r>
            <a:r>
              <a:rPr lang="en-US" b="1" dirty="0" err="1"/>
              <a:t>analyse</a:t>
            </a:r>
            <a:r>
              <a:rPr lang="en-US" dirty="0"/>
              <a:t> the media conversation (i.e. </a:t>
            </a:r>
            <a:r>
              <a:rPr lang="en-US" dirty="0" smtClean="0"/>
              <a:t>to observe &amp; note how </a:t>
            </a:r>
            <a:r>
              <a:rPr lang="en-US" dirty="0"/>
              <a:t>the client is being represented in the media discussion) </a:t>
            </a:r>
            <a:r>
              <a:rPr lang="en-US" dirty="0" smtClean="0"/>
              <a:t>and to </a:t>
            </a:r>
            <a:r>
              <a:rPr lang="en-US" b="1" dirty="0"/>
              <a:t>monitor</a:t>
            </a:r>
            <a:r>
              <a:rPr lang="en-US" dirty="0"/>
              <a:t> the media conversation (i.e. </a:t>
            </a:r>
            <a:r>
              <a:rPr lang="en-US" dirty="0" smtClean="0"/>
              <a:t>to constantly keep track of the ever-changing landscape </a:t>
            </a:r>
            <a:r>
              <a:rPr lang="en-GB" dirty="0" smtClean="0"/>
              <a:t>and to</a:t>
            </a:r>
            <a:r>
              <a:rPr lang="en-US" dirty="0" smtClean="0"/>
              <a:t> </a:t>
            </a:r>
            <a:r>
              <a:rPr lang="en-US" dirty="0" err="1"/>
              <a:t>summarise</a:t>
            </a:r>
            <a:r>
              <a:rPr lang="en-US" dirty="0"/>
              <a:t> </a:t>
            </a:r>
            <a:r>
              <a:rPr lang="en-US" dirty="0" smtClean="0"/>
              <a:t>the articles </a:t>
            </a:r>
            <a:r>
              <a:rPr lang="en-US" dirty="0"/>
              <a:t>that are mentioning the client or any topics of interest).</a:t>
            </a:r>
          </a:p>
          <a:p>
            <a:pPr>
              <a:lnSpc>
                <a:spcPct val="130000"/>
              </a:lnSpc>
              <a:spcBef>
                <a:spcPts val="0"/>
              </a:spcBef>
              <a:spcAft>
                <a:spcPts val="1200"/>
              </a:spcAft>
            </a:pPr>
            <a:r>
              <a:rPr lang="en-US" dirty="0" smtClean="0"/>
              <a:t>Cogent </a:t>
            </a:r>
            <a:r>
              <a:rPr lang="en-US" b="1" dirty="0" smtClean="0"/>
              <a:t>hosts</a:t>
            </a:r>
            <a:r>
              <a:rPr lang="en-US" dirty="0" smtClean="0"/>
              <a:t> </a:t>
            </a:r>
            <a:r>
              <a:rPr lang="en-US" dirty="0"/>
              <a:t>and </a:t>
            </a:r>
            <a:r>
              <a:rPr lang="en-US" b="1" dirty="0"/>
              <a:t>facilitates</a:t>
            </a:r>
            <a:r>
              <a:rPr lang="en-US" dirty="0"/>
              <a:t> all analysis/monitoring </a:t>
            </a:r>
            <a:r>
              <a:rPr lang="en-US" b="1" dirty="0"/>
              <a:t>projects</a:t>
            </a:r>
            <a:r>
              <a:rPr lang="en-US" dirty="0"/>
              <a:t>. Each client that has chosen </a:t>
            </a:r>
            <a:r>
              <a:rPr lang="en-US" dirty="0" err="1"/>
              <a:t>Commetric</a:t>
            </a:r>
            <a:r>
              <a:rPr lang="en-US" dirty="0"/>
              <a:t> as their service provider has one or several dedicated projects within the Cogent environment. </a:t>
            </a:r>
            <a:endParaRPr lang="bg-BG" dirty="0" smtClean="0"/>
          </a:p>
          <a:p>
            <a:pPr>
              <a:lnSpc>
                <a:spcPct val="130000"/>
              </a:lnSpc>
              <a:spcBef>
                <a:spcPts val="0"/>
              </a:spcBef>
              <a:spcAft>
                <a:spcPts val="1200"/>
              </a:spcAft>
            </a:pPr>
            <a:r>
              <a:rPr lang="en-US" dirty="0" smtClean="0"/>
              <a:t>A </a:t>
            </a:r>
            <a:r>
              <a:rPr lang="en-US" b="1" dirty="0"/>
              <a:t>project</a:t>
            </a:r>
            <a:r>
              <a:rPr lang="en-US" dirty="0"/>
              <a:t> contains the </a:t>
            </a:r>
            <a:r>
              <a:rPr lang="en-US" b="1" dirty="0"/>
              <a:t>raw data </a:t>
            </a:r>
            <a:r>
              <a:rPr lang="en-US" dirty="0"/>
              <a:t>that we need – all articles of interest to the client with their corresponding </a:t>
            </a:r>
            <a:r>
              <a:rPr lang="en-US" b="1" dirty="0"/>
              <a:t>metadata</a:t>
            </a:r>
            <a:r>
              <a:rPr lang="en-US" dirty="0"/>
              <a:t> (date, author, headline, etc.). We can </a:t>
            </a:r>
            <a:r>
              <a:rPr lang="en-US" dirty="0" err="1"/>
              <a:t>analyse</a:t>
            </a:r>
            <a:r>
              <a:rPr lang="en-US" dirty="0"/>
              <a:t> or monitor the coverage </a:t>
            </a:r>
            <a:r>
              <a:rPr lang="en-US" dirty="0" smtClean="0"/>
              <a:t>efficiently </a:t>
            </a:r>
            <a:r>
              <a:rPr lang="en-US" dirty="0"/>
              <a:t>via </a:t>
            </a:r>
            <a:r>
              <a:rPr lang="en-US" dirty="0" err="1"/>
              <a:t>Cogent’s</a:t>
            </a:r>
            <a:r>
              <a:rPr lang="en-US" dirty="0"/>
              <a:t> useful tools.</a:t>
            </a:r>
          </a:p>
        </p:txBody>
      </p:sp>
      <p:pic>
        <p:nvPicPr>
          <p:cNvPr id="2050" name="Picture 2" descr="Hannah Stern (@hannahpstern) / Twitt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64739" y="1196975"/>
            <a:ext cx="3889061" cy="216058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7526988" y="3637627"/>
            <a:ext cx="3840761" cy="2246769"/>
          </a:xfrm>
          <a:prstGeom prst="rect">
            <a:avLst/>
          </a:prstGeom>
          <a:noFill/>
        </p:spPr>
        <p:txBody>
          <a:bodyPr wrap="square" rtlCol="0">
            <a:spAutoFit/>
          </a:bodyPr>
          <a:lstStyle/>
          <a:p>
            <a:r>
              <a:rPr lang="en-GB" sz="1400" dirty="0" smtClean="0"/>
              <a:t>In season 3 of HBO’s Succession, Greg starts doing Kendal Roy’s </a:t>
            </a:r>
            <a:r>
              <a:rPr lang="en-GB" sz="1400" dirty="0" smtClean="0">
                <a:hlinkClick r:id="rId3"/>
              </a:rPr>
              <a:t>media monitoring</a:t>
            </a:r>
            <a:r>
              <a:rPr lang="en-GB" sz="1400" dirty="0" smtClean="0"/>
              <a:t>. You can tell he’s an amateur, because he browses Twitter by hand and he even says </a:t>
            </a:r>
            <a:r>
              <a:rPr lang="en-US" sz="1400" dirty="0" smtClean="0"/>
              <a:t>“the internet is big and I couldn’t read at all” Well… </a:t>
            </a:r>
            <a:r>
              <a:rPr lang="en-US" sz="1400" dirty="0"/>
              <a:t>w</a:t>
            </a:r>
            <a:r>
              <a:rPr lang="en-US" sz="1400" dirty="0" smtClean="0"/>
              <a:t>e can</a:t>
            </a:r>
            <a:r>
              <a:rPr lang="en-GB" sz="1400" dirty="0" smtClean="0"/>
              <a:t>.</a:t>
            </a:r>
          </a:p>
          <a:p>
            <a:endParaRPr lang="en-GB" sz="1400" dirty="0"/>
          </a:p>
          <a:p>
            <a:r>
              <a:rPr lang="en-US" sz="1400" dirty="0" smtClean="0"/>
              <a:t>Truth is, Cogent used to be </a:t>
            </a:r>
            <a:r>
              <a:rPr lang="en-US" sz="1400" dirty="0"/>
              <a:t>Excel. Thanks to the </a:t>
            </a:r>
            <a:r>
              <a:rPr lang="en-US" sz="1400" dirty="0" smtClean="0"/>
              <a:t>development’s </a:t>
            </a:r>
            <a:r>
              <a:rPr lang="en-US" sz="1400" dirty="0"/>
              <a:t>team incredible efforts, it transformed into the </a:t>
            </a:r>
            <a:r>
              <a:rPr lang="en-US" sz="1400" dirty="0" smtClean="0"/>
              <a:t>beast </a:t>
            </a:r>
            <a:r>
              <a:rPr lang="en-US" sz="1400" dirty="0"/>
              <a:t>it is </a:t>
            </a:r>
            <a:r>
              <a:rPr lang="en-US" sz="1400" dirty="0" smtClean="0"/>
              <a:t>today that helps us do impossible things.</a:t>
            </a:r>
            <a:endParaRPr lang="en-US" sz="1400" dirty="0"/>
          </a:p>
        </p:txBody>
      </p:sp>
    </p:spTree>
    <p:extLst>
      <p:ext uri="{BB962C8B-B14F-4D97-AF65-F5344CB8AC3E}">
        <p14:creationId xmlns:p14="http://schemas.microsoft.com/office/powerpoint/2010/main" val="149345875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1732599"/>
            <a:ext cx="4349750" cy="960120"/>
          </a:xfrm>
        </p:spPr>
        <p:txBody>
          <a:bodyPr/>
          <a:lstStyle/>
          <a:p>
            <a:r>
              <a:rPr lang="en-US" dirty="0" smtClean="0"/>
              <a:t>Signing in</a:t>
            </a:r>
            <a:endParaRPr lang="en-US" dirty="0"/>
          </a:p>
        </p:txBody>
      </p:sp>
      <p:sp>
        <p:nvSpPr>
          <p:cNvPr id="3" name="Text Placeholder 2"/>
          <p:cNvSpPr>
            <a:spLocks noGrp="1"/>
          </p:cNvSpPr>
          <p:nvPr>
            <p:ph type="body" idx="1"/>
          </p:nvPr>
        </p:nvSpPr>
        <p:spPr>
          <a:xfrm>
            <a:off x="831850" y="2305052"/>
            <a:ext cx="4349750" cy="609599"/>
          </a:xfrm>
        </p:spPr>
        <p:txBody>
          <a:bodyPr/>
          <a:lstStyle/>
          <a:p>
            <a:r>
              <a:rPr lang="en-US" dirty="0"/>
              <a:t>https://cogent.commetric.com/</a:t>
            </a:r>
          </a:p>
        </p:txBody>
      </p:sp>
      <p:sp>
        <p:nvSpPr>
          <p:cNvPr id="5" name="Rounded Rectangle 4"/>
          <p:cNvSpPr/>
          <p:nvPr/>
        </p:nvSpPr>
        <p:spPr>
          <a:xfrm>
            <a:off x="831850" y="2692719"/>
            <a:ext cx="3616325" cy="736281"/>
          </a:xfrm>
          <a:prstGeom prst="roundRect">
            <a:avLst/>
          </a:prstGeom>
          <a:solidFill>
            <a:srgbClr val="00FF87">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400" dirty="0" smtClean="0">
                <a:solidFill>
                  <a:schemeClr val="tx1"/>
                </a:solidFill>
              </a:rPr>
              <a:t>It’s a good idea to bookmark the link as you wouldn’t be able to find the platform just by googling.</a:t>
            </a:r>
            <a:endParaRPr lang="bg-BG" sz="1400" dirty="0">
              <a:solidFill>
                <a:schemeClr val="tx1"/>
              </a:solidFill>
            </a:endParaRPr>
          </a:p>
        </p:txBody>
      </p:sp>
      <p:pic>
        <p:nvPicPr>
          <p:cNvPr id="7" name="Picture 6"/>
          <p:cNvPicPr>
            <a:picLocks noChangeAspect="1"/>
          </p:cNvPicPr>
          <p:nvPr/>
        </p:nvPicPr>
        <p:blipFill>
          <a:blip r:embed="rId2"/>
          <a:stretch>
            <a:fillRect/>
          </a:stretch>
        </p:blipFill>
        <p:spPr>
          <a:xfrm>
            <a:off x="839788" y="3573902"/>
            <a:ext cx="1692525" cy="2169673"/>
          </a:xfrm>
          <a:prstGeom prst="rect">
            <a:avLst/>
          </a:prstGeom>
        </p:spPr>
      </p:pic>
      <p:sp>
        <p:nvSpPr>
          <p:cNvPr id="8" name="Rounded Rectangle 7"/>
          <p:cNvSpPr/>
          <p:nvPr/>
        </p:nvSpPr>
        <p:spPr>
          <a:xfrm>
            <a:off x="2640012" y="3573901"/>
            <a:ext cx="1617663" cy="2169673"/>
          </a:xfrm>
          <a:prstGeom prst="roundRect">
            <a:avLst/>
          </a:prstGeom>
          <a:solidFill>
            <a:srgbClr val="00FF87">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400" dirty="0" smtClean="0">
                <a:solidFill>
                  <a:schemeClr val="tx1"/>
                </a:solidFill>
              </a:rPr>
              <a:t>I would advise you to log in to Cogent and follow along.</a:t>
            </a:r>
            <a:endParaRPr lang="bg-BG" sz="1400" dirty="0">
              <a:solidFill>
                <a:schemeClr val="tx1"/>
              </a:solidFill>
            </a:endParaRPr>
          </a:p>
        </p:txBody>
      </p:sp>
    </p:spTree>
    <p:extLst>
      <p:ext uri="{BB962C8B-B14F-4D97-AF65-F5344CB8AC3E}">
        <p14:creationId xmlns:p14="http://schemas.microsoft.com/office/powerpoint/2010/main" val="13160732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ounded Rectangle 7"/>
          <p:cNvSpPr/>
          <p:nvPr/>
        </p:nvSpPr>
        <p:spPr>
          <a:xfrm>
            <a:off x="3300413" y="1196975"/>
            <a:ext cx="8047038" cy="582940"/>
          </a:xfrm>
          <a:prstGeom prst="roundRect">
            <a:avLst/>
          </a:prstGeom>
          <a:solidFill>
            <a:srgbClr val="00FF87">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rPr>
              <a:t>You can mark a project as a </a:t>
            </a:r>
            <a:r>
              <a:rPr lang="en-US" sz="1400" dirty="0" err="1">
                <a:solidFill>
                  <a:schemeClr val="tx1"/>
                </a:solidFill>
              </a:rPr>
              <a:t>Favourite</a:t>
            </a:r>
            <a:r>
              <a:rPr lang="en-US" sz="1400" dirty="0">
                <a:solidFill>
                  <a:schemeClr val="tx1"/>
                </a:solidFill>
              </a:rPr>
              <a:t> by clicking on the star sign next to its ID. You can see all of your </a:t>
            </a:r>
            <a:r>
              <a:rPr lang="en-US" sz="1400" dirty="0" err="1">
                <a:solidFill>
                  <a:schemeClr val="tx1"/>
                </a:solidFill>
              </a:rPr>
              <a:t>Favourite</a:t>
            </a:r>
            <a:r>
              <a:rPr lang="en-US" sz="1400" dirty="0">
                <a:solidFill>
                  <a:schemeClr val="tx1"/>
                </a:solidFill>
              </a:rPr>
              <a:t> projects in the corresponding </a:t>
            </a:r>
            <a:r>
              <a:rPr lang="en-US" sz="1400" dirty="0" smtClean="0">
                <a:solidFill>
                  <a:schemeClr val="tx1"/>
                </a:solidFill>
              </a:rPr>
              <a:t>menu.</a:t>
            </a:r>
            <a:endParaRPr lang="bg-BG" sz="1400" dirty="0">
              <a:solidFill>
                <a:schemeClr val="tx1"/>
              </a:solidFill>
            </a:endParaRPr>
          </a:p>
        </p:txBody>
      </p:sp>
      <p:sp>
        <p:nvSpPr>
          <p:cNvPr id="5" name="Content Placeholder 4"/>
          <p:cNvSpPr>
            <a:spLocks noGrp="1"/>
          </p:cNvSpPr>
          <p:nvPr>
            <p:ph sz="half" idx="1"/>
          </p:nvPr>
        </p:nvSpPr>
        <p:spPr>
          <a:xfrm>
            <a:off x="915987" y="2219277"/>
            <a:ext cx="10587039" cy="4181475"/>
          </a:xfrm>
        </p:spPr>
        <p:txBody>
          <a:bodyPr/>
          <a:lstStyle/>
          <a:p>
            <a:pPr>
              <a:lnSpc>
                <a:spcPct val="130000"/>
              </a:lnSpc>
              <a:spcBef>
                <a:spcPts val="0"/>
              </a:spcBef>
              <a:spcAft>
                <a:spcPts val="1200"/>
              </a:spcAft>
            </a:pPr>
            <a:r>
              <a:rPr lang="en-US" b="1" dirty="0"/>
              <a:t>Each project has the following characteristics: </a:t>
            </a:r>
            <a:endParaRPr lang="en-US" b="1" dirty="0" smtClean="0"/>
          </a:p>
          <a:p>
            <a:pPr marL="285750" lvl="0" indent="-285750">
              <a:lnSpc>
                <a:spcPct val="80000"/>
              </a:lnSpc>
              <a:buFont typeface="Arial" panose="020B0604020202020204" pitchFamily="34" charset="0"/>
              <a:buChar char="•"/>
            </a:pPr>
            <a:r>
              <a:rPr lang="en-GB" dirty="0" smtClean="0"/>
              <a:t>Unique </a:t>
            </a:r>
            <a:r>
              <a:rPr lang="en-GB" b="1" dirty="0" smtClean="0"/>
              <a:t>ID</a:t>
            </a:r>
            <a:r>
              <a:rPr lang="en-GB" dirty="0" smtClean="0"/>
              <a:t> which helps you locate the project within the Cogent environment. </a:t>
            </a:r>
          </a:p>
          <a:p>
            <a:pPr marL="285750" lvl="0" indent="-285750">
              <a:lnSpc>
                <a:spcPct val="80000"/>
              </a:lnSpc>
              <a:buFont typeface="Arial" panose="020B0604020202020204" pitchFamily="34" charset="0"/>
              <a:buChar char="•"/>
            </a:pPr>
            <a:r>
              <a:rPr lang="en-GB" b="1" dirty="0" smtClean="0"/>
              <a:t>Name</a:t>
            </a:r>
          </a:p>
          <a:p>
            <a:pPr marL="285750" lvl="0" indent="-285750">
              <a:lnSpc>
                <a:spcPct val="80000"/>
              </a:lnSpc>
              <a:buFont typeface="Arial" panose="020B0604020202020204" pitchFamily="34" charset="0"/>
              <a:buChar char="•"/>
            </a:pPr>
            <a:r>
              <a:rPr lang="en-GB" b="1" dirty="0" smtClean="0"/>
              <a:t>Type</a:t>
            </a:r>
            <a:r>
              <a:rPr lang="en-GB" dirty="0" smtClean="0"/>
              <a:t> – the project is either a media analysis one (</a:t>
            </a:r>
            <a:r>
              <a:rPr lang="en-GB" b="1" dirty="0" smtClean="0"/>
              <a:t>MA</a:t>
            </a:r>
            <a:r>
              <a:rPr lang="en-GB" dirty="0" smtClean="0"/>
              <a:t>; the coverage is analysed) or a media monitoring one (</a:t>
            </a:r>
            <a:r>
              <a:rPr lang="en-GB" b="1" dirty="0" smtClean="0"/>
              <a:t>Mon</a:t>
            </a:r>
            <a:r>
              <a:rPr lang="en-GB" dirty="0" smtClean="0"/>
              <a:t>; the coverage is summarised).</a:t>
            </a:r>
          </a:p>
          <a:p>
            <a:pPr marL="285750" lvl="0" indent="-285750">
              <a:lnSpc>
                <a:spcPct val="80000"/>
              </a:lnSpc>
              <a:buFont typeface="Arial" panose="020B0604020202020204" pitchFamily="34" charset="0"/>
              <a:buChar char="•"/>
            </a:pPr>
            <a:r>
              <a:rPr lang="en-GB" b="1" dirty="0" smtClean="0"/>
              <a:t>Project Group</a:t>
            </a:r>
            <a:r>
              <a:rPr lang="en-GB" dirty="0" smtClean="0"/>
              <a:t> – each project belongs to a larger project group; some clients require the tracking of several business entities and/or topical discussions – all of these projects will fall under the same project group. For example, Centrica is a company that </a:t>
            </a:r>
            <a:r>
              <a:rPr lang="en-US" dirty="0" smtClean="0"/>
              <a:t>owns</a:t>
            </a:r>
            <a:r>
              <a:rPr lang="en-GB" dirty="0" smtClean="0"/>
              <a:t> several brands, including Centrica, British Gas, </a:t>
            </a:r>
            <a:r>
              <a:rPr lang="en-GB" dirty="0" err="1" smtClean="0"/>
              <a:t>Bord</a:t>
            </a:r>
            <a:r>
              <a:rPr lang="en-GB" dirty="0" smtClean="0"/>
              <a:t> </a:t>
            </a:r>
            <a:r>
              <a:rPr lang="en-GB" dirty="0" err="1" smtClean="0"/>
              <a:t>Gais</a:t>
            </a:r>
            <a:r>
              <a:rPr lang="en-GB" dirty="0" smtClean="0"/>
              <a:t> etc. The client wants us to analyse coverage about all of them, so the Centrica project, the British Gas project and the </a:t>
            </a:r>
            <a:r>
              <a:rPr lang="en-GB" dirty="0" err="1" smtClean="0"/>
              <a:t>Bord</a:t>
            </a:r>
            <a:r>
              <a:rPr lang="en-GB" dirty="0" smtClean="0"/>
              <a:t> </a:t>
            </a:r>
            <a:r>
              <a:rPr lang="en-GB" dirty="0" err="1" smtClean="0"/>
              <a:t>Gais</a:t>
            </a:r>
            <a:r>
              <a:rPr lang="en-GB" dirty="0" smtClean="0"/>
              <a:t> project are all part of the Centrica project group.</a:t>
            </a:r>
          </a:p>
          <a:p>
            <a:pPr marL="285750" lvl="0" indent="-285750">
              <a:lnSpc>
                <a:spcPct val="80000"/>
              </a:lnSpc>
              <a:buFont typeface="Arial" panose="020B0604020202020204" pitchFamily="34" charset="0"/>
              <a:buChar char="•"/>
            </a:pPr>
            <a:r>
              <a:rPr lang="en-GB" b="1" dirty="0" smtClean="0"/>
              <a:t>Manager</a:t>
            </a:r>
          </a:p>
          <a:p>
            <a:pPr marL="285750" lvl="0" indent="-285750">
              <a:lnSpc>
                <a:spcPct val="80000"/>
              </a:lnSpc>
              <a:buFont typeface="Arial" panose="020B0604020202020204" pitchFamily="34" charset="0"/>
              <a:buChar char="•"/>
            </a:pPr>
            <a:r>
              <a:rPr lang="en-GB" b="1" dirty="0" smtClean="0"/>
              <a:t>Articles</a:t>
            </a:r>
            <a:r>
              <a:rPr lang="en-GB" dirty="0" smtClean="0"/>
              <a:t> – the number of all articles that are safe-housed in that project since its creation.</a:t>
            </a:r>
          </a:p>
          <a:p>
            <a:pPr marL="285750" lvl="0" indent="-285750">
              <a:lnSpc>
                <a:spcPct val="80000"/>
              </a:lnSpc>
              <a:buFont typeface="Arial" panose="020B0604020202020204" pitchFamily="34" charset="0"/>
              <a:buChar char="•"/>
            </a:pPr>
            <a:r>
              <a:rPr lang="en-GB" b="1" dirty="0" smtClean="0"/>
              <a:t>Processed articles</a:t>
            </a:r>
            <a:r>
              <a:rPr lang="en-GB" dirty="0" smtClean="0"/>
              <a:t> – articles that have been analysed.</a:t>
            </a:r>
          </a:p>
          <a:p>
            <a:pPr marL="285750" lvl="0" indent="-285750">
              <a:lnSpc>
                <a:spcPct val="80000"/>
              </a:lnSpc>
              <a:buFont typeface="Arial" panose="020B0604020202020204" pitchFamily="34" charset="0"/>
              <a:buChar char="•"/>
            </a:pPr>
            <a:r>
              <a:rPr lang="en-GB" b="1" dirty="0" smtClean="0"/>
              <a:t>Remaining articles</a:t>
            </a:r>
            <a:r>
              <a:rPr lang="en-GB" dirty="0" smtClean="0"/>
              <a:t> – articles that are yet to be analysed.</a:t>
            </a:r>
          </a:p>
          <a:p>
            <a:pPr marL="285750" lvl="0" indent="-285750">
              <a:lnSpc>
                <a:spcPct val="80000"/>
              </a:lnSpc>
              <a:buFont typeface="Arial" panose="020B0604020202020204" pitchFamily="34" charset="0"/>
              <a:buChar char="•"/>
            </a:pPr>
            <a:r>
              <a:rPr lang="en-GB" b="1" dirty="0" smtClean="0"/>
              <a:t>Progress</a:t>
            </a:r>
            <a:r>
              <a:rPr lang="en-GB" dirty="0" smtClean="0"/>
              <a:t> – ratio between processed and remaining articles.</a:t>
            </a:r>
            <a:endParaRPr lang="en-US" b="1" dirty="0" smtClean="0"/>
          </a:p>
          <a:p>
            <a:pPr>
              <a:lnSpc>
                <a:spcPct val="130000"/>
              </a:lnSpc>
              <a:spcBef>
                <a:spcPts val="0"/>
              </a:spcBef>
              <a:spcAft>
                <a:spcPts val="1200"/>
              </a:spcAft>
            </a:pPr>
            <a:endParaRPr lang="en-US" dirty="0"/>
          </a:p>
        </p:txBody>
      </p:sp>
      <p:sp>
        <p:nvSpPr>
          <p:cNvPr id="10" name="Content Placeholder 4"/>
          <p:cNvSpPr>
            <a:spLocks noGrp="1"/>
          </p:cNvSpPr>
          <p:nvPr>
            <p:ph sz="half" idx="1"/>
          </p:nvPr>
        </p:nvSpPr>
        <p:spPr>
          <a:xfrm>
            <a:off x="839788" y="332830"/>
            <a:ext cx="10663238" cy="967677"/>
          </a:xfrm>
        </p:spPr>
        <p:txBody>
          <a:bodyPr/>
          <a:lstStyle/>
          <a:p>
            <a:pPr>
              <a:lnSpc>
                <a:spcPct val="130000"/>
              </a:lnSpc>
              <a:spcBef>
                <a:spcPts val="0"/>
              </a:spcBef>
              <a:spcAft>
                <a:spcPts val="1200"/>
              </a:spcAft>
            </a:pPr>
            <a:r>
              <a:rPr lang="en-US" dirty="0"/>
              <a:t>Once you log in to Cogent, you will see the list of </a:t>
            </a:r>
            <a:r>
              <a:rPr lang="en-US" b="1" dirty="0"/>
              <a:t>My Projects </a:t>
            </a:r>
            <a:r>
              <a:rPr lang="en-US" dirty="0"/>
              <a:t>i.e. the projects that you will be working on. For a project to appear within the list of your projects, you have to be assigned as a user – this should be done by your </a:t>
            </a:r>
            <a:r>
              <a:rPr lang="en-US" dirty="0" smtClean="0"/>
              <a:t>PM. </a:t>
            </a:r>
            <a:endParaRPr lang="en-US" dirty="0"/>
          </a:p>
        </p:txBody>
      </p:sp>
      <p:pic>
        <p:nvPicPr>
          <p:cNvPr id="11" name="Picture 10"/>
          <p:cNvPicPr/>
          <p:nvPr/>
        </p:nvPicPr>
        <p:blipFill>
          <a:blip r:embed="rId2"/>
          <a:stretch>
            <a:fillRect/>
          </a:stretch>
        </p:blipFill>
        <p:spPr>
          <a:xfrm>
            <a:off x="839788" y="1215887"/>
            <a:ext cx="2305050" cy="609737"/>
          </a:xfrm>
          <a:prstGeom prst="rect">
            <a:avLst/>
          </a:prstGeom>
        </p:spPr>
      </p:pic>
      <p:pic>
        <p:nvPicPr>
          <p:cNvPr id="12" name="Picture 11"/>
          <p:cNvPicPr>
            <a:picLocks noChangeAspect="1"/>
          </p:cNvPicPr>
          <p:nvPr/>
        </p:nvPicPr>
        <p:blipFill rotWithShape="1">
          <a:blip r:embed="rId3"/>
          <a:srcRect t="7457" r="474" b="1"/>
          <a:stretch/>
        </p:blipFill>
        <p:spPr>
          <a:xfrm>
            <a:off x="839788" y="1792617"/>
            <a:ext cx="8829675" cy="520070"/>
          </a:xfrm>
          <a:prstGeom prst="rect">
            <a:avLst/>
          </a:prstGeom>
        </p:spPr>
      </p:pic>
    </p:spTree>
    <p:extLst>
      <p:ext uri="{BB962C8B-B14F-4D97-AF65-F5344CB8AC3E}">
        <p14:creationId xmlns:p14="http://schemas.microsoft.com/office/powerpoint/2010/main" val="59749244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Content Placeholder 4"/>
          <p:cNvSpPr>
            <a:spLocks noGrp="1"/>
          </p:cNvSpPr>
          <p:nvPr>
            <p:ph sz="half" idx="1"/>
          </p:nvPr>
        </p:nvSpPr>
        <p:spPr>
          <a:xfrm>
            <a:off x="839788" y="1196976"/>
            <a:ext cx="5580062" cy="5003799"/>
          </a:xfrm>
        </p:spPr>
        <p:txBody>
          <a:bodyPr/>
          <a:lstStyle/>
          <a:p>
            <a:pPr lvl="0">
              <a:lnSpc>
                <a:spcPct val="130000"/>
              </a:lnSpc>
              <a:spcBef>
                <a:spcPts val="0"/>
              </a:spcBef>
              <a:spcAft>
                <a:spcPts val="1200"/>
              </a:spcAft>
            </a:pPr>
            <a:r>
              <a:rPr lang="en-US" dirty="0" smtClean="0"/>
              <a:t>You might be wondering how the media coverage actually reaches Cogent. We </a:t>
            </a:r>
            <a:r>
              <a:rPr lang="en-US" b="1" dirty="0" smtClean="0"/>
              <a:t>source coverage </a:t>
            </a:r>
            <a:r>
              <a:rPr lang="en-US" dirty="0" smtClean="0"/>
              <a:t>from a variety of aggregators, including </a:t>
            </a:r>
            <a:r>
              <a:rPr lang="en-US" b="1" dirty="0" smtClean="0"/>
              <a:t>Signal</a:t>
            </a:r>
            <a:r>
              <a:rPr lang="en-US" dirty="0" smtClean="0"/>
              <a:t>, </a:t>
            </a:r>
            <a:r>
              <a:rPr lang="en-US" b="1" dirty="0" err="1" smtClean="0"/>
              <a:t>Opoint</a:t>
            </a:r>
            <a:r>
              <a:rPr lang="en-US" dirty="0" smtClean="0"/>
              <a:t>, </a:t>
            </a:r>
            <a:r>
              <a:rPr lang="en-US" b="1" dirty="0" err="1" smtClean="0"/>
              <a:t>Newsedge</a:t>
            </a:r>
            <a:r>
              <a:rPr lang="en-US" dirty="0" smtClean="0"/>
              <a:t>, </a:t>
            </a:r>
            <a:r>
              <a:rPr lang="en-US" b="1" dirty="0" smtClean="0"/>
              <a:t>Factiva</a:t>
            </a:r>
            <a:r>
              <a:rPr lang="en-US" dirty="0" smtClean="0"/>
              <a:t> &amp; others.</a:t>
            </a:r>
          </a:p>
          <a:p>
            <a:pPr lvl="0">
              <a:lnSpc>
                <a:spcPct val="130000"/>
              </a:lnSpc>
              <a:spcBef>
                <a:spcPts val="0"/>
              </a:spcBef>
              <a:spcAft>
                <a:spcPts val="1200"/>
              </a:spcAft>
            </a:pPr>
            <a:r>
              <a:rPr lang="en-US" b="1" dirty="0" err="1" smtClean="0"/>
              <a:t>Opoint</a:t>
            </a:r>
            <a:r>
              <a:rPr lang="en-US" dirty="0" smtClean="0"/>
              <a:t>, </a:t>
            </a:r>
            <a:r>
              <a:rPr lang="en-US" b="1" dirty="0" err="1" smtClean="0"/>
              <a:t>Newsedge</a:t>
            </a:r>
            <a:r>
              <a:rPr lang="en-US" dirty="0" smtClean="0"/>
              <a:t> and </a:t>
            </a:r>
            <a:r>
              <a:rPr lang="en-US" b="1" dirty="0" smtClean="0"/>
              <a:t>Factiva</a:t>
            </a:r>
            <a:r>
              <a:rPr lang="en-US" dirty="0" smtClean="0"/>
              <a:t> are used in our work with direct clients. The data is fed to Cogent </a:t>
            </a:r>
            <a:r>
              <a:rPr lang="en-GB" dirty="0" smtClean="0"/>
              <a:t>via </a:t>
            </a:r>
            <a:r>
              <a:rPr lang="en-GB" b="1" dirty="0" smtClean="0"/>
              <a:t>Boolean searches</a:t>
            </a:r>
            <a:r>
              <a:rPr lang="en-GB" dirty="0" smtClean="0"/>
              <a:t>. Once established, the whole process becomes pretty much automatic, facilitated by </a:t>
            </a:r>
            <a:r>
              <a:rPr lang="en-GB" dirty="0" err="1" smtClean="0"/>
              <a:t>Cogent’s</a:t>
            </a:r>
            <a:r>
              <a:rPr lang="en-GB" dirty="0" smtClean="0"/>
              <a:t> </a:t>
            </a:r>
            <a:r>
              <a:rPr lang="en-GB" b="1" dirty="0" err="1" smtClean="0"/>
              <a:t>Comglomerator</a:t>
            </a:r>
            <a:r>
              <a:rPr lang="en-GB" dirty="0" smtClean="0"/>
              <a:t>.</a:t>
            </a:r>
          </a:p>
          <a:p>
            <a:pPr lvl="0">
              <a:lnSpc>
                <a:spcPct val="130000"/>
              </a:lnSpc>
              <a:spcBef>
                <a:spcPts val="0"/>
              </a:spcBef>
              <a:spcAft>
                <a:spcPts val="1200"/>
              </a:spcAft>
            </a:pPr>
            <a:r>
              <a:rPr lang="en-GB" dirty="0" smtClean="0"/>
              <a:t>With </a:t>
            </a:r>
            <a:r>
              <a:rPr lang="en-GB" b="1" dirty="0" smtClean="0"/>
              <a:t>Signal</a:t>
            </a:r>
            <a:r>
              <a:rPr lang="en-GB" dirty="0" smtClean="0"/>
              <a:t>, we have an equal partnership – they link us up with clients and provide us with the coverage, while we carry out the analysis. </a:t>
            </a:r>
            <a:r>
              <a:rPr lang="en-US" dirty="0"/>
              <a:t>For Signal </a:t>
            </a:r>
            <a:r>
              <a:rPr lang="en-US" dirty="0" smtClean="0"/>
              <a:t>clients, </a:t>
            </a:r>
            <a:r>
              <a:rPr lang="en-US" dirty="0"/>
              <a:t>we use the Signal AI platform to download the articles and then we </a:t>
            </a:r>
            <a:r>
              <a:rPr lang="en-US" dirty="0" smtClean="0"/>
              <a:t>manually upload </a:t>
            </a:r>
            <a:r>
              <a:rPr lang="en-US" dirty="0"/>
              <a:t>them </a:t>
            </a:r>
            <a:r>
              <a:rPr lang="en-US" dirty="0" smtClean="0"/>
              <a:t>to Cogent.</a:t>
            </a:r>
            <a:endParaRPr lang="en-GB" dirty="0" smtClean="0"/>
          </a:p>
          <a:p>
            <a:pPr lvl="0">
              <a:lnSpc>
                <a:spcPct val="130000"/>
              </a:lnSpc>
              <a:spcBef>
                <a:spcPts val="0"/>
              </a:spcBef>
              <a:spcAft>
                <a:spcPts val="1200"/>
              </a:spcAft>
            </a:pPr>
            <a:endParaRPr lang="en-GB" dirty="0" smtClean="0"/>
          </a:p>
          <a:p>
            <a:pPr lvl="0">
              <a:lnSpc>
                <a:spcPct val="130000"/>
              </a:lnSpc>
              <a:spcBef>
                <a:spcPts val="0"/>
              </a:spcBef>
              <a:spcAft>
                <a:spcPts val="1200"/>
              </a:spcAft>
            </a:pPr>
            <a:endParaRPr lang="en-GB" dirty="0"/>
          </a:p>
        </p:txBody>
      </p:sp>
      <p:sp>
        <p:nvSpPr>
          <p:cNvPr id="14" name="Title 3"/>
          <p:cNvSpPr>
            <a:spLocks noGrp="1"/>
          </p:cNvSpPr>
          <p:nvPr>
            <p:ph type="title"/>
          </p:nvPr>
        </p:nvSpPr>
        <p:spPr>
          <a:xfrm>
            <a:off x="838200" y="365126"/>
            <a:ext cx="10515600" cy="608268"/>
          </a:xfrm>
        </p:spPr>
        <p:txBody>
          <a:bodyPr/>
          <a:lstStyle/>
          <a:p>
            <a:pPr lvl="0">
              <a:lnSpc>
                <a:spcPct val="130000"/>
              </a:lnSpc>
              <a:spcBef>
                <a:spcPts val="0"/>
              </a:spcBef>
              <a:spcAft>
                <a:spcPts val="1200"/>
              </a:spcAft>
            </a:pPr>
            <a:r>
              <a:rPr lang="en-GB" dirty="0"/>
              <a:t>Where do all the articles come from?</a:t>
            </a:r>
            <a:endParaRPr lang="en-US" dirty="0">
              <a:solidFill>
                <a:schemeClr val="tx1">
                  <a:lumMod val="50000"/>
                  <a:lumOff val="50000"/>
                </a:schemeClr>
              </a:solidFill>
            </a:endParaRPr>
          </a:p>
        </p:txBody>
      </p:sp>
      <p:pic>
        <p:nvPicPr>
          <p:cNvPr id="1026" name="Picture 2" descr="Opoint - Crunchbase Company Profile &amp; Funding"/>
          <p:cNvPicPr>
            <a:picLocks noChangeAspect="1" noChangeArrowheads="1"/>
          </p:cNvPicPr>
          <p:nvPr/>
        </p:nvPicPr>
        <p:blipFill rotWithShape="1">
          <a:blip r:embed="rId2">
            <a:extLst>
              <a:ext uri="{28A0092B-C50C-407E-A947-70E740481C1C}">
                <a14:useLocalDpi xmlns:a14="http://schemas.microsoft.com/office/drawing/2010/main" val="0"/>
              </a:ext>
            </a:extLst>
          </a:blip>
          <a:srcRect l="-1" t="29256" r="1532" b="33592"/>
          <a:stretch/>
        </p:blipFill>
        <p:spPr bwMode="auto">
          <a:xfrm>
            <a:off x="6228062" y="2311450"/>
            <a:ext cx="1618124" cy="61051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NewsEdge (@newsedge) / Twitter"/>
          <p:cNvPicPr>
            <a:picLocks noChangeAspect="1" noChangeArrowheads="1"/>
          </p:cNvPicPr>
          <p:nvPr/>
        </p:nvPicPr>
        <p:blipFill rotWithShape="1">
          <a:blip r:embed="rId3">
            <a:extLst>
              <a:ext uri="{28A0092B-C50C-407E-A947-70E740481C1C}">
                <a14:useLocalDpi xmlns:a14="http://schemas.microsoft.com/office/drawing/2010/main" val="0"/>
              </a:ext>
            </a:extLst>
          </a:blip>
          <a:srcRect l="6543" t="39709" r="4657" b="35637"/>
          <a:stretch/>
        </p:blipFill>
        <p:spPr bwMode="auto">
          <a:xfrm>
            <a:off x="6436632" y="2975480"/>
            <a:ext cx="1554479" cy="431587"/>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Factiva Reviews 2023: Details, Pricing, &amp; Features | G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228062" y="3335958"/>
            <a:ext cx="1971617" cy="103509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Signal AI Unveils New External Intelligence Graph"/>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6407" t="22830" r="7381" b="30380"/>
          <a:stretch/>
        </p:blipFill>
        <p:spPr bwMode="auto">
          <a:xfrm>
            <a:off x="6382136" y="4404227"/>
            <a:ext cx="1663467" cy="412212"/>
          </a:xfrm>
          <a:prstGeom prst="rect">
            <a:avLst/>
          </a:prstGeom>
          <a:noFill/>
          <a:extLst>
            <a:ext uri="{909E8E84-426E-40DD-AFC4-6F175D3DCCD1}">
              <a14:hiddenFill xmlns:a14="http://schemas.microsoft.com/office/drawing/2010/main">
                <a:solidFill>
                  <a:srgbClr val="FFFFFF"/>
                </a:solidFill>
              </a14:hiddenFill>
            </a:ext>
          </a:extLst>
        </p:spPr>
      </p:pic>
      <p:sp>
        <p:nvSpPr>
          <p:cNvPr id="18" name="Rounded Rectangle 17"/>
          <p:cNvSpPr/>
          <p:nvPr/>
        </p:nvSpPr>
        <p:spPr>
          <a:xfrm>
            <a:off x="6436632" y="1212239"/>
            <a:ext cx="4917168" cy="882568"/>
          </a:xfrm>
          <a:prstGeom prst="roundRect">
            <a:avLst/>
          </a:prstGeom>
          <a:solidFill>
            <a:srgbClr val="00FF87">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smtClean="0">
                <a:solidFill>
                  <a:schemeClr val="tx1"/>
                </a:solidFill>
              </a:rPr>
              <a:t>I was thinking of adding a slide on </a:t>
            </a:r>
            <a:r>
              <a:rPr lang="en-US" sz="1400" b="1" dirty="0" smtClean="0">
                <a:solidFill>
                  <a:schemeClr val="tx1"/>
                </a:solidFill>
              </a:rPr>
              <a:t>article upload</a:t>
            </a:r>
            <a:r>
              <a:rPr lang="en-US" sz="1400" dirty="0" smtClean="0">
                <a:solidFill>
                  <a:schemeClr val="tx1"/>
                </a:solidFill>
              </a:rPr>
              <a:t>, but this guide is already too long as is so you can contact any person you like from </a:t>
            </a:r>
            <a:r>
              <a:rPr lang="en-US" sz="1400" dirty="0" err="1" smtClean="0">
                <a:solidFill>
                  <a:schemeClr val="tx1"/>
                </a:solidFill>
              </a:rPr>
              <a:t>Commetric</a:t>
            </a:r>
            <a:r>
              <a:rPr lang="en-US" sz="1400" dirty="0">
                <a:solidFill>
                  <a:schemeClr val="tx1"/>
                </a:solidFill>
              </a:rPr>
              <a:t> </a:t>
            </a:r>
            <a:r>
              <a:rPr lang="en-US" sz="1400" dirty="0" smtClean="0">
                <a:solidFill>
                  <a:schemeClr val="tx1"/>
                </a:solidFill>
              </a:rPr>
              <a:t>and they’ll show you the different types </a:t>
            </a:r>
            <a:r>
              <a:rPr lang="en-US" sz="1400" dirty="0" smtClean="0">
                <a:solidFill>
                  <a:schemeClr val="tx1"/>
                </a:solidFill>
                <a:sym typeface="Wingdings" panose="05000000000000000000" pitchFamily="2" charset="2"/>
              </a:rPr>
              <a:t></a:t>
            </a:r>
            <a:endParaRPr lang="bg-BG" sz="1400" dirty="0">
              <a:solidFill>
                <a:schemeClr val="tx1"/>
              </a:solidFill>
            </a:endParaRPr>
          </a:p>
        </p:txBody>
      </p:sp>
      <p:sp>
        <p:nvSpPr>
          <p:cNvPr id="19" name="Rounded Rectangle 18"/>
          <p:cNvSpPr/>
          <p:nvPr/>
        </p:nvSpPr>
        <p:spPr>
          <a:xfrm>
            <a:off x="6438219" y="5341265"/>
            <a:ext cx="4915581" cy="815185"/>
          </a:xfrm>
          <a:prstGeom prst="roundRect">
            <a:avLst/>
          </a:prstGeom>
          <a:solidFill>
            <a:srgbClr val="00FF87">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smtClean="0">
                <a:solidFill>
                  <a:schemeClr val="tx1"/>
                </a:solidFill>
              </a:rPr>
              <a:t>The </a:t>
            </a:r>
            <a:r>
              <a:rPr lang="en-US" sz="1400" b="1" dirty="0" err="1" smtClean="0">
                <a:solidFill>
                  <a:schemeClr val="tx1"/>
                </a:solidFill>
              </a:rPr>
              <a:t>Comglomerator</a:t>
            </a:r>
            <a:r>
              <a:rPr lang="en-US" sz="1400" dirty="0" smtClean="0">
                <a:solidFill>
                  <a:schemeClr val="tx1"/>
                </a:solidFill>
              </a:rPr>
              <a:t> </a:t>
            </a:r>
            <a:r>
              <a:rPr lang="en-US" sz="1400" dirty="0">
                <a:solidFill>
                  <a:schemeClr val="tx1"/>
                </a:solidFill>
              </a:rPr>
              <a:t>is the front end for the elastic database which stores or brings in content via </a:t>
            </a:r>
            <a:r>
              <a:rPr lang="en-US" sz="1400" dirty="0" smtClean="0">
                <a:solidFill>
                  <a:schemeClr val="tx1"/>
                </a:solidFill>
              </a:rPr>
              <a:t>third </a:t>
            </a:r>
            <a:r>
              <a:rPr lang="en-US" sz="1400" dirty="0">
                <a:solidFill>
                  <a:schemeClr val="tx1"/>
                </a:solidFill>
              </a:rPr>
              <a:t>party </a:t>
            </a:r>
            <a:r>
              <a:rPr lang="en-US" sz="1400" dirty="0" smtClean="0">
                <a:solidFill>
                  <a:schemeClr val="tx1"/>
                </a:solidFill>
              </a:rPr>
              <a:t>aggregators.</a:t>
            </a:r>
            <a:endParaRPr lang="en-US" sz="1400" dirty="0">
              <a:solidFill>
                <a:schemeClr val="tx1"/>
              </a:solidFill>
            </a:endParaRPr>
          </a:p>
        </p:txBody>
      </p:sp>
    </p:spTree>
    <p:extLst>
      <p:ext uri="{BB962C8B-B14F-4D97-AF65-F5344CB8AC3E}">
        <p14:creationId xmlns:p14="http://schemas.microsoft.com/office/powerpoint/2010/main" val="93268738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Media Analysis View</a:t>
            </a:r>
            <a:endParaRPr lang="en-US" dirty="0"/>
          </a:p>
        </p:txBody>
      </p:sp>
      <p:sp>
        <p:nvSpPr>
          <p:cNvPr id="4" name="Rounded Rectangle 3"/>
          <p:cNvSpPr/>
          <p:nvPr/>
        </p:nvSpPr>
        <p:spPr>
          <a:xfrm>
            <a:off x="831850" y="2825593"/>
            <a:ext cx="3578225" cy="508157"/>
          </a:xfrm>
          <a:prstGeom prst="roundRect">
            <a:avLst/>
          </a:prstGeom>
          <a:solidFill>
            <a:srgbClr val="00FF87">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400" dirty="0" smtClean="0">
                <a:solidFill>
                  <a:schemeClr val="tx1"/>
                </a:solidFill>
              </a:rPr>
              <a:t>To discover the Media Monitoring view, please refer to the Monitoring briefing.</a:t>
            </a:r>
            <a:endParaRPr lang="bg-BG" sz="1400" dirty="0">
              <a:solidFill>
                <a:schemeClr val="tx1"/>
              </a:solidFill>
            </a:endParaRPr>
          </a:p>
        </p:txBody>
      </p:sp>
    </p:spTree>
    <p:extLst>
      <p:ext uri="{BB962C8B-B14F-4D97-AF65-F5344CB8AC3E}">
        <p14:creationId xmlns:p14="http://schemas.microsoft.com/office/powerpoint/2010/main" val="12362688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ounded Rectangle 7"/>
          <p:cNvSpPr/>
          <p:nvPr/>
        </p:nvSpPr>
        <p:spPr>
          <a:xfrm>
            <a:off x="838200" y="2290508"/>
            <a:ext cx="10514012" cy="557467"/>
          </a:xfrm>
          <a:prstGeom prst="roundRect">
            <a:avLst/>
          </a:prstGeom>
          <a:solidFill>
            <a:srgbClr val="00FF87">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rPr>
              <a:t>There are several words that all refer to “</a:t>
            </a:r>
            <a:r>
              <a:rPr lang="en-US" sz="1400" dirty="0" err="1">
                <a:solidFill>
                  <a:schemeClr val="tx1"/>
                </a:solidFill>
              </a:rPr>
              <a:t>analysing</a:t>
            </a:r>
            <a:r>
              <a:rPr lang="en-US" sz="1400" dirty="0">
                <a:solidFill>
                  <a:schemeClr val="tx1"/>
                </a:solidFill>
              </a:rPr>
              <a:t>” an article - “Coding”, “reading”, “processing” – you will get familiar with </a:t>
            </a:r>
            <a:r>
              <a:rPr lang="en-US" sz="1400" dirty="0" smtClean="0">
                <a:solidFill>
                  <a:schemeClr val="tx1"/>
                </a:solidFill>
              </a:rPr>
              <a:t>them all.</a:t>
            </a:r>
            <a:endParaRPr lang="bg-BG" sz="1400" dirty="0">
              <a:solidFill>
                <a:schemeClr val="tx1"/>
              </a:solidFill>
            </a:endParaRPr>
          </a:p>
        </p:txBody>
      </p:sp>
      <p:sp>
        <p:nvSpPr>
          <p:cNvPr id="4" name="Title 3"/>
          <p:cNvSpPr>
            <a:spLocks noGrp="1"/>
          </p:cNvSpPr>
          <p:nvPr>
            <p:ph type="title"/>
          </p:nvPr>
        </p:nvSpPr>
        <p:spPr>
          <a:xfrm>
            <a:off x="838200" y="422276"/>
            <a:ext cx="10515600" cy="608268"/>
          </a:xfrm>
        </p:spPr>
        <p:txBody>
          <a:bodyPr/>
          <a:lstStyle/>
          <a:p>
            <a:r>
              <a:rPr lang="en-US" dirty="0"/>
              <a:t>To open a project in the Media Analysis View, click on its name in the project </a:t>
            </a:r>
            <a:r>
              <a:rPr lang="en-US" dirty="0" smtClean="0"/>
              <a:t>list</a:t>
            </a:r>
            <a:endParaRPr lang="en-GB" dirty="0"/>
          </a:p>
        </p:txBody>
      </p:sp>
      <p:sp>
        <p:nvSpPr>
          <p:cNvPr id="5" name="Content Placeholder 4"/>
          <p:cNvSpPr>
            <a:spLocks noGrp="1"/>
          </p:cNvSpPr>
          <p:nvPr>
            <p:ph sz="half" idx="1"/>
          </p:nvPr>
        </p:nvSpPr>
        <p:spPr>
          <a:xfrm>
            <a:off x="838199" y="1196975"/>
            <a:ext cx="10514013" cy="860426"/>
          </a:xfrm>
        </p:spPr>
        <p:txBody>
          <a:bodyPr/>
          <a:lstStyle/>
          <a:p>
            <a:pPr>
              <a:lnSpc>
                <a:spcPct val="130000"/>
              </a:lnSpc>
              <a:spcBef>
                <a:spcPts val="0"/>
              </a:spcBef>
              <a:spcAft>
                <a:spcPts val="1200"/>
              </a:spcAft>
            </a:pPr>
            <a:r>
              <a:rPr lang="en-US" dirty="0"/>
              <a:t>The view consists of </a:t>
            </a:r>
            <a:r>
              <a:rPr lang="en-US" b="1" dirty="0"/>
              <a:t>three sections</a:t>
            </a:r>
            <a:r>
              <a:rPr lang="en-US" dirty="0"/>
              <a:t>: on the </a:t>
            </a:r>
            <a:r>
              <a:rPr lang="en-US" b="1" dirty="0"/>
              <a:t>left</a:t>
            </a:r>
            <a:r>
              <a:rPr lang="en-US" dirty="0"/>
              <a:t> is </a:t>
            </a:r>
            <a:r>
              <a:rPr lang="en-US" b="1" dirty="0"/>
              <a:t>the list of all articles in the project</a:t>
            </a:r>
            <a:r>
              <a:rPr lang="en-US" dirty="0"/>
              <a:t>; in the </a:t>
            </a:r>
            <a:r>
              <a:rPr lang="en-US" b="1" dirty="0" err="1"/>
              <a:t>centre</a:t>
            </a:r>
            <a:r>
              <a:rPr lang="en-US" dirty="0"/>
              <a:t> is the field with </a:t>
            </a:r>
            <a:r>
              <a:rPr lang="en-US" b="1" dirty="0"/>
              <a:t>the content of the article itself</a:t>
            </a:r>
            <a:r>
              <a:rPr lang="en-US" dirty="0"/>
              <a:t>, and on the </a:t>
            </a:r>
            <a:r>
              <a:rPr lang="en-US" b="1" dirty="0"/>
              <a:t>right</a:t>
            </a:r>
            <a:r>
              <a:rPr lang="en-US" dirty="0"/>
              <a:t> are the </a:t>
            </a:r>
            <a:r>
              <a:rPr lang="en-US" b="1" dirty="0"/>
              <a:t>coding metrics </a:t>
            </a:r>
            <a:r>
              <a:rPr lang="en-US" dirty="0"/>
              <a:t>that we assign to each article. The analysis is carried out via the third section of the MA view.</a:t>
            </a:r>
          </a:p>
        </p:txBody>
      </p:sp>
      <p:pic>
        <p:nvPicPr>
          <p:cNvPr id="2" name="Picture 1"/>
          <p:cNvPicPr>
            <a:picLocks noChangeAspect="1"/>
          </p:cNvPicPr>
          <p:nvPr/>
        </p:nvPicPr>
        <p:blipFill>
          <a:blip r:embed="rId2"/>
          <a:stretch>
            <a:fillRect/>
          </a:stretch>
        </p:blipFill>
        <p:spPr>
          <a:xfrm>
            <a:off x="1655272" y="2847975"/>
            <a:ext cx="8029056" cy="3340463"/>
          </a:xfrm>
          <a:prstGeom prst="rect">
            <a:avLst/>
          </a:prstGeom>
        </p:spPr>
      </p:pic>
    </p:spTree>
    <p:extLst>
      <p:ext uri="{BB962C8B-B14F-4D97-AF65-F5344CB8AC3E}">
        <p14:creationId xmlns:p14="http://schemas.microsoft.com/office/powerpoint/2010/main" val="316155732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solidFill>
                  <a:schemeClr val="accent2"/>
                </a:solidFill>
              </a:rPr>
              <a:t>Left-hand side</a:t>
            </a:r>
            <a:endParaRPr lang="en-GB" dirty="0">
              <a:solidFill>
                <a:schemeClr val="accent2"/>
              </a:solidFill>
            </a:endParaRPr>
          </a:p>
        </p:txBody>
      </p:sp>
      <p:sp>
        <p:nvSpPr>
          <p:cNvPr id="5" name="Content Placeholder 4"/>
          <p:cNvSpPr>
            <a:spLocks noGrp="1"/>
          </p:cNvSpPr>
          <p:nvPr>
            <p:ph sz="half" idx="1"/>
          </p:nvPr>
        </p:nvSpPr>
        <p:spPr>
          <a:xfrm>
            <a:off x="838200" y="1196974"/>
            <a:ext cx="5600700" cy="4994275"/>
          </a:xfrm>
        </p:spPr>
        <p:txBody>
          <a:bodyPr/>
          <a:lstStyle/>
          <a:p>
            <a:pPr lvl="0">
              <a:lnSpc>
                <a:spcPct val="130000"/>
              </a:lnSpc>
              <a:spcBef>
                <a:spcPts val="0"/>
              </a:spcBef>
              <a:spcAft>
                <a:spcPts val="1200"/>
              </a:spcAft>
            </a:pPr>
            <a:r>
              <a:rPr lang="en-US" b="1" dirty="0"/>
              <a:t>Relevant / Irrelevant / Not Processed </a:t>
            </a:r>
            <a:r>
              <a:rPr lang="en-US" b="1" dirty="0" smtClean="0"/>
              <a:t>articles</a:t>
            </a:r>
            <a:endParaRPr lang="en-US" dirty="0" smtClean="0"/>
          </a:p>
          <a:p>
            <a:pPr>
              <a:lnSpc>
                <a:spcPct val="130000"/>
              </a:lnSpc>
              <a:spcBef>
                <a:spcPts val="0"/>
              </a:spcBef>
              <a:spcAft>
                <a:spcPts val="1200"/>
              </a:spcAft>
            </a:pPr>
            <a:r>
              <a:rPr lang="en-US" dirty="0" smtClean="0"/>
              <a:t>You </a:t>
            </a:r>
            <a:r>
              <a:rPr lang="en-US" dirty="0"/>
              <a:t>currently see a list of all articles in the project. This includes articles that have been </a:t>
            </a:r>
            <a:r>
              <a:rPr lang="en-US" b="1" dirty="0" err="1"/>
              <a:t>analysed</a:t>
            </a:r>
            <a:r>
              <a:rPr lang="en-US" dirty="0"/>
              <a:t> (they have been deemed </a:t>
            </a:r>
            <a:r>
              <a:rPr lang="en-US" b="1" dirty="0"/>
              <a:t>relevant</a:t>
            </a:r>
            <a:r>
              <a:rPr lang="en-US" dirty="0"/>
              <a:t> and are </a:t>
            </a:r>
            <a:r>
              <a:rPr lang="en-US" dirty="0" err="1"/>
              <a:t>coloured</a:t>
            </a:r>
            <a:r>
              <a:rPr lang="en-US" dirty="0"/>
              <a:t> in </a:t>
            </a:r>
            <a:r>
              <a:rPr lang="en-US" dirty="0">
                <a:solidFill>
                  <a:schemeClr val="accent4"/>
                </a:solidFill>
              </a:rPr>
              <a:t>green</a:t>
            </a:r>
            <a:r>
              <a:rPr lang="en-US" dirty="0"/>
              <a:t>), articles that are </a:t>
            </a:r>
            <a:r>
              <a:rPr lang="en-US" b="1" dirty="0"/>
              <a:t>yet to be </a:t>
            </a:r>
            <a:r>
              <a:rPr lang="en-US" b="1" dirty="0" err="1"/>
              <a:t>analysed</a:t>
            </a:r>
            <a:r>
              <a:rPr lang="en-US" b="1" dirty="0"/>
              <a:t> </a:t>
            </a:r>
            <a:r>
              <a:rPr lang="en-US" dirty="0"/>
              <a:t>(they are </a:t>
            </a:r>
            <a:r>
              <a:rPr lang="en-US" b="1" dirty="0"/>
              <a:t>not processed</a:t>
            </a:r>
            <a:r>
              <a:rPr lang="en-US" dirty="0"/>
              <a:t> and are </a:t>
            </a:r>
            <a:r>
              <a:rPr lang="en-US" dirty="0" err="1"/>
              <a:t>coloured</a:t>
            </a:r>
            <a:r>
              <a:rPr lang="en-US" dirty="0"/>
              <a:t> in </a:t>
            </a:r>
            <a:r>
              <a:rPr lang="en-US" dirty="0">
                <a:solidFill>
                  <a:srgbClr val="FF0000"/>
                </a:solidFill>
              </a:rPr>
              <a:t>red</a:t>
            </a:r>
            <a:r>
              <a:rPr lang="en-US" dirty="0"/>
              <a:t>) and articles that are </a:t>
            </a:r>
            <a:r>
              <a:rPr lang="en-US" b="1" dirty="0"/>
              <a:t>not of interest </a:t>
            </a:r>
            <a:r>
              <a:rPr lang="en-US" dirty="0"/>
              <a:t>for that particular project but have sneaked in for one reason or another (articles that are </a:t>
            </a:r>
            <a:r>
              <a:rPr lang="en-US" b="1" dirty="0"/>
              <a:t>irrelevant</a:t>
            </a:r>
            <a:r>
              <a:rPr lang="en-US" dirty="0"/>
              <a:t> and are </a:t>
            </a:r>
            <a:r>
              <a:rPr lang="en-US" dirty="0" err="1"/>
              <a:t>coloured</a:t>
            </a:r>
            <a:r>
              <a:rPr lang="en-US" dirty="0"/>
              <a:t> in </a:t>
            </a:r>
            <a:r>
              <a:rPr lang="en-US" dirty="0">
                <a:solidFill>
                  <a:schemeClr val="tx1">
                    <a:lumMod val="50000"/>
                    <a:lumOff val="50000"/>
                  </a:schemeClr>
                </a:solidFill>
              </a:rPr>
              <a:t>gray</a:t>
            </a:r>
            <a:r>
              <a:rPr lang="en-US" dirty="0"/>
              <a:t>). You can use the </a:t>
            </a:r>
            <a:r>
              <a:rPr lang="en-US" b="1" dirty="0"/>
              <a:t>drop-down menu </a:t>
            </a:r>
            <a:r>
              <a:rPr lang="en-US" dirty="0"/>
              <a:t>next to the Search </a:t>
            </a:r>
            <a:r>
              <a:rPr lang="en-US" dirty="0" smtClean="0"/>
              <a:t>to </a:t>
            </a:r>
            <a:r>
              <a:rPr lang="en-US" dirty="0"/>
              <a:t>filter your view of the articles. </a:t>
            </a:r>
            <a:br>
              <a:rPr lang="en-US" dirty="0"/>
            </a:br>
            <a:r>
              <a:rPr lang="en-US" dirty="0" smtClean="0">
                <a:solidFill>
                  <a:schemeClr val="tx1">
                    <a:lumMod val="50000"/>
                    <a:lumOff val="50000"/>
                  </a:schemeClr>
                </a:solidFill>
              </a:rPr>
              <a:t>[</a:t>
            </a:r>
            <a:r>
              <a:rPr lang="en-US" dirty="0">
                <a:solidFill>
                  <a:schemeClr val="tx1">
                    <a:lumMod val="50000"/>
                    <a:lumOff val="50000"/>
                  </a:schemeClr>
                </a:solidFill>
              </a:rPr>
              <a:t>the drop-down menu also offers an option to filter by Processed – this is used for media monitoring so you can currently ignore </a:t>
            </a:r>
            <a:r>
              <a:rPr lang="en-US" dirty="0" smtClean="0">
                <a:solidFill>
                  <a:schemeClr val="tx1">
                    <a:lumMod val="50000"/>
                    <a:lumOff val="50000"/>
                  </a:schemeClr>
                </a:solidFill>
              </a:rPr>
              <a:t>it].</a:t>
            </a:r>
            <a:endParaRPr lang="en-US" dirty="0">
              <a:solidFill>
                <a:schemeClr val="tx1">
                  <a:lumMod val="50000"/>
                  <a:lumOff val="50000"/>
                </a:schemeClr>
              </a:solidFill>
            </a:endParaRPr>
          </a:p>
        </p:txBody>
      </p:sp>
      <p:pic>
        <p:nvPicPr>
          <p:cNvPr id="2" name="Picture 1"/>
          <p:cNvPicPr>
            <a:picLocks noChangeAspect="1"/>
          </p:cNvPicPr>
          <p:nvPr/>
        </p:nvPicPr>
        <p:blipFill>
          <a:blip r:embed="rId2"/>
          <a:stretch>
            <a:fillRect/>
          </a:stretch>
        </p:blipFill>
        <p:spPr>
          <a:xfrm>
            <a:off x="7798906" y="1333719"/>
            <a:ext cx="2811458" cy="4280639"/>
          </a:xfrm>
          <a:prstGeom prst="rect">
            <a:avLst/>
          </a:prstGeom>
        </p:spPr>
      </p:pic>
      <p:cxnSp>
        <p:nvCxnSpPr>
          <p:cNvPr id="6" name="Straight Arrow Connector 5"/>
          <p:cNvCxnSpPr/>
          <p:nvPr/>
        </p:nvCxnSpPr>
        <p:spPr>
          <a:xfrm>
            <a:off x="9045696" y="5614358"/>
            <a:ext cx="0" cy="2244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H="1">
            <a:off x="7214345" y="1477466"/>
            <a:ext cx="58456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H="1">
            <a:off x="7214345" y="1771790"/>
            <a:ext cx="584561"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10084007" y="1446917"/>
            <a:ext cx="89932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Rounded Rectangle 22"/>
          <p:cNvSpPr/>
          <p:nvPr/>
        </p:nvSpPr>
        <p:spPr>
          <a:xfrm>
            <a:off x="6038850" y="1333719"/>
            <a:ext cx="1126441" cy="310432"/>
          </a:xfrm>
          <a:prstGeom prst="roundRect">
            <a:avLst/>
          </a:prstGeom>
          <a:solidFill>
            <a:srgbClr val="00FF87">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chemeClr val="tx1"/>
                </a:solidFill>
              </a:rPr>
              <a:t>Search field</a:t>
            </a:r>
            <a:endParaRPr lang="bg-BG" sz="1200" dirty="0">
              <a:solidFill>
                <a:schemeClr val="tx1"/>
              </a:solidFill>
            </a:endParaRPr>
          </a:p>
        </p:txBody>
      </p:sp>
      <p:sp>
        <p:nvSpPr>
          <p:cNvPr id="25" name="Rounded Rectangle 24"/>
          <p:cNvSpPr/>
          <p:nvPr/>
        </p:nvSpPr>
        <p:spPr>
          <a:xfrm>
            <a:off x="6229350" y="1700602"/>
            <a:ext cx="935940" cy="303873"/>
          </a:xfrm>
          <a:prstGeom prst="roundRect">
            <a:avLst/>
          </a:prstGeom>
          <a:solidFill>
            <a:srgbClr val="00FF87">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chemeClr val="tx1"/>
                </a:solidFill>
              </a:rPr>
              <a:t>Columns</a:t>
            </a:r>
            <a:endParaRPr lang="bg-BG" sz="1200" dirty="0">
              <a:solidFill>
                <a:schemeClr val="tx1"/>
              </a:solidFill>
            </a:endParaRPr>
          </a:p>
        </p:txBody>
      </p:sp>
      <p:sp>
        <p:nvSpPr>
          <p:cNvPr id="27" name="Rounded Rectangle 26"/>
          <p:cNvSpPr/>
          <p:nvPr/>
        </p:nvSpPr>
        <p:spPr>
          <a:xfrm>
            <a:off x="8353349" y="5838825"/>
            <a:ext cx="1384694" cy="378492"/>
          </a:xfrm>
          <a:prstGeom prst="roundRect">
            <a:avLst/>
          </a:prstGeom>
          <a:solidFill>
            <a:srgbClr val="00FF87">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chemeClr val="tx1"/>
                </a:solidFill>
              </a:rPr>
              <a:t>Articles that are currently visible</a:t>
            </a:r>
            <a:endParaRPr lang="bg-BG" sz="1200" dirty="0">
              <a:solidFill>
                <a:schemeClr val="tx1"/>
              </a:solidFill>
            </a:endParaRPr>
          </a:p>
        </p:txBody>
      </p:sp>
      <p:sp>
        <p:nvSpPr>
          <p:cNvPr id="28" name="Rounded Rectangle 27"/>
          <p:cNvSpPr/>
          <p:nvPr/>
        </p:nvSpPr>
        <p:spPr>
          <a:xfrm>
            <a:off x="11031024" y="1301749"/>
            <a:ext cx="939346" cy="342402"/>
          </a:xfrm>
          <a:prstGeom prst="roundRect">
            <a:avLst/>
          </a:prstGeom>
          <a:solidFill>
            <a:srgbClr val="00FF87">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chemeClr val="tx1"/>
                </a:solidFill>
              </a:rPr>
              <a:t>Date filter</a:t>
            </a:r>
            <a:endParaRPr lang="bg-BG" sz="1200" dirty="0">
              <a:solidFill>
                <a:schemeClr val="tx1"/>
              </a:solidFill>
            </a:endParaRPr>
          </a:p>
        </p:txBody>
      </p:sp>
    </p:spTree>
    <p:extLst>
      <p:ext uri="{BB962C8B-B14F-4D97-AF65-F5344CB8AC3E}">
        <p14:creationId xmlns:p14="http://schemas.microsoft.com/office/powerpoint/2010/main" val="108561699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solidFill>
                  <a:schemeClr val="accent2"/>
                </a:solidFill>
              </a:rPr>
              <a:t>Left-hand side II</a:t>
            </a:r>
            <a:endParaRPr lang="en-GB" dirty="0">
              <a:solidFill>
                <a:schemeClr val="accent2"/>
              </a:solidFill>
            </a:endParaRPr>
          </a:p>
        </p:txBody>
      </p:sp>
      <p:sp>
        <p:nvSpPr>
          <p:cNvPr id="5" name="Content Placeholder 4"/>
          <p:cNvSpPr>
            <a:spLocks noGrp="1"/>
          </p:cNvSpPr>
          <p:nvPr>
            <p:ph sz="half" idx="1"/>
          </p:nvPr>
        </p:nvSpPr>
        <p:spPr>
          <a:xfrm>
            <a:off x="838200" y="1196974"/>
            <a:ext cx="5600700" cy="4994275"/>
          </a:xfrm>
        </p:spPr>
        <p:txBody>
          <a:bodyPr/>
          <a:lstStyle/>
          <a:p>
            <a:pPr>
              <a:lnSpc>
                <a:spcPct val="130000"/>
              </a:lnSpc>
              <a:spcBef>
                <a:spcPts val="0"/>
              </a:spcBef>
              <a:spcAft>
                <a:spcPts val="1200"/>
              </a:spcAft>
            </a:pPr>
            <a:r>
              <a:rPr lang="en-US" b="1" dirty="0"/>
              <a:t>Relevant / Irrelevant / Not Processed </a:t>
            </a:r>
            <a:r>
              <a:rPr lang="en-US" b="1" dirty="0" smtClean="0"/>
              <a:t>articles</a:t>
            </a:r>
            <a:endParaRPr lang="en-US" dirty="0" smtClean="0">
              <a:solidFill>
                <a:schemeClr val="accent4"/>
              </a:solidFill>
            </a:endParaRPr>
          </a:p>
          <a:p>
            <a:pPr lvl="0">
              <a:lnSpc>
                <a:spcPct val="130000"/>
              </a:lnSpc>
              <a:spcBef>
                <a:spcPts val="0"/>
              </a:spcBef>
              <a:spcAft>
                <a:spcPts val="1200"/>
              </a:spcAft>
            </a:pPr>
            <a:r>
              <a:rPr lang="en-US" dirty="0" smtClean="0">
                <a:solidFill>
                  <a:schemeClr val="accent4"/>
                </a:solidFill>
              </a:rPr>
              <a:t>Relevant</a:t>
            </a:r>
            <a:r>
              <a:rPr lang="en-US" dirty="0" smtClean="0"/>
              <a:t> </a:t>
            </a:r>
            <a:r>
              <a:rPr lang="en-US" dirty="0"/>
              <a:t>here means that the article has been considered relevant/</a:t>
            </a:r>
            <a:r>
              <a:rPr lang="en-US" b="1" dirty="0"/>
              <a:t>meaningful in the context of this particular project </a:t>
            </a:r>
            <a:r>
              <a:rPr lang="en-US" dirty="0"/>
              <a:t>according to the relevancy requirements provided by the client. Relevancy criteria are specific for each project, and the project manager is in charge of communicating them to the team.</a:t>
            </a:r>
          </a:p>
          <a:p>
            <a:pPr lvl="0">
              <a:lnSpc>
                <a:spcPct val="130000"/>
              </a:lnSpc>
              <a:spcBef>
                <a:spcPts val="0"/>
              </a:spcBef>
              <a:spcAft>
                <a:spcPts val="1200"/>
              </a:spcAft>
            </a:pPr>
            <a:r>
              <a:rPr lang="en-US" dirty="0">
                <a:solidFill>
                  <a:srgbClr val="FF0000"/>
                </a:solidFill>
              </a:rPr>
              <a:t>Not processed </a:t>
            </a:r>
            <a:r>
              <a:rPr lang="en-US" dirty="0"/>
              <a:t>is the “raw” article that has not yet been </a:t>
            </a:r>
            <a:r>
              <a:rPr lang="en-US" dirty="0" err="1"/>
              <a:t>analysed</a:t>
            </a:r>
            <a:r>
              <a:rPr lang="en-US" dirty="0"/>
              <a:t>.</a:t>
            </a:r>
          </a:p>
          <a:p>
            <a:pPr lvl="0">
              <a:lnSpc>
                <a:spcPct val="130000"/>
              </a:lnSpc>
              <a:spcBef>
                <a:spcPts val="0"/>
              </a:spcBef>
              <a:spcAft>
                <a:spcPts val="1200"/>
              </a:spcAft>
            </a:pPr>
            <a:r>
              <a:rPr lang="en-US" dirty="0">
                <a:solidFill>
                  <a:schemeClr val="tx1">
                    <a:lumMod val="50000"/>
                    <a:lumOff val="50000"/>
                  </a:schemeClr>
                </a:solidFill>
              </a:rPr>
              <a:t>Not relevant</a:t>
            </a:r>
            <a:r>
              <a:rPr lang="en-US" dirty="0"/>
              <a:t>: The article has been set to not relevant, meaning that it has been considered </a:t>
            </a:r>
            <a:r>
              <a:rPr lang="en-US" b="1" dirty="0"/>
              <a:t>irrelevant to the subject of the analysis</a:t>
            </a:r>
            <a:r>
              <a:rPr lang="en-US" dirty="0"/>
              <a:t>, i.e., the client. For example, the client is a company called Vienna Insurance Group, but the article mentions just Vienna as the </a:t>
            </a:r>
            <a:r>
              <a:rPr lang="en-US" dirty="0" smtClean="0"/>
              <a:t>city.</a:t>
            </a:r>
            <a:endParaRPr lang="en-US" dirty="0"/>
          </a:p>
          <a:p>
            <a:pPr lvl="0">
              <a:lnSpc>
                <a:spcPct val="130000"/>
              </a:lnSpc>
              <a:spcBef>
                <a:spcPts val="0"/>
              </a:spcBef>
              <a:spcAft>
                <a:spcPts val="1200"/>
              </a:spcAft>
            </a:pPr>
            <a:endParaRPr lang="en-US" dirty="0" smtClean="0"/>
          </a:p>
        </p:txBody>
      </p:sp>
      <p:sp>
        <p:nvSpPr>
          <p:cNvPr id="6" name="Rounded Rectangle 5"/>
          <p:cNvSpPr/>
          <p:nvPr/>
        </p:nvSpPr>
        <p:spPr>
          <a:xfrm>
            <a:off x="6438899" y="1196975"/>
            <a:ext cx="4913313" cy="479425"/>
          </a:xfrm>
          <a:prstGeom prst="roundRect">
            <a:avLst/>
          </a:prstGeom>
          <a:solidFill>
            <a:srgbClr val="00FF87">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smtClean="0">
                <a:solidFill>
                  <a:schemeClr val="tx1"/>
                </a:solidFill>
              </a:rPr>
              <a:t>You can see how many articles are currently visible at the bottom left side of the screen.</a:t>
            </a:r>
            <a:endParaRPr lang="bg-BG" sz="1400" dirty="0">
              <a:solidFill>
                <a:schemeClr val="tx1"/>
              </a:solidFill>
            </a:endParaRPr>
          </a:p>
        </p:txBody>
      </p:sp>
      <p:pic>
        <p:nvPicPr>
          <p:cNvPr id="7" name="Picture 6"/>
          <p:cNvPicPr/>
          <p:nvPr/>
        </p:nvPicPr>
        <p:blipFill>
          <a:blip r:embed="rId2"/>
          <a:stretch>
            <a:fillRect/>
          </a:stretch>
        </p:blipFill>
        <p:spPr>
          <a:xfrm>
            <a:off x="6532361" y="1806945"/>
            <a:ext cx="4819852" cy="383805"/>
          </a:xfrm>
          <a:prstGeom prst="rect">
            <a:avLst/>
          </a:prstGeom>
        </p:spPr>
      </p:pic>
      <p:sp>
        <p:nvSpPr>
          <p:cNvPr id="8" name="Rounded Rectangle 7"/>
          <p:cNvSpPr/>
          <p:nvPr/>
        </p:nvSpPr>
        <p:spPr>
          <a:xfrm>
            <a:off x="6438900" y="2296008"/>
            <a:ext cx="4913313" cy="1768362"/>
          </a:xfrm>
          <a:prstGeom prst="roundRect">
            <a:avLst/>
          </a:prstGeom>
          <a:solidFill>
            <a:srgbClr val="00FF87">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rPr>
              <a:t>This number depends on the filters you have applied. If you use the drop-down menu to select, let’s say, only the Relevant articles, the number at the bottom left side of the screen will correspond to the number of Relevant articles</a:t>
            </a:r>
            <a:r>
              <a:rPr lang="en-US" sz="1400" dirty="0" smtClean="0">
                <a:solidFill>
                  <a:schemeClr val="tx1"/>
                </a:solidFill>
              </a:rPr>
              <a:t>.</a:t>
            </a:r>
          </a:p>
          <a:p>
            <a:endParaRPr lang="en-US" sz="1400" dirty="0">
              <a:solidFill>
                <a:schemeClr val="tx1"/>
              </a:solidFill>
            </a:endParaRPr>
          </a:p>
          <a:p>
            <a:r>
              <a:rPr lang="en-US" sz="1400" dirty="0">
                <a:solidFill>
                  <a:schemeClr val="tx1"/>
                </a:solidFill>
              </a:rPr>
              <a:t>If the articles are too many, Cogent could split them into pages – If you want to see all articles, you can click on the drop-down menu at the bottom and select All.</a:t>
            </a:r>
          </a:p>
        </p:txBody>
      </p:sp>
      <p:pic>
        <p:nvPicPr>
          <p:cNvPr id="9" name="Picture 8"/>
          <p:cNvPicPr/>
          <p:nvPr/>
        </p:nvPicPr>
        <p:blipFill>
          <a:blip r:embed="rId3"/>
          <a:stretch>
            <a:fillRect/>
          </a:stretch>
        </p:blipFill>
        <p:spPr>
          <a:xfrm>
            <a:off x="6532361" y="4222015"/>
            <a:ext cx="2019300" cy="923925"/>
          </a:xfrm>
          <a:prstGeom prst="rect">
            <a:avLst/>
          </a:prstGeom>
        </p:spPr>
      </p:pic>
    </p:spTree>
    <p:extLst>
      <p:ext uri="{BB962C8B-B14F-4D97-AF65-F5344CB8AC3E}">
        <p14:creationId xmlns:p14="http://schemas.microsoft.com/office/powerpoint/2010/main" val="162482816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solidFill>
                  <a:schemeClr val="accent2"/>
                </a:solidFill>
              </a:rPr>
              <a:t>Left-hand side III</a:t>
            </a:r>
            <a:endParaRPr lang="en-GB" dirty="0">
              <a:solidFill>
                <a:schemeClr val="accent2"/>
              </a:solidFill>
            </a:endParaRPr>
          </a:p>
        </p:txBody>
      </p:sp>
      <p:sp>
        <p:nvSpPr>
          <p:cNvPr id="5" name="Content Placeholder 4"/>
          <p:cNvSpPr>
            <a:spLocks noGrp="1"/>
          </p:cNvSpPr>
          <p:nvPr>
            <p:ph sz="half" idx="1"/>
          </p:nvPr>
        </p:nvSpPr>
        <p:spPr>
          <a:xfrm>
            <a:off x="838199" y="1196974"/>
            <a:ext cx="10514013" cy="5003801"/>
          </a:xfrm>
        </p:spPr>
        <p:txBody>
          <a:bodyPr/>
          <a:lstStyle/>
          <a:p>
            <a:pPr>
              <a:lnSpc>
                <a:spcPct val="130000"/>
              </a:lnSpc>
              <a:spcBef>
                <a:spcPts val="0"/>
              </a:spcBef>
              <a:spcAft>
                <a:spcPts val="1200"/>
              </a:spcAft>
            </a:pPr>
            <a:r>
              <a:rPr lang="en-US" b="1" dirty="0" smtClean="0"/>
              <a:t>Date Filter</a:t>
            </a:r>
            <a:endParaRPr lang="en-US" dirty="0" smtClean="0">
              <a:solidFill>
                <a:schemeClr val="accent4"/>
              </a:solidFill>
            </a:endParaRPr>
          </a:p>
          <a:p>
            <a:pPr lvl="0">
              <a:lnSpc>
                <a:spcPct val="130000"/>
              </a:lnSpc>
              <a:spcBef>
                <a:spcPts val="0"/>
              </a:spcBef>
              <a:spcAft>
                <a:spcPts val="1200"/>
              </a:spcAft>
            </a:pPr>
            <a:r>
              <a:rPr lang="en-US" dirty="0"/>
              <a:t>You can further filter the view of articles by applying a </a:t>
            </a:r>
            <a:r>
              <a:rPr lang="en-US" b="1" dirty="0"/>
              <a:t>date filter</a:t>
            </a:r>
            <a:r>
              <a:rPr lang="en-US" dirty="0"/>
              <a:t>. If you want to isolate only the Relevant articles for the month of April, you will select Relevant from the drop-down menu at the top and you will apply a date filter</a:t>
            </a:r>
            <a:r>
              <a:rPr lang="en-US" dirty="0" smtClean="0"/>
              <a:t>.</a:t>
            </a:r>
          </a:p>
          <a:p>
            <a:pPr lvl="0">
              <a:lnSpc>
                <a:spcPct val="130000"/>
              </a:lnSpc>
              <a:spcBef>
                <a:spcPts val="0"/>
              </a:spcBef>
              <a:spcAft>
                <a:spcPts val="1200"/>
              </a:spcAft>
            </a:pPr>
            <a:endParaRPr lang="en-US" dirty="0"/>
          </a:p>
          <a:p>
            <a:pPr lvl="0">
              <a:lnSpc>
                <a:spcPct val="130000"/>
              </a:lnSpc>
              <a:spcBef>
                <a:spcPts val="0"/>
              </a:spcBef>
              <a:spcAft>
                <a:spcPts val="1200"/>
              </a:spcAft>
            </a:pPr>
            <a:r>
              <a:rPr lang="en-US" b="1" dirty="0" smtClean="0"/>
              <a:t>Columns</a:t>
            </a:r>
            <a:endParaRPr lang="en-US" b="1" dirty="0"/>
          </a:p>
          <a:p>
            <a:pPr lvl="0">
              <a:lnSpc>
                <a:spcPct val="130000"/>
              </a:lnSpc>
              <a:spcBef>
                <a:spcPts val="0"/>
              </a:spcBef>
              <a:spcAft>
                <a:spcPts val="1200"/>
              </a:spcAft>
            </a:pPr>
            <a:endParaRPr lang="bg-BG" dirty="0" smtClean="0"/>
          </a:p>
          <a:p>
            <a:pPr lvl="0">
              <a:lnSpc>
                <a:spcPct val="130000"/>
              </a:lnSpc>
              <a:spcBef>
                <a:spcPts val="0"/>
              </a:spcBef>
              <a:spcAft>
                <a:spcPts val="1200"/>
              </a:spcAft>
            </a:pPr>
            <a:endParaRPr lang="bg-BG" dirty="0"/>
          </a:p>
          <a:p>
            <a:pPr>
              <a:lnSpc>
                <a:spcPct val="130000"/>
              </a:lnSpc>
              <a:spcBef>
                <a:spcPts val="0"/>
              </a:spcBef>
              <a:spcAft>
                <a:spcPts val="1200"/>
              </a:spcAft>
            </a:pPr>
            <a:r>
              <a:rPr lang="en-US" dirty="0"/>
              <a:t>Each article has its own descriptors we refer to as </a:t>
            </a:r>
            <a:r>
              <a:rPr lang="en-US" b="1" dirty="0"/>
              <a:t>metadata</a:t>
            </a:r>
            <a:r>
              <a:rPr lang="en-US" dirty="0"/>
              <a:t>. Some of this data we receive automatically (for example the date and month of the article, the publication name, the headline), while others we fill in ourselves while </a:t>
            </a:r>
            <a:r>
              <a:rPr lang="en-US" dirty="0" err="1"/>
              <a:t>analysing</a:t>
            </a:r>
            <a:r>
              <a:rPr lang="en-US" dirty="0"/>
              <a:t> the coverage (for example Author name, Sentiment, Relevance). This data is situated in </a:t>
            </a:r>
            <a:r>
              <a:rPr lang="en-US" b="1" dirty="0"/>
              <a:t>columns</a:t>
            </a:r>
            <a:r>
              <a:rPr lang="en-US" dirty="0"/>
              <a:t>, </a:t>
            </a:r>
            <a:r>
              <a:rPr lang="bg-BG" dirty="0"/>
              <a:t>similar</a:t>
            </a:r>
            <a:r>
              <a:rPr lang="en-US" dirty="0"/>
              <a:t> to an Excel table. </a:t>
            </a:r>
            <a:endParaRPr lang="bg-BG" dirty="0"/>
          </a:p>
        </p:txBody>
      </p:sp>
      <p:pic>
        <p:nvPicPr>
          <p:cNvPr id="10" name="Picture 9"/>
          <p:cNvPicPr/>
          <p:nvPr/>
        </p:nvPicPr>
        <p:blipFill rotWithShape="1">
          <a:blip r:embed="rId2"/>
          <a:srcRect l="-1" t="30677" r="283"/>
          <a:stretch/>
        </p:blipFill>
        <p:spPr>
          <a:xfrm>
            <a:off x="839788" y="2389942"/>
            <a:ext cx="3362325" cy="455611"/>
          </a:xfrm>
          <a:prstGeom prst="rect">
            <a:avLst/>
          </a:prstGeom>
        </p:spPr>
      </p:pic>
      <p:pic>
        <p:nvPicPr>
          <p:cNvPr id="2" name="Picture 1"/>
          <p:cNvPicPr>
            <a:picLocks noChangeAspect="1"/>
          </p:cNvPicPr>
          <p:nvPr/>
        </p:nvPicPr>
        <p:blipFill>
          <a:blip r:embed="rId3"/>
          <a:stretch>
            <a:fillRect/>
          </a:stretch>
        </p:blipFill>
        <p:spPr>
          <a:xfrm>
            <a:off x="838199" y="3233250"/>
            <a:ext cx="5820296" cy="931247"/>
          </a:xfrm>
          <a:prstGeom prst="rect">
            <a:avLst/>
          </a:prstGeom>
        </p:spPr>
      </p:pic>
      <p:sp>
        <p:nvSpPr>
          <p:cNvPr id="12" name="Rounded Rectangle 11"/>
          <p:cNvSpPr/>
          <p:nvPr/>
        </p:nvSpPr>
        <p:spPr>
          <a:xfrm>
            <a:off x="838199" y="5715000"/>
            <a:ext cx="10296526" cy="485775"/>
          </a:xfrm>
          <a:prstGeom prst="roundRect">
            <a:avLst/>
          </a:prstGeom>
          <a:solidFill>
            <a:srgbClr val="00FF87">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30000"/>
              </a:lnSpc>
              <a:spcBef>
                <a:spcPts val="0"/>
              </a:spcBef>
              <a:spcAft>
                <a:spcPts val="1200"/>
              </a:spcAft>
            </a:pPr>
            <a:r>
              <a:rPr lang="en-GB" sz="1400" dirty="0">
                <a:solidFill>
                  <a:schemeClr val="tx1"/>
                </a:solidFill>
              </a:rPr>
              <a:t>We </a:t>
            </a:r>
            <a:r>
              <a:rPr lang="en-GB" sz="1400" dirty="0" smtClean="0">
                <a:solidFill>
                  <a:schemeClr val="tx1"/>
                </a:solidFill>
              </a:rPr>
              <a:t>continue </a:t>
            </a:r>
            <a:r>
              <a:rPr lang="en-GB" sz="1400" dirty="0">
                <a:solidFill>
                  <a:schemeClr val="tx1"/>
                </a:solidFill>
              </a:rPr>
              <a:t>to explore these Columns on the next slide. Don’t forget that we are still </a:t>
            </a:r>
            <a:r>
              <a:rPr lang="en-GB" sz="1400" dirty="0" smtClean="0">
                <a:solidFill>
                  <a:schemeClr val="tx1"/>
                </a:solidFill>
              </a:rPr>
              <a:t>focused on </a:t>
            </a:r>
            <a:r>
              <a:rPr lang="en-GB" sz="1400" dirty="0">
                <a:solidFill>
                  <a:schemeClr val="tx1"/>
                </a:solidFill>
              </a:rPr>
              <a:t>the left side of the screen.</a:t>
            </a:r>
            <a:endParaRPr lang="bg-BG" sz="1400" dirty="0">
              <a:solidFill>
                <a:schemeClr val="tx1"/>
              </a:solidFill>
            </a:endParaRPr>
          </a:p>
        </p:txBody>
      </p:sp>
      <p:sp>
        <p:nvSpPr>
          <p:cNvPr id="7" name="TextBox 6"/>
          <p:cNvSpPr txBox="1"/>
          <p:nvPr/>
        </p:nvSpPr>
        <p:spPr>
          <a:xfrm>
            <a:off x="3543820" y="4126467"/>
            <a:ext cx="3114675" cy="261610"/>
          </a:xfrm>
          <a:prstGeom prst="rect">
            <a:avLst/>
          </a:prstGeom>
          <a:noFill/>
        </p:spPr>
        <p:txBody>
          <a:bodyPr wrap="square" rtlCol="0">
            <a:spAutoFit/>
          </a:bodyPr>
          <a:lstStyle/>
          <a:p>
            <a:r>
              <a:rPr lang="en-GB" sz="1100" i="1" dirty="0"/>
              <a:t>Non-exhaustive visualisation </a:t>
            </a:r>
            <a:r>
              <a:rPr lang="en-GB" sz="1100" i="1" dirty="0" smtClean="0"/>
              <a:t>of columns</a:t>
            </a:r>
            <a:endParaRPr lang="bg-BG" sz="1100" i="1" dirty="0"/>
          </a:p>
        </p:txBody>
      </p:sp>
    </p:spTree>
    <p:extLst>
      <p:ext uri="{BB962C8B-B14F-4D97-AF65-F5344CB8AC3E}">
        <p14:creationId xmlns:p14="http://schemas.microsoft.com/office/powerpoint/2010/main" val="404403545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solidFill>
                  <a:schemeClr val="accent2"/>
                </a:solidFill>
              </a:rPr>
              <a:t>Left-hand side IV</a:t>
            </a:r>
            <a:endParaRPr lang="en-GB" dirty="0">
              <a:solidFill>
                <a:schemeClr val="accent2"/>
              </a:solidFill>
            </a:endParaRPr>
          </a:p>
        </p:txBody>
      </p:sp>
      <p:sp>
        <p:nvSpPr>
          <p:cNvPr id="5" name="Content Placeholder 4"/>
          <p:cNvSpPr>
            <a:spLocks noGrp="1"/>
          </p:cNvSpPr>
          <p:nvPr>
            <p:ph sz="half" idx="1"/>
          </p:nvPr>
        </p:nvSpPr>
        <p:spPr>
          <a:xfrm>
            <a:off x="838199" y="1196974"/>
            <a:ext cx="10514013" cy="5003801"/>
          </a:xfrm>
        </p:spPr>
        <p:txBody>
          <a:bodyPr/>
          <a:lstStyle/>
          <a:p>
            <a:pPr>
              <a:lnSpc>
                <a:spcPct val="130000"/>
              </a:lnSpc>
              <a:spcBef>
                <a:spcPts val="0"/>
              </a:spcBef>
              <a:spcAft>
                <a:spcPts val="1200"/>
              </a:spcAft>
            </a:pPr>
            <a:r>
              <a:rPr lang="en-US" b="1" dirty="0"/>
              <a:t>Column </a:t>
            </a:r>
            <a:r>
              <a:rPr lang="en-US" b="1" dirty="0" smtClean="0"/>
              <a:t>actions</a:t>
            </a:r>
          </a:p>
          <a:p>
            <a:pPr marL="285750" indent="-285750">
              <a:lnSpc>
                <a:spcPct val="130000"/>
              </a:lnSpc>
              <a:spcBef>
                <a:spcPts val="0"/>
              </a:spcBef>
              <a:spcAft>
                <a:spcPts val="1200"/>
              </a:spcAft>
              <a:buFont typeface="Arial" panose="020B0604020202020204" pitchFamily="34" charset="0"/>
              <a:buChar char="•"/>
            </a:pPr>
            <a:r>
              <a:rPr lang="en-US" b="1" dirty="0" smtClean="0"/>
              <a:t>Clicking </a:t>
            </a:r>
            <a:r>
              <a:rPr lang="en-US" b="1" dirty="0"/>
              <a:t>on a column name </a:t>
            </a:r>
            <a:r>
              <a:rPr lang="en-US" dirty="0"/>
              <a:t>will </a:t>
            </a:r>
            <a:r>
              <a:rPr lang="en-US" b="1" dirty="0"/>
              <a:t>sort the articles </a:t>
            </a:r>
            <a:r>
              <a:rPr lang="en-US" dirty="0"/>
              <a:t>in ascending/descending order, chronologically, or alphabetically, depending on the column that you are sorting by (ID, date/time, title etc.). By default, the articles are sorted by ID in ascending order and by time and date in chronological </a:t>
            </a:r>
            <a:r>
              <a:rPr lang="en-US" dirty="0" smtClean="0"/>
              <a:t>order.</a:t>
            </a:r>
          </a:p>
          <a:p>
            <a:pPr marL="285750" indent="-285750">
              <a:lnSpc>
                <a:spcPct val="130000"/>
              </a:lnSpc>
              <a:spcBef>
                <a:spcPts val="0"/>
              </a:spcBef>
              <a:spcAft>
                <a:spcPts val="1200"/>
              </a:spcAft>
              <a:buFont typeface="Arial" panose="020B0604020202020204" pitchFamily="34" charset="0"/>
              <a:buChar char="•"/>
            </a:pPr>
            <a:r>
              <a:rPr lang="en-US" dirty="0" smtClean="0"/>
              <a:t>You </a:t>
            </a:r>
            <a:r>
              <a:rPr lang="en-US" dirty="0"/>
              <a:t>can </a:t>
            </a:r>
            <a:r>
              <a:rPr lang="en-US" b="1" dirty="0"/>
              <a:t>rearrange the columns </a:t>
            </a:r>
            <a:r>
              <a:rPr lang="en-US" dirty="0"/>
              <a:t>according to your needs by using drag and drop</a:t>
            </a:r>
            <a:r>
              <a:rPr lang="en-US" dirty="0" smtClean="0"/>
              <a:t>.</a:t>
            </a:r>
          </a:p>
          <a:p>
            <a:pPr marL="285750" indent="-285750">
              <a:lnSpc>
                <a:spcPct val="130000"/>
              </a:lnSpc>
              <a:spcBef>
                <a:spcPts val="0"/>
              </a:spcBef>
              <a:spcAft>
                <a:spcPts val="1200"/>
              </a:spcAft>
              <a:buFont typeface="Arial" panose="020B0604020202020204" pitchFamily="34" charset="0"/>
              <a:buChar char="•"/>
            </a:pPr>
            <a:r>
              <a:rPr lang="en-US" dirty="0" smtClean="0"/>
              <a:t>You </a:t>
            </a:r>
            <a:r>
              <a:rPr lang="en-US" dirty="0"/>
              <a:t>can also </a:t>
            </a:r>
            <a:r>
              <a:rPr lang="en-US" b="1" dirty="0"/>
              <a:t>group articles by column</a:t>
            </a:r>
            <a:r>
              <a:rPr lang="en-US" dirty="0"/>
              <a:t>. To do so, drag and drop a column in the field above the column names. You can group by as many columns as you want. </a:t>
            </a:r>
          </a:p>
          <a:p>
            <a:pPr>
              <a:lnSpc>
                <a:spcPct val="130000"/>
              </a:lnSpc>
              <a:spcBef>
                <a:spcPts val="0"/>
              </a:spcBef>
              <a:spcAft>
                <a:spcPts val="1200"/>
              </a:spcAft>
            </a:pPr>
            <a:endParaRPr lang="en-US" dirty="0" smtClean="0">
              <a:solidFill>
                <a:schemeClr val="accent4"/>
              </a:solidFill>
            </a:endParaRPr>
          </a:p>
          <a:p>
            <a:pPr lvl="0">
              <a:lnSpc>
                <a:spcPct val="130000"/>
              </a:lnSpc>
              <a:spcBef>
                <a:spcPts val="0"/>
              </a:spcBef>
              <a:spcAft>
                <a:spcPts val="1200"/>
              </a:spcAft>
            </a:pPr>
            <a:endParaRPr lang="bg-BG" dirty="0"/>
          </a:p>
        </p:txBody>
      </p:sp>
      <p:pic>
        <p:nvPicPr>
          <p:cNvPr id="7" name="Picture 6"/>
          <p:cNvPicPr/>
          <p:nvPr/>
        </p:nvPicPr>
        <p:blipFill>
          <a:blip r:embed="rId2"/>
          <a:stretch>
            <a:fillRect/>
          </a:stretch>
        </p:blipFill>
        <p:spPr>
          <a:xfrm>
            <a:off x="890589" y="3914775"/>
            <a:ext cx="3114675" cy="2019300"/>
          </a:xfrm>
          <a:prstGeom prst="rect">
            <a:avLst/>
          </a:prstGeom>
        </p:spPr>
      </p:pic>
      <p:pic>
        <p:nvPicPr>
          <p:cNvPr id="9" name="Picture 8"/>
          <p:cNvPicPr/>
          <p:nvPr/>
        </p:nvPicPr>
        <p:blipFill>
          <a:blip r:embed="rId3"/>
          <a:stretch>
            <a:fillRect/>
          </a:stretch>
        </p:blipFill>
        <p:spPr>
          <a:xfrm>
            <a:off x="7500938" y="3962399"/>
            <a:ext cx="3190875" cy="1533525"/>
          </a:xfrm>
          <a:prstGeom prst="rect">
            <a:avLst/>
          </a:prstGeom>
        </p:spPr>
      </p:pic>
      <p:sp>
        <p:nvSpPr>
          <p:cNvPr id="3" name="TextBox 2"/>
          <p:cNvSpPr txBox="1"/>
          <p:nvPr/>
        </p:nvSpPr>
        <p:spPr>
          <a:xfrm>
            <a:off x="838199" y="5939165"/>
            <a:ext cx="3114675" cy="261610"/>
          </a:xfrm>
          <a:prstGeom prst="rect">
            <a:avLst/>
          </a:prstGeom>
          <a:noFill/>
        </p:spPr>
        <p:txBody>
          <a:bodyPr wrap="square" rtlCol="0">
            <a:spAutoFit/>
          </a:bodyPr>
          <a:lstStyle/>
          <a:p>
            <a:r>
              <a:rPr lang="en-GB" sz="1100" i="1" dirty="0"/>
              <a:t>example of grouping by the Publication column</a:t>
            </a:r>
            <a:endParaRPr lang="bg-BG" sz="1100" i="1" dirty="0"/>
          </a:p>
        </p:txBody>
      </p:sp>
      <p:sp>
        <p:nvSpPr>
          <p:cNvPr id="11" name="TextBox 10"/>
          <p:cNvSpPr txBox="1"/>
          <p:nvPr/>
        </p:nvSpPr>
        <p:spPr>
          <a:xfrm>
            <a:off x="4470400" y="5048249"/>
            <a:ext cx="3114675" cy="769441"/>
          </a:xfrm>
          <a:prstGeom prst="rect">
            <a:avLst/>
          </a:prstGeom>
          <a:noFill/>
        </p:spPr>
        <p:txBody>
          <a:bodyPr wrap="square" rtlCol="0">
            <a:spAutoFit/>
          </a:bodyPr>
          <a:lstStyle/>
          <a:p>
            <a:r>
              <a:rPr lang="en-US" sz="1100" i="1" dirty="0"/>
              <a:t>example of grouping by Sentiment and Publication. If you click on the 6 Negative articles, you can see the media sources that have published them</a:t>
            </a:r>
            <a:endParaRPr lang="bg-BG" sz="1100" i="1" dirty="0"/>
          </a:p>
        </p:txBody>
      </p:sp>
      <p:pic>
        <p:nvPicPr>
          <p:cNvPr id="13" name="Picture 12"/>
          <p:cNvPicPr/>
          <p:nvPr/>
        </p:nvPicPr>
        <p:blipFill>
          <a:blip r:embed="rId4"/>
          <a:stretch>
            <a:fillRect/>
          </a:stretch>
        </p:blipFill>
        <p:spPr>
          <a:xfrm>
            <a:off x="4533900" y="4000499"/>
            <a:ext cx="2171700" cy="1047750"/>
          </a:xfrm>
          <a:prstGeom prst="rect">
            <a:avLst/>
          </a:prstGeom>
        </p:spPr>
      </p:pic>
    </p:spTree>
    <p:extLst>
      <p:ext uri="{BB962C8B-B14F-4D97-AF65-F5344CB8AC3E}">
        <p14:creationId xmlns:p14="http://schemas.microsoft.com/office/powerpoint/2010/main" val="301664746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solidFill>
                  <a:schemeClr val="accent2"/>
                </a:solidFill>
              </a:rPr>
              <a:t>Left-hand side V</a:t>
            </a:r>
            <a:endParaRPr lang="en-GB" dirty="0">
              <a:solidFill>
                <a:schemeClr val="accent2"/>
              </a:solidFill>
            </a:endParaRPr>
          </a:p>
        </p:txBody>
      </p:sp>
      <p:sp>
        <p:nvSpPr>
          <p:cNvPr id="5" name="Content Placeholder 4"/>
          <p:cNvSpPr>
            <a:spLocks noGrp="1"/>
          </p:cNvSpPr>
          <p:nvPr>
            <p:ph sz="half" idx="1"/>
          </p:nvPr>
        </p:nvSpPr>
        <p:spPr>
          <a:xfrm>
            <a:off x="838199" y="1196974"/>
            <a:ext cx="10514013" cy="5003801"/>
          </a:xfrm>
        </p:spPr>
        <p:txBody>
          <a:bodyPr/>
          <a:lstStyle/>
          <a:p>
            <a:pPr>
              <a:lnSpc>
                <a:spcPct val="130000"/>
              </a:lnSpc>
              <a:spcBef>
                <a:spcPts val="0"/>
              </a:spcBef>
              <a:spcAft>
                <a:spcPts val="1200"/>
              </a:spcAft>
            </a:pPr>
            <a:r>
              <a:rPr lang="en-US" b="1" dirty="0"/>
              <a:t>Column </a:t>
            </a:r>
            <a:r>
              <a:rPr lang="en-US" b="1" dirty="0" smtClean="0"/>
              <a:t>actions</a:t>
            </a:r>
          </a:p>
          <a:p>
            <a:pPr marL="285750" indent="-285750">
              <a:lnSpc>
                <a:spcPct val="130000"/>
              </a:lnSpc>
              <a:spcBef>
                <a:spcPts val="0"/>
              </a:spcBef>
              <a:spcAft>
                <a:spcPts val="1200"/>
              </a:spcAft>
              <a:buFont typeface="Arial" panose="020B0604020202020204" pitchFamily="34" charset="0"/>
              <a:buChar char="•"/>
            </a:pPr>
            <a:r>
              <a:rPr lang="en-US" b="1" dirty="0" smtClean="0"/>
              <a:t>Applying </a:t>
            </a:r>
            <a:r>
              <a:rPr lang="en-US" b="1" dirty="0"/>
              <a:t>a filter to a column: </a:t>
            </a:r>
            <a:r>
              <a:rPr lang="en-US" dirty="0"/>
              <a:t>You will notice that some of the columns have a filter option (little funnel next to the column name – see Publication, Sentiment). It is used to narrow down the displayed article list to your specific </a:t>
            </a:r>
            <a:r>
              <a:rPr lang="en-US" dirty="0" smtClean="0"/>
              <a:t>criteria.</a:t>
            </a:r>
            <a:br>
              <a:rPr lang="en-US" dirty="0" smtClean="0"/>
            </a:br>
            <a:r>
              <a:rPr lang="en-US" dirty="0" smtClean="0"/>
              <a:t>For </a:t>
            </a:r>
            <a:r>
              <a:rPr lang="en-US" dirty="0"/>
              <a:t>example, we may want to see a list only of the articles with positive Sentiment. To do this, click the filter of the Sentiment column and select Positive from the options, and click Apply. The little filter icon in the column will turn </a:t>
            </a:r>
            <a:r>
              <a:rPr lang="en-US" dirty="0">
                <a:solidFill>
                  <a:schemeClr val="accent5"/>
                </a:solidFill>
              </a:rPr>
              <a:t>orange</a:t>
            </a:r>
            <a:r>
              <a:rPr lang="en-US" dirty="0"/>
              <a:t>, thus indicating that this filter has been applied to the article list.</a:t>
            </a:r>
          </a:p>
          <a:p>
            <a:pPr lvl="0">
              <a:lnSpc>
                <a:spcPct val="130000"/>
              </a:lnSpc>
              <a:spcBef>
                <a:spcPts val="0"/>
              </a:spcBef>
              <a:spcAft>
                <a:spcPts val="1200"/>
              </a:spcAft>
            </a:pPr>
            <a:endParaRPr lang="bg-BG" dirty="0"/>
          </a:p>
        </p:txBody>
      </p:sp>
      <p:pic>
        <p:nvPicPr>
          <p:cNvPr id="2" name="Picture 1"/>
          <p:cNvPicPr>
            <a:picLocks noChangeAspect="1"/>
          </p:cNvPicPr>
          <p:nvPr/>
        </p:nvPicPr>
        <p:blipFill>
          <a:blip r:embed="rId2"/>
          <a:stretch>
            <a:fillRect/>
          </a:stretch>
        </p:blipFill>
        <p:spPr>
          <a:xfrm>
            <a:off x="2695506" y="2371703"/>
            <a:ext cx="990738" cy="304843"/>
          </a:xfrm>
          <a:prstGeom prst="rect">
            <a:avLst/>
          </a:prstGeom>
        </p:spPr>
      </p:pic>
      <p:pic>
        <p:nvPicPr>
          <p:cNvPr id="10" name="Picture 9"/>
          <p:cNvPicPr/>
          <p:nvPr/>
        </p:nvPicPr>
        <p:blipFill>
          <a:blip r:embed="rId3"/>
          <a:stretch>
            <a:fillRect/>
          </a:stretch>
        </p:blipFill>
        <p:spPr>
          <a:xfrm>
            <a:off x="1109662" y="3698874"/>
            <a:ext cx="2295525" cy="2343150"/>
          </a:xfrm>
          <a:prstGeom prst="rect">
            <a:avLst/>
          </a:prstGeom>
        </p:spPr>
      </p:pic>
      <p:pic>
        <p:nvPicPr>
          <p:cNvPr id="12" name="Picture 11"/>
          <p:cNvPicPr/>
          <p:nvPr/>
        </p:nvPicPr>
        <p:blipFill>
          <a:blip r:embed="rId4"/>
          <a:stretch>
            <a:fillRect/>
          </a:stretch>
        </p:blipFill>
        <p:spPr>
          <a:xfrm>
            <a:off x="3543300" y="3698874"/>
            <a:ext cx="1123950" cy="1562100"/>
          </a:xfrm>
          <a:prstGeom prst="rect">
            <a:avLst/>
          </a:prstGeom>
        </p:spPr>
      </p:pic>
      <p:sp>
        <p:nvSpPr>
          <p:cNvPr id="14" name="Rounded Rectangle 13"/>
          <p:cNvSpPr/>
          <p:nvPr/>
        </p:nvSpPr>
        <p:spPr>
          <a:xfrm>
            <a:off x="4922043" y="3698874"/>
            <a:ext cx="4913313" cy="479425"/>
          </a:xfrm>
          <a:prstGeom prst="roundRect">
            <a:avLst/>
          </a:prstGeom>
          <a:solidFill>
            <a:srgbClr val="00FF87">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smtClean="0">
                <a:solidFill>
                  <a:schemeClr val="tx1"/>
                </a:solidFill>
              </a:rPr>
              <a:t>Be careful! The column filtering will remain in action until you remove it.</a:t>
            </a:r>
            <a:endParaRPr lang="bg-BG" sz="1400" dirty="0">
              <a:solidFill>
                <a:schemeClr val="tx1"/>
              </a:solidFill>
            </a:endParaRPr>
          </a:p>
        </p:txBody>
      </p:sp>
      <p:sp>
        <p:nvSpPr>
          <p:cNvPr id="15" name="Rounded Rectangle 14"/>
          <p:cNvSpPr/>
          <p:nvPr/>
        </p:nvSpPr>
        <p:spPr>
          <a:xfrm>
            <a:off x="4922043" y="4305471"/>
            <a:ext cx="4913313" cy="479425"/>
          </a:xfrm>
          <a:prstGeom prst="roundRect">
            <a:avLst/>
          </a:prstGeom>
          <a:solidFill>
            <a:srgbClr val="00FF87">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smtClean="0">
                <a:solidFill>
                  <a:schemeClr val="tx1"/>
                </a:solidFill>
              </a:rPr>
              <a:t>This marks the end of Column actions – for now.</a:t>
            </a:r>
            <a:endParaRPr lang="bg-BG" sz="1400" dirty="0">
              <a:solidFill>
                <a:schemeClr val="tx1"/>
              </a:solidFill>
            </a:endParaRPr>
          </a:p>
        </p:txBody>
      </p:sp>
    </p:spTree>
    <p:extLst>
      <p:ext uri="{BB962C8B-B14F-4D97-AF65-F5344CB8AC3E}">
        <p14:creationId xmlns:p14="http://schemas.microsoft.com/office/powerpoint/2010/main" val="72728657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solidFill>
                  <a:schemeClr val="accent2"/>
                </a:solidFill>
              </a:rPr>
              <a:t>Left-hand side VI</a:t>
            </a:r>
            <a:endParaRPr lang="en-GB" dirty="0">
              <a:solidFill>
                <a:schemeClr val="accent2"/>
              </a:solidFill>
            </a:endParaRPr>
          </a:p>
        </p:txBody>
      </p:sp>
      <p:sp>
        <p:nvSpPr>
          <p:cNvPr id="5" name="Content Placeholder 4"/>
          <p:cNvSpPr>
            <a:spLocks noGrp="1"/>
          </p:cNvSpPr>
          <p:nvPr>
            <p:ph sz="half" idx="1"/>
          </p:nvPr>
        </p:nvSpPr>
        <p:spPr>
          <a:xfrm>
            <a:off x="838200" y="1196974"/>
            <a:ext cx="6518276" cy="4908551"/>
          </a:xfrm>
        </p:spPr>
        <p:txBody>
          <a:bodyPr/>
          <a:lstStyle/>
          <a:p>
            <a:pPr>
              <a:lnSpc>
                <a:spcPct val="130000"/>
              </a:lnSpc>
              <a:spcBef>
                <a:spcPts val="0"/>
              </a:spcBef>
              <a:spcAft>
                <a:spcPts val="1200"/>
              </a:spcAft>
            </a:pPr>
            <a:r>
              <a:rPr lang="en-US" b="1" dirty="0" smtClean="0"/>
              <a:t>Search</a:t>
            </a:r>
          </a:p>
          <a:p>
            <a:pPr>
              <a:lnSpc>
                <a:spcPct val="130000"/>
              </a:lnSpc>
              <a:spcBef>
                <a:spcPts val="0"/>
              </a:spcBef>
              <a:spcAft>
                <a:spcPts val="1200"/>
              </a:spcAft>
            </a:pPr>
            <a:r>
              <a:rPr lang="en-US" dirty="0"/>
              <a:t>The Search works in a similar way to a </a:t>
            </a:r>
            <a:r>
              <a:rPr lang="en-US" b="1" dirty="0"/>
              <a:t>Google search</a:t>
            </a:r>
            <a:r>
              <a:rPr lang="en-US" dirty="0"/>
              <a:t> – you can look for mentions of a keyword or create more complex </a:t>
            </a:r>
            <a:r>
              <a:rPr lang="en-US" b="1" dirty="0"/>
              <a:t>Boolean</a:t>
            </a:r>
            <a:r>
              <a:rPr lang="en-US" dirty="0"/>
              <a:t> searches. The simplest search would be of a single keyword, with Cogent checking if the word is present in the </a:t>
            </a:r>
            <a:r>
              <a:rPr lang="en-US" b="1" dirty="0"/>
              <a:t>headline or the body </a:t>
            </a:r>
            <a:r>
              <a:rPr lang="en-US" dirty="0"/>
              <a:t>of the article. If you add an </a:t>
            </a:r>
            <a:r>
              <a:rPr lang="en-US" b="1" dirty="0"/>
              <a:t>*</a:t>
            </a:r>
            <a:r>
              <a:rPr lang="en-US" dirty="0"/>
              <a:t> sign after the word, Cogent will look for the word + any letters or characters after it. You can search for two words at the same time by using the </a:t>
            </a:r>
            <a:r>
              <a:rPr lang="en-US" b="1" dirty="0"/>
              <a:t>operator AND</a:t>
            </a:r>
            <a:r>
              <a:rPr lang="en-US" dirty="0"/>
              <a:t>. Once you run the search, Cogent will show you only the articles that adhere to the requirement. Searches do not affect all of the other filtering options, meaning you can use them in conjunction. </a:t>
            </a:r>
            <a:r>
              <a:rPr lang="en-US" b="1" dirty="0"/>
              <a:t>Searches will not work if you don’t have the body of the article in Cogent.</a:t>
            </a:r>
            <a:endParaRPr lang="bg-BG" b="1" dirty="0"/>
          </a:p>
        </p:txBody>
      </p:sp>
      <p:sp>
        <p:nvSpPr>
          <p:cNvPr id="9" name="Rounded Rectangle 8"/>
          <p:cNvSpPr/>
          <p:nvPr/>
        </p:nvSpPr>
        <p:spPr>
          <a:xfrm>
            <a:off x="763588" y="5219698"/>
            <a:ext cx="10588625" cy="1109407"/>
          </a:xfrm>
          <a:prstGeom prst="roundRect">
            <a:avLst/>
          </a:prstGeom>
          <a:solidFill>
            <a:srgbClr val="00FF87">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rPr>
              <a:t>You can also search for </a:t>
            </a:r>
            <a:r>
              <a:rPr lang="en-US" sz="1400" b="1" dirty="0">
                <a:solidFill>
                  <a:schemeClr val="tx1"/>
                </a:solidFill>
              </a:rPr>
              <a:t>whole sentences </a:t>
            </a:r>
            <a:r>
              <a:rPr lang="en-US" sz="1400" dirty="0">
                <a:solidFill>
                  <a:schemeClr val="tx1"/>
                </a:solidFill>
              </a:rPr>
              <a:t>if you add them in brackets (i.e. “Energy experts look to next winter as gas crisis is set to continue in 2023”). This is very useful in case of </a:t>
            </a:r>
            <a:r>
              <a:rPr lang="en-US" sz="1400" b="1" dirty="0">
                <a:solidFill>
                  <a:schemeClr val="tx1"/>
                </a:solidFill>
              </a:rPr>
              <a:t>a batch (cluster) of articles </a:t>
            </a:r>
            <a:r>
              <a:rPr lang="en-US" sz="1400" dirty="0" smtClean="0">
                <a:solidFill>
                  <a:schemeClr val="tx1"/>
                </a:solidFill>
              </a:rPr>
              <a:t>– when </a:t>
            </a:r>
            <a:r>
              <a:rPr lang="en-US" sz="1400" dirty="0">
                <a:solidFill>
                  <a:schemeClr val="tx1"/>
                </a:solidFill>
              </a:rPr>
              <a:t>an article has been reprinted (copied and reissued) in its entirety by several other publications, this creates a batch of articles. The content of all pieces is the same, meaning that the coding should be identical across the cluster. Using the search, you can isolate the articles and code them simultaneously using the Copy or Set to All </a:t>
            </a:r>
            <a:r>
              <a:rPr lang="en-US" sz="1400" dirty="0" smtClean="0">
                <a:solidFill>
                  <a:schemeClr val="tx1"/>
                </a:solidFill>
              </a:rPr>
              <a:t>function (please refer to Cogent Basics Part 2 for more information or ask your trainer). </a:t>
            </a:r>
            <a:endParaRPr lang="bg-BG" sz="1400" dirty="0">
              <a:solidFill>
                <a:schemeClr val="tx1"/>
              </a:solidFill>
            </a:endParaRPr>
          </a:p>
        </p:txBody>
      </p:sp>
      <p:pic>
        <p:nvPicPr>
          <p:cNvPr id="11" name="Picture 10"/>
          <p:cNvPicPr/>
          <p:nvPr/>
        </p:nvPicPr>
        <p:blipFill rotWithShape="1">
          <a:blip r:embed="rId2"/>
          <a:srcRect t="-309" r="31100" b="-1347"/>
          <a:stretch/>
        </p:blipFill>
        <p:spPr>
          <a:xfrm>
            <a:off x="7356477" y="1684496"/>
            <a:ext cx="4016374" cy="3030380"/>
          </a:xfrm>
          <a:prstGeom prst="rect">
            <a:avLst/>
          </a:prstGeom>
        </p:spPr>
      </p:pic>
      <p:sp>
        <p:nvSpPr>
          <p:cNvPr id="13" name="Rounded Rectangle 12"/>
          <p:cNvSpPr/>
          <p:nvPr/>
        </p:nvSpPr>
        <p:spPr>
          <a:xfrm>
            <a:off x="1883568" y="1196974"/>
            <a:ext cx="7136607" cy="445993"/>
          </a:xfrm>
          <a:prstGeom prst="roundRect">
            <a:avLst/>
          </a:prstGeom>
          <a:solidFill>
            <a:srgbClr val="00FF87">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smtClean="0">
                <a:solidFill>
                  <a:schemeClr val="tx1"/>
                </a:solidFill>
              </a:rPr>
              <a:t>The Search we carry out in Cogent is called an Article Body Search (or ABS for short).</a:t>
            </a:r>
            <a:endParaRPr lang="bg-BG" sz="1400" dirty="0">
              <a:solidFill>
                <a:schemeClr val="tx1"/>
              </a:solidFill>
            </a:endParaRPr>
          </a:p>
        </p:txBody>
      </p:sp>
    </p:spTree>
    <p:extLst>
      <p:ext uri="{BB962C8B-B14F-4D97-AF65-F5344CB8AC3E}">
        <p14:creationId xmlns:p14="http://schemas.microsoft.com/office/powerpoint/2010/main" val="70083479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2" name="Straight Connector 21"/>
          <p:cNvCxnSpPr/>
          <p:nvPr/>
        </p:nvCxnSpPr>
        <p:spPr>
          <a:xfrm>
            <a:off x="6967537" y="4377898"/>
            <a:ext cx="0" cy="1682080"/>
          </a:xfrm>
          <a:prstGeom prst="line">
            <a:avLst/>
          </a:prstGeom>
        </p:spPr>
        <p:style>
          <a:lnRef idx="1">
            <a:schemeClr val="accent1"/>
          </a:lnRef>
          <a:fillRef idx="0">
            <a:schemeClr val="accent1"/>
          </a:fillRef>
          <a:effectRef idx="0">
            <a:schemeClr val="accent1"/>
          </a:effectRef>
          <a:fontRef idx="minor">
            <a:schemeClr val="tx1"/>
          </a:fontRef>
        </p:style>
      </p:cxnSp>
      <p:sp>
        <p:nvSpPr>
          <p:cNvPr id="4" name="Title 3"/>
          <p:cNvSpPr>
            <a:spLocks noGrp="1"/>
          </p:cNvSpPr>
          <p:nvPr>
            <p:ph type="title"/>
          </p:nvPr>
        </p:nvSpPr>
        <p:spPr/>
        <p:txBody>
          <a:bodyPr/>
          <a:lstStyle/>
          <a:p>
            <a:r>
              <a:rPr lang="en-US" dirty="0" err="1" smtClean="0">
                <a:solidFill>
                  <a:schemeClr val="accent6"/>
                </a:solidFill>
              </a:rPr>
              <a:t>Centrefold</a:t>
            </a:r>
            <a:endParaRPr lang="en-GB" dirty="0">
              <a:solidFill>
                <a:schemeClr val="accent6"/>
              </a:solidFill>
            </a:endParaRPr>
          </a:p>
        </p:txBody>
      </p:sp>
      <p:sp>
        <p:nvSpPr>
          <p:cNvPr id="5" name="Content Placeholder 4"/>
          <p:cNvSpPr>
            <a:spLocks noGrp="1"/>
          </p:cNvSpPr>
          <p:nvPr>
            <p:ph sz="half" idx="1"/>
          </p:nvPr>
        </p:nvSpPr>
        <p:spPr>
          <a:xfrm>
            <a:off x="839788" y="2260600"/>
            <a:ext cx="6518276" cy="4908551"/>
          </a:xfrm>
        </p:spPr>
        <p:txBody>
          <a:bodyPr/>
          <a:lstStyle/>
          <a:p>
            <a:pPr>
              <a:lnSpc>
                <a:spcPct val="130000"/>
              </a:lnSpc>
              <a:spcBef>
                <a:spcPts val="0"/>
              </a:spcBef>
              <a:spcAft>
                <a:spcPts val="1200"/>
              </a:spcAft>
            </a:pPr>
            <a:r>
              <a:rPr lang="en-US" dirty="0"/>
              <a:t>The butter yellow area in the center of the screen is the </a:t>
            </a:r>
            <a:r>
              <a:rPr lang="en-US" b="1" dirty="0"/>
              <a:t>article body </a:t>
            </a:r>
            <a:r>
              <a:rPr lang="en-US" dirty="0"/>
              <a:t>where all of its content is. Here, you can see the article’s content, date of publishing, publication, author, and URL, i.e., some of the metadata that is available as column names in the article list.</a:t>
            </a:r>
            <a:endParaRPr lang="bg-BG" b="1" dirty="0"/>
          </a:p>
        </p:txBody>
      </p:sp>
      <p:sp>
        <p:nvSpPr>
          <p:cNvPr id="9" name="Rounded Rectangle 8"/>
          <p:cNvSpPr/>
          <p:nvPr/>
        </p:nvSpPr>
        <p:spPr>
          <a:xfrm>
            <a:off x="838200" y="1223058"/>
            <a:ext cx="6446837" cy="889001"/>
          </a:xfrm>
          <a:prstGeom prst="roundRect">
            <a:avLst/>
          </a:prstGeom>
          <a:solidFill>
            <a:srgbClr val="00FF87">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1400" dirty="0">
                <a:solidFill>
                  <a:schemeClr val="tx1"/>
                </a:solidFill>
              </a:rPr>
              <a:t>The article that is currently active is highlighted in </a:t>
            </a:r>
            <a:r>
              <a:rPr lang="en-US" sz="1400" dirty="0">
                <a:solidFill>
                  <a:schemeClr val="accent5"/>
                </a:solidFill>
              </a:rPr>
              <a:t>yellow</a:t>
            </a:r>
            <a:r>
              <a:rPr lang="en-US" sz="1400" dirty="0">
                <a:solidFill>
                  <a:schemeClr val="tx1"/>
                </a:solidFill>
              </a:rPr>
              <a:t> in the list of articles. </a:t>
            </a:r>
            <a:endParaRPr lang="bg-BG" sz="1400" dirty="0">
              <a:solidFill>
                <a:schemeClr val="tx1"/>
              </a:solidFill>
            </a:endParaRPr>
          </a:p>
        </p:txBody>
      </p:sp>
      <p:pic>
        <p:nvPicPr>
          <p:cNvPr id="7" name="Picture 6"/>
          <p:cNvPicPr/>
          <p:nvPr/>
        </p:nvPicPr>
        <p:blipFill>
          <a:blip r:embed="rId2"/>
          <a:stretch>
            <a:fillRect/>
          </a:stretch>
        </p:blipFill>
        <p:spPr>
          <a:xfrm>
            <a:off x="914400" y="1720850"/>
            <a:ext cx="5972810" cy="306070"/>
          </a:xfrm>
          <a:prstGeom prst="rect">
            <a:avLst/>
          </a:prstGeom>
        </p:spPr>
      </p:pic>
      <p:pic>
        <p:nvPicPr>
          <p:cNvPr id="8" name="Picture 7"/>
          <p:cNvPicPr/>
          <p:nvPr/>
        </p:nvPicPr>
        <p:blipFill>
          <a:blip r:embed="rId3"/>
          <a:stretch>
            <a:fillRect/>
          </a:stretch>
        </p:blipFill>
        <p:spPr>
          <a:xfrm>
            <a:off x="838200" y="3548380"/>
            <a:ext cx="5972810" cy="2652395"/>
          </a:xfrm>
          <a:prstGeom prst="rect">
            <a:avLst/>
          </a:prstGeom>
        </p:spPr>
      </p:pic>
      <p:cxnSp>
        <p:nvCxnSpPr>
          <p:cNvPr id="12" name="Straight Arrow Connector 11"/>
          <p:cNvCxnSpPr/>
          <p:nvPr/>
        </p:nvCxnSpPr>
        <p:spPr>
          <a:xfrm>
            <a:off x="2171700" y="3924300"/>
            <a:ext cx="633431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6162675" y="4533900"/>
            <a:ext cx="160972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6967537" y="5429250"/>
            <a:ext cx="144303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6811010" y="3809307"/>
            <a:ext cx="68992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Rounded Rectangle 18"/>
          <p:cNvSpPr/>
          <p:nvPr/>
        </p:nvSpPr>
        <p:spPr>
          <a:xfrm>
            <a:off x="8572874" y="3783907"/>
            <a:ext cx="1028318" cy="312003"/>
          </a:xfrm>
          <a:prstGeom prst="roundRect">
            <a:avLst/>
          </a:prstGeom>
          <a:solidFill>
            <a:srgbClr val="00FF87">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chemeClr val="tx1"/>
                </a:solidFill>
              </a:rPr>
              <a:t>Author field</a:t>
            </a:r>
            <a:endParaRPr lang="bg-BG" sz="1200" dirty="0">
              <a:solidFill>
                <a:schemeClr val="tx1"/>
              </a:solidFill>
            </a:endParaRPr>
          </a:p>
        </p:txBody>
      </p:sp>
      <p:sp>
        <p:nvSpPr>
          <p:cNvPr id="20" name="Rounded Rectangle 19"/>
          <p:cNvSpPr/>
          <p:nvPr/>
        </p:nvSpPr>
        <p:spPr>
          <a:xfrm>
            <a:off x="7896416" y="4377898"/>
            <a:ext cx="876109" cy="346502"/>
          </a:xfrm>
          <a:prstGeom prst="roundRect">
            <a:avLst/>
          </a:prstGeom>
          <a:solidFill>
            <a:srgbClr val="00FF87">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chemeClr val="tx1"/>
                </a:solidFill>
              </a:rPr>
              <a:t>Headline</a:t>
            </a:r>
            <a:endParaRPr lang="bg-BG" sz="1200" dirty="0">
              <a:solidFill>
                <a:schemeClr val="tx1"/>
              </a:solidFill>
            </a:endParaRPr>
          </a:p>
        </p:txBody>
      </p:sp>
      <p:sp>
        <p:nvSpPr>
          <p:cNvPr id="21" name="Rounded Rectangle 20"/>
          <p:cNvSpPr/>
          <p:nvPr/>
        </p:nvSpPr>
        <p:spPr>
          <a:xfrm>
            <a:off x="8506016" y="5255999"/>
            <a:ext cx="657035" cy="297076"/>
          </a:xfrm>
          <a:prstGeom prst="roundRect">
            <a:avLst/>
          </a:prstGeom>
          <a:solidFill>
            <a:srgbClr val="00FF87">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chemeClr val="tx1"/>
                </a:solidFill>
              </a:rPr>
              <a:t>Body</a:t>
            </a:r>
            <a:endParaRPr lang="bg-BG" sz="1200" dirty="0">
              <a:solidFill>
                <a:schemeClr val="tx1"/>
              </a:solidFill>
            </a:endParaRPr>
          </a:p>
        </p:txBody>
      </p:sp>
      <p:grpSp>
        <p:nvGrpSpPr>
          <p:cNvPr id="34" name="Group 33"/>
          <p:cNvGrpSpPr/>
          <p:nvPr/>
        </p:nvGrpSpPr>
        <p:grpSpPr>
          <a:xfrm>
            <a:off x="2038350" y="5303624"/>
            <a:ext cx="5172075" cy="81863"/>
            <a:chOff x="2038350" y="5303624"/>
            <a:chExt cx="5172075" cy="81863"/>
          </a:xfrm>
        </p:grpSpPr>
        <p:cxnSp>
          <p:nvCxnSpPr>
            <p:cNvPr id="30" name="Straight Arrow Connector 29"/>
            <p:cNvCxnSpPr/>
            <p:nvPr/>
          </p:nvCxnSpPr>
          <p:spPr>
            <a:xfrm>
              <a:off x="2038985" y="5303624"/>
              <a:ext cx="517144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2038350" y="5305425"/>
              <a:ext cx="0" cy="80062"/>
            </a:xfrm>
            <a:prstGeom prst="line">
              <a:avLst/>
            </a:prstGeom>
          </p:spPr>
          <p:style>
            <a:lnRef idx="1">
              <a:schemeClr val="accent1"/>
            </a:lnRef>
            <a:fillRef idx="0">
              <a:schemeClr val="accent1"/>
            </a:fillRef>
            <a:effectRef idx="0">
              <a:schemeClr val="accent1"/>
            </a:effectRef>
            <a:fontRef idx="minor">
              <a:schemeClr val="tx1"/>
            </a:fontRef>
          </p:style>
        </p:cxnSp>
      </p:grpSp>
      <p:sp>
        <p:nvSpPr>
          <p:cNvPr id="35" name="Rounded Rectangle 34"/>
          <p:cNvSpPr/>
          <p:nvPr/>
        </p:nvSpPr>
        <p:spPr>
          <a:xfrm>
            <a:off x="7352537" y="5101798"/>
            <a:ext cx="810388" cy="279826"/>
          </a:xfrm>
          <a:prstGeom prst="roundRect">
            <a:avLst/>
          </a:prstGeom>
          <a:solidFill>
            <a:srgbClr val="00FF87">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chemeClr val="tx1"/>
                </a:solidFill>
              </a:rPr>
              <a:t>Keyword</a:t>
            </a:r>
            <a:endParaRPr lang="bg-BG" sz="1200" dirty="0">
              <a:solidFill>
                <a:schemeClr val="tx1"/>
              </a:solidFill>
            </a:endParaRPr>
          </a:p>
        </p:txBody>
      </p:sp>
      <p:sp>
        <p:nvSpPr>
          <p:cNvPr id="25" name="Rounded Rectangle 24"/>
          <p:cNvSpPr/>
          <p:nvPr/>
        </p:nvSpPr>
        <p:spPr>
          <a:xfrm>
            <a:off x="7500938" y="3554198"/>
            <a:ext cx="966978" cy="270303"/>
          </a:xfrm>
          <a:prstGeom prst="roundRect">
            <a:avLst/>
          </a:prstGeom>
          <a:solidFill>
            <a:srgbClr val="00FF87">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chemeClr val="tx1"/>
                </a:solidFill>
              </a:rPr>
              <a:t>Translator</a:t>
            </a:r>
            <a:endParaRPr lang="bg-BG" sz="1200" dirty="0">
              <a:solidFill>
                <a:schemeClr val="tx1"/>
              </a:solidFill>
            </a:endParaRPr>
          </a:p>
        </p:txBody>
      </p:sp>
      <p:cxnSp>
        <p:nvCxnSpPr>
          <p:cNvPr id="39" name="Straight Connector 38"/>
          <p:cNvCxnSpPr/>
          <p:nvPr/>
        </p:nvCxnSpPr>
        <p:spPr>
          <a:xfrm>
            <a:off x="6741622" y="3673047"/>
            <a:ext cx="75931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a:stCxn id="25" idx="3"/>
          </p:cNvCxnSpPr>
          <p:nvPr/>
        </p:nvCxnSpPr>
        <p:spPr>
          <a:xfrm flipV="1">
            <a:off x="8467916" y="3673047"/>
            <a:ext cx="1266634" cy="163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6" name="Rounded Rectangle 45"/>
          <p:cNvSpPr/>
          <p:nvPr/>
        </p:nvSpPr>
        <p:spPr>
          <a:xfrm>
            <a:off x="9839133" y="3548379"/>
            <a:ext cx="952692" cy="328295"/>
          </a:xfrm>
          <a:prstGeom prst="roundRect">
            <a:avLst/>
          </a:prstGeom>
          <a:solidFill>
            <a:srgbClr val="00FF87">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chemeClr val="tx1"/>
                </a:solidFill>
              </a:rPr>
              <a:t>Edit button</a:t>
            </a:r>
            <a:endParaRPr lang="bg-BG" sz="1200" dirty="0">
              <a:solidFill>
                <a:schemeClr val="tx1"/>
              </a:solidFill>
            </a:endParaRPr>
          </a:p>
        </p:txBody>
      </p:sp>
    </p:spTree>
    <p:extLst>
      <p:ext uri="{BB962C8B-B14F-4D97-AF65-F5344CB8AC3E}">
        <p14:creationId xmlns:p14="http://schemas.microsoft.com/office/powerpoint/2010/main" val="15978290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err="1" smtClean="0">
                <a:solidFill>
                  <a:schemeClr val="accent6"/>
                </a:solidFill>
              </a:rPr>
              <a:t>Centrefold</a:t>
            </a:r>
            <a:r>
              <a:rPr lang="en-US" dirty="0" smtClean="0">
                <a:solidFill>
                  <a:schemeClr val="accent6"/>
                </a:solidFill>
              </a:rPr>
              <a:t> II</a:t>
            </a:r>
            <a:endParaRPr lang="en-GB" dirty="0">
              <a:solidFill>
                <a:schemeClr val="accent6"/>
              </a:solidFill>
            </a:endParaRPr>
          </a:p>
        </p:txBody>
      </p:sp>
      <p:sp>
        <p:nvSpPr>
          <p:cNvPr id="5" name="Content Placeholder 4"/>
          <p:cNvSpPr>
            <a:spLocks noGrp="1"/>
          </p:cNvSpPr>
          <p:nvPr>
            <p:ph sz="half" idx="1"/>
          </p:nvPr>
        </p:nvSpPr>
        <p:spPr>
          <a:xfrm>
            <a:off x="838199" y="1196975"/>
            <a:ext cx="10582276" cy="5003800"/>
          </a:xfrm>
        </p:spPr>
        <p:txBody>
          <a:bodyPr/>
          <a:lstStyle/>
          <a:p>
            <a:pPr>
              <a:lnSpc>
                <a:spcPct val="130000"/>
              </a:lnSpc>
              <a:spcBef>
                <a:spcPts val="0"/>
              </a:spcBef>
              <a:spcAft>
                <a:spcPts val="1200"/>
              </a:spcAft>
            </a:pPr>
            <a:r>
              <a:rPr lang="en-US" dirty="0"/>
              <a:t>The </a:t>
            </a:r>
            <a:r>
              <a:rPr lang="en-US" b="1" dirty="0"/>
              <a:t>Author field </a:t>
            </a:r>
            <a:r>
              <a:rPr lang="en-US" dirty="0"/>
              <a:t>is editable and you can manually add the name of the author that has written the article. When there is no author, we usually type NA. </a:t>
            </a:r>
            <a:endParaRPr lang="en-US" dirty="0" smtClean="0"/>
          </a:p>
          <a:p>
            <a:pPr>
              <a:lnSpc>
                <a:spcPct val="130000"/>
              </a:lnSpc>
              <a:spcBef>
                <a:spcPts val="0"/>
              </a:spcBef>
              <a:spcAft>
                <a:spcPts val="1200"/>
              </a:spcAft>
            </a:pPr>
            <a:r>
              <a:rPr lang="en-US" b="1" dirty="0" smtClean="0"/>
              <a:t>Translation</a:t>
            </a:r>
          </a:p>
          <a:p>
            <a:pPr>
              <a:lnSpc>
                <a:spcPct val="130000"/>
              </a:lnSpc>
              <a:spcBef>
                <a:spcPts val="0"/>
              </a:spcBef>
              <a:spcAft>
                <a:spcPts val="1200"/>
              </a:spcAft>
            </a:pPr>
            <a:r>
              <a:rPr lang="en-US" dirty="0"/>
              <a:t>On the top right of the article body, you can see the option for </a:t>
            </a:r>
            <a:r>
              <a:rPr lang="en-US" b="1" dirty="0"/>
              <a:t>automated Google translation </a:t>
            </a:r>
            <a:r>
              <a:rPr lang="en-US" dirty="0"/>
              <a:t>of the article’s content into English. The purpose of this functionality is to help you when working with a language that is foreign to you, as </a:t>
            </a:r>
            <a:r>
              <a:rPr lang="en-US" dirty="0" err="1"/>
              <a:t>Commetric</a:t>
            </a:r>
            <a:r>
              <a:rPr lang="en-US" dirty="0"/>
              <a:t> analyses media content in dozens of languages. Clicking it will display a list with all the languages available for translation</a:t>
            </a:r>
            <a:r>
              <a:rPr lang="en-US" dirty="0" smtClean="0"/>
              <a:t>.</a:t>
            </a:r>
          </a:p>
          <a:p>
            <a:pPr>
              <a:lnSpc>
                <a:spcPct val="130000"/>
              </a:lnSpc>
              <a:spcBef>
                <a:spcPts val="0"/>
              </a:spcBef>
              <a:spcAft>
                <a:spcPts val="1200"/>
              </a:spcAft>
            </a:pPr>
            <a:r>
              <a:rPr lang="en-GB" b="1" dirty="0" smtClean="0"/>
              <a:t>Keywords</a:t>
            </a:r>
          </a:p>
          <a:p>
            <a:pPr>
              <a:lnSpc>
                <a:spcPct val="130000"/>
              </a:lnSpc>
              <a:spcBef>
                <a:spcPts val="0"/>
              </a:spcBef>
              <a:spcAft>
                <a:spcPts val="1200"/>
              </a:spcAft>
            </a:pPr>
            <a:r>
              <a:rPr lang="en-US" dirty="0"/>
              <a:t>Keywords are words and word combinations </a:t>
            </a:r>
            <a:r>
              <a:rPr lang="en-US" b="1" dirty="0"/>
              <a:t>specific to each individual project </a:t>
            </a:r>
            <a:r>
              <a:rPr lang="en-US" dirty="0"/>
              <a:t>or project group, often including, for example, the client’s name, products/services, competitors’ names/products/services, certain events, types of technologies, and so on. In the text, they are highlighted in </a:t>
            </a:r>
            <a:r>
              <a:rPr lang="en-US" dirty="0" smtClean="0">
                <a:solidFill>
                  <a:srgbClr val="00B0F0"/>
                </a:solidFill>
              </a:rPr>
              <a:t>blue </a:t>
            </a:r>
            <a:r>
              <a:rPr lang="en-US" dirty="0"/>
              <a:t>‣</a:t>
            </a:r>
          </a:p>
          <a:p>
            <a:pPr>
              <a:lnSpc>
                <a:spcPct val="130000"/>
              </a:lnSpc>
              <a:spcBef>
                <a:spcPts val="0"/>
              </a:spcBef>
              <a:spcAft>
                <a:spcPts val="1200"/>
              </a:spcAft>
            </a:pPr>
            <a:r>
              <a:rPr lang="en-US" dirty="0"/>
              <a:t>For example, a project with a focus on telecommunications might include keywords such as GSM, LTE, Internet of Things (</a:t>
            </a:r>
            <a:r>
              <a:rPr lang="en-US" dirty="0" err="1"/>
              <a:t>IoT</a:t>
            </a:r>
            <a:r>
              <a:rPr lang="en-US" dirty="0"/>
              <a:t>), </a:t>
            </a:r>
            <a:r>
              <a:rPr lang="en-US" dirty="0" smtClean="0"/>
              <a:t>WLAN, </a:t>
            </a:r>
            <a:r>
              <a:rPr lang="en-US" dirty="0"/>
              <a:t>and many others</a:t>
            </a:r>
            <a:r>
              <a:rPr lang="en-US" dirty="0" smtClean="0"/>
              <a:t>.</a:t>
            </a:r>
            <a:endParaRPr lang="bg-BG" b="1" dirty="0"/>
          </a:p>
        </p:txBody>
      </p:sp>
      <p:sp>
        <p:nvSpPr>
          <p:cNvPr id="6" name="Rounded Rectangle 5"/>
          <p:cNvSpPr/>
          <p:nvPr/>
        </p:nvSpPr>
        <p:spPr>
          <a:xfrm>
            <a:off x="1928554" y="3757354"/>
            <a:ext cx="9423660" cy="606828"/>
          </a:xfrm>
          <a:prstGeom prst="roundRect">
            <a:avLst/>
          </a:prstGeom>
          <a:solidFill>
            <a:srgbClr val="00FF87">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rPr>
              <a:t>You can </a:t>
            </a:r>
            <a:r>
              <a:rPr lang="en-US" sz="1400" b="1" dirty="0">
                <a:solidFill>
                  <a:schemeClr val="tx1"/>
                </a:solidFill>
              </a:rPr>
              <a:t>add</a:t>
            </a:r>
            <a:r>
              <a:rPr lang="en-US" sz="1400" dirty="0">
                <a:solidFill>
                  <a:schemeClr val="tx1"/>
                </a:solidFill>
              </a:rPr>
              <a:t> and </a:t>
            </a:r>
            <a:r>
              <a:rPr lang="en-US" sz="1400" b="1" dirty="0">
                <a:solidFill>
                  <a:schemeClr val="tx1"/>
                </a:solidFill>
              </a:rPr>
              <a:t>remove</a:t>
            </a:r>
            <a:r>
              <a:rPr lang="en-US" sz="1400" dirty="0">
                <a:solidFill>
                  <a:schemeClr val="tx1"/>
                </a:solidFill>
              </a:rPr>
              <a:t> keywords by clicking on the name of the project at the top of the screen, then </a:t>
            </a:r>
            <a:r>
              <a:rPr lang="en-US" sz="1400" dirty="0" smtClean="0">
                <a:solidFill>
                  <a:schemeClr val="tx1"/>
                </a:solidFill>
              </a:rPr>
              <a:t>selecting Project </a:t>
            </a:r>
            <a:r>
              <a:rPr lang="en-US" sz="1400" dirty="0">
                <a:solidFill>
                  <a:schemeClr val="tx1"/>
                </a:solidFill>
              </a:rPr>
              <a:t>Settings ‣ </a:t>
            </a:r>
            <a:r>
              <a:rPr lang="en-US" sz="1400" dirty="0" smtClean="0">
                <a:solidFill>
                  <a:schemeClr val="tx1"/>
                </a:solidFill>
              </a:rPr>
              <a:t>Keywords. You can also add keywords by double-clicking on the word in the body and then selecting Add keyword (see pic above)</a:t>
            </a:r>
            <a:endParaRPr lang="bg-BG" sz="1400" dirty="0">
              <a:solidFill>
                <a:schemeClr val="tx1"/>
              </a:solidFill>
            </a:endParaRPr>
          </a:p>
        </p:txBody>
      </p:sp>
      <p:pic>
        <p:nvPicPr>
          <p:cNvPr id="2" name="Picture 1"/>
          <p:cNvPicPr>
            <a:picLocks noChangeAspect="1"/>
          </p:cNvPicPr>
          <p:nvPr/>
        </p:nvPicPr>
        <p:blipFill>
          <a:blip r:embed="rId2"/>
          <a:stretch>
            <a:fillRect/>
          </a:stretch>
        </p:blipFill>
        <p:spPr>
          <a:xfrm>
            <a:off x="2029580" y="1854269"/>
            <a:ext cx="2500857" cy="606269"/>
          </a:xfrm>
          <a:prstGeom prst="rect">
            <a:avLst/>
          </a:prstGeom>
        </p:spPr>
      </p:pic>
      <p:pic>
        <p:nvPicPr>
          <p:cNvPr id="3" name="Picture 2"/>
          <p:cNvPicPr>
            <a:picLocks noChangeAspect="1"/>
          </p:cNvPicPr>
          <p:nvPr/>
        </p:nvPicPr>
        <p:blipFill>
          <a:blip r:embed="rId3"/>
          <a:stretch>
            <a:fillRect/>
          </a:stretch>
        </p:blipFill>
        <p:spPr>
          <a:xfrm>
            <a:off x="4907046" y="1492188"/>
            <a:ext cx="1222291" cy="1077839"/>
          </a:xfrm>
          <a:prstGeom prst="rect">
            <a:avLst/>
          </a:prstGeom>
        </p:spPr>
      </p:pic>
      <p:pic>
        <p:nvPicPr>
          <p:cNvPr id="7" name="Picture 6"/>
          <p:cNvPicPr>
            <a:picLocks noChangeAspect="1"/>
          </p:cNvPicPr>
          <p:nvPr/>
        </p:nvPicPr>
        <p:blipFill>
          <a:blip r:embed="rId4"/>
          <a:stretch>
            <a:fillRect/>
          </a:stretch>
        </p:blipFill>
        <p:spPr>
          <a:xfrm>
            <a:off x="6791497" y="4974534"/>
            <a:ext cx="2212907" cy="501592"/>
          </a:xfrm>
          <a:prstGeom prst="rect">
            <a:avLst/>
          </a:prstGeom>
        </p:spPr>
      </p:pic>
    </p:spTree>
    <p:extLst>
      <p:ext uri="{BB962C8B-B14F-4D97-AF65-F5344CB8AC3E}">
        <p14:creationId xmlns:p14="http://schemas.microsoft.com/office/powerpoint/2010/main" val="219293805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err="1" smtClean="0">
                <a:solidFill>
                  <a:schemeClr val="accent6"/>
                </a:solidFill>
              </a:rPr>
              <a:t>Centrefold</a:t>
            </a:r>
            <a:r>
              <a:rPr lang="en-US" dirty="0" smtClean="0">
                <a:solidFill>
                  <a:schemeClr val="accent6"/>
                </a:solidFill>
              </a:rPr>
              <a:t> III</a:t>
            </a:r>
            <a:endParaRPr lang="en-GB" dirty="0">
              <a:solidFill>
                <a:schemeClr val="accent6"/>
              </a:solidFill>
            </a:endParaRPr>
          </a:p>
        </p:txBody>
      </p:sp>
      <p:sp>
        <p:nvSpPr>
          <p:cNvPr id="5" name="Content Placeholder 4"/>
          <p:cNvSpPr>
            <a:spLocks noGrp="1"/>
          </p:cNvSpPr>
          <p:nvPr>
            <p:ph sz="half" idx="1"/>
          </p:nvPr>
        </p:nvSpPr>
        <p:spPr>
          <a:xfrm>
            <a:off x="838199" y="1196975"/>
            <a:ext cx="10582276" cy="5003800"/>
          </a:xfrm>
        </p:spPr>
        <p:txBody>
          <a:bodyPr/>
          <a:lstStyle/>
          <a:p>
            <a:pPr>
              <a:lnSpc>
                <a:spcPct val="130000"/>
              </a:lnSpc>
              <a:spcBef>
                <a:spcPts val="0"/>
              </a:spcBef>
              <a:spcAft>
                <a:spcPts val="1200"/>
              </a:spcAft>
            </a:pPr>
            <a:r>
              <a:rPr lang="en-US" b="1" dirty="0" smtClean="0"/>
              <a:t>Editing articles</a:t>
            </a:r>
          </a:p>
          <a:p>
            <a:pPr>
              <a:lnSpc>
                <a:spcPct val="130000"/>
              </a:lnSpc>
              <a:spcBef>
                <a:spcPts val="0"/>
              </a:spcBef>
              <a:spcAft>
                <a:spcPts val="1200"/>
              </a:spcAft>
            </a:pPr>
            <a:r>
              <a:rPr lang="en-US" dirty="0"/>
              <a:t>Occasionally, some articles are uploaded into the project with an </a:t>
            </a:r>
            <a:r>
              <a:rPr lang="en-US" b="1" dirty="0"/>
              <a:t>empty body</a:t>
            </a:r>
            <a:r>
              <a:rPr lang="en-US" dirty="0"/>
              <a:t>. This is often the case with print media articles in PDF format, as it is a bit more complex for the system to ingest them</a:t>
            </a:r>
            <a:r>
              <a:rPr lang="en-US" dirty="0" smtClean="0"/>
              <a:t>.</a:t>
            </a:r>
          </a:p>
          <a:p>
            <a:pPr>
              <a:lnSpc>
                <a:spcPct val="130000"/>
              </a:lnSpc>
              <a:spcBef>
                <a:spcPts val="0"/>
              </a:spcBef>
              <a:spcAft>
                <a:spcPts val="1200"/>
              </a:spcAft>
            </a:pPr>
            <a:r>
              <a:rPr lang="en-US" dirty="0" smtClean="0"/>
              <a:t>There </a:t>
            </a:r>
            <a:r>
              <a:rPr lang="en-US" dirty="0"/>
              <a:t>are two main reasons </a:t>
            </a:r>
            <a:r>
              <a:rPr lang="en-US" b="1" dirty="0"/>
              <a:t>why it is more useful to have the article’s body on the platform</a:t>
            </a:r>
            <a:r>
              <a:rPr lang="en-US" dirty="0"/>
              <a:t>: first, when we upload the article’s content, Cogent highlights certain project-specific </a:t>
            </a:r>
            <a:r>
              <a:rPr lang="en-US" b="1" dirty="0"/>
              <a:t>keywords</a:t>
            </a:r>
            <a:r>
              <a:rPr lang="en-US" dirty="0"/>
              <a:t> in it, which makes reading and skimming through the article a lot faster and easier. Second, this enables us to perform </a:t>
            </a:r>
            <a:r>
              <a:rPr lang="en-US" b="1" dirty="0"/>
              <a:t>article body search </a:t>
            </a:r>
            <a:r>
              <a:rPr lang="en-US" dirty="0"/>
              <a:t>and use the Boolean operators AND </a:t>
            </a:r>
            <a:r>
              <a:rPr lang="en-US" dirty="0" err="1"/>
              <a:t>and</a:t>
            </a:r>
            <a:r>
              <a:rPr lang="en-US" dirty="0"/>
              <a:t> OR to identify batches of articles more easily.</a:t>
            </a:r>
            <a:endParaRPr lang="en-US" dirty="0" smtClean="0"/>
          </a:p>
        </p:txBody>
      </p:sp>
      <p:pic>
        <p:nvPicPr>
          <p:cNvPr id="6" name="Picture 5"/>
          <p:cNvPicPr/>
          <p:nvPr/>
        </p:nvPicPr>
        <p:blipFill rotWithShape="1">
          <a:blip r:embed="rId2"/>
          <a:srcRect t="1" r="317" b="22595"/>
          <a:stretch/>
        </p:blipFill>
        <p:spPr>
          <a:xfrm>
            <a:off x="818574" y="3940379"/>
            <a:ext cx="5534601" cy="1967465"/>
          </a:xfrm>
          <a:prstGeom prst="rect">
            <a:avLst/>
          </a:prstGeom>
        </p:spPr>
      </p:pic>
      <p:sp>
        <p:nvSpPr>
          <p:cNvPr id="7" name="TextBox 6"/>
          <p:cNvSpPr txBox="1"/>
          <p:nvPr/>
        </p:nvSpPr>
        <p:spPr>
          <a:xfrm>
            <a:off x="838199" y="5939165"/>
            <a:ext cx="3114675" cy="261610"/>
          </a:xfrm>
          <a:prstGeom prst="rect">
            <a:avLst/>
          </a:prstGeom>
          <a:noFill/>
        </p:spPr>
        <p:txBody>
          <a:bodyPr wrap="square" rtlCol="0">
            <a:spAutoFit/>
          </a:bodyPr>
          <a:lstStyle/>
          <a:p>
            <a:r>
              <a:rPr lang="en-GB" sz="1100" i="1" dirty="0" smtClean="0"/>
              <a:t>Article without a body</a:t>
            </a:r>
            <a:endParaRPr lang="bg-BG" sz="1100" i="1" dirty="0"/>
          </a:p>
        </p:txBody>
      </p:sp>
      <p:sp>
        <p:nvSpPr>
          <p:cNvPr id="8" name="Rounded Rectangle 7"/>
          <p:cNvSpPr/>
          <p:nvPr/>
        </p:nvSpPr>
        <p:spPr>
          <a:xfrm>
            <a:off x="6353175" y="3745235"/>
            <a:ext cx="5000625" cy="2357755"/>
          </a:xfrm>
          <a:prstGeom prst="roundRect">
            <a:avLst/>
          </a:prstGeom>
          <a:solidFill>
            <a:srgbClr val="00FF87">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rPr>
              <a:t>If you want to upload the content, you can do it </a:t>
            </a:r>
            <a:r>
              <a:rPr lang="en-US" sz="1400" dirty="0" smtClean="0">
                <a:solidFill>
                  <a:schemeClr val="tx1"/>
                </a:solidFill>
              </a:rPr>
              <a:t>manually </a:t>
            </a:r>
            <a:r>
              <a:rPr lang="en-US" sz="1400" dirty="0">
                <a:solidFill>
                  <a:schemeClr val="tx1"/>
                </a:solidFill>
              </a:rPr>
              <a:t>as </a:t>
            </a:r>
            <a:r>
              <a:rPr lang="en-US" sz="1400" dirty="0" smtClean="0">
                <a:solidFill>
                  <a:schemeClr val="tx1"/>
                </a:solidFill>
              </a:rPr>
              <a:t>follows:</a:t>
            </a:r>
          </a:p>
          <a:p>
            <a:r>
              <a:rPr lang="en-US" sz="1400" dirty="0" smtClean="0">
                <a:solidFill>
                  <a:schemeClr val="tx1"/>
                </a:solidFill>
              </a:rPr>
              <a:t>1. Click </a:t>
            </a:r>
            <a:r>
              <a:rPr lang="en-US" sz="1400" dirty="0">
                <a:solidFill>
                  <a:schemeClr val="tx1"/>
                </a:solidFill>
              </a:rPr>
              <a:t>the Edit button on the top right.</a:t>
            </a:r>
          </a:p>
          <a:p>
            <a:r>
              <a:rPr lang="en-US" sz="1400" dirty="0" smtClean="0">
                <a:solidFill>
                  <a:schemeClr val="tx1"/>
                </a:solidFill>
              </a:rPr>
              <a:t>2. This </a:t>
            </a:r>
            <a:r>
              <a:rPr lang="en-US" sz="1400" dirty="0">
                <a:solidFill>
                  <a:schemeClr val="tx1"/>
                </a:solidFill>
              </a:rPr>
              <a:t>will take you to the Edit Article view where all of the metadata fields visible in the article body view are editable.</a:t>
            </a:r>
          </a:p>
          <a:p>
            <a:r>
              <a:rPr lang="en-US" sz="1400" dirty="0" smtClean="0">
                <a:solidFill>
                  <a:schemeClr val="tx1"/>
                </a:solidFill>
              </a:rPr>
              <a:t>3. To </a:t>
            </a:r>
            <a:r>
              <a:rPr lang="en-US" sz="1400" dirty="0">
                <a:solidFill>
                  <a:schemeClr val="tx1"/>
                </a:solidFill>
              </a:rPr>
              <a:t>upload the content of the article here, click on its URL.</a:t>
            </a:r>
          </a:p>
          <a:p>
            <a:r>
              <a:rPr lang="en-US" sz="1400" dirty="0" smtClean="0">
                <a:solidFill>
                  <a:schemeClr val="tx1"/>
                </a:solidFill>
              </a:rPr>
              <a:t>4. Then </a:t>
            </a:r>
            <a:r>
              <a:rPr lang="en-US" sz="1400" dirty="0">
                <a:solidFill>
                  <a:schemeClr val="tx1"/>
                </a:solidFill>
              </a:rPr>
              <a:t>copy the content and paste it into the Body field.</a:t>
            </a:r>
          </a:p>
          <a:p>
            <a:r>
              <a:rPr lang="en-US" sz="1400" dirty="0" smtClean="0">
                <a:solidFill>
                  <a:schemeClr val="tx1"/>
                </a:solidFill>
              </a:rPr>
              <a:t>5. Tick </a:t>
            </a:r>
            <a:r>
              <a:rPr lang="en-US" sz="1400" dirty="0">
                <a:solidFill>
                  <a:schemeClr val="tx1"/>
                </a:solidFill>
              </a:rPr>
              <a:t>the Run NLP box.</a:t>
            </a:r>
          </a:p>
          <a:p>
            <a:r>
              <a:rPr lang="en-US" sz="1400" dirty="0" smtClean="0">
                <a:solidFill>
                  <a:schemeClr val="tx1"/>
                </a:solidFill>
              </a:rPr>
              <a:t>6. Click </a:t>
            </a:r>
            <a:r>
              <a:rPr lang="en-US" sz="1400" dirty="0">
                <a:solidFill>
                  <a:schemeClr val="tx1"/>
                </a:solidFill>
              </a:rPr>
              <a:t>Update.</a:t>
            </a:r>
          </a:p>
        </p:txBody>
      </p:sp>
      <p:sp>
        <p:nvSpPr>
          <p:cNvPr id="3" name="Flowchart: Connector 2"/>
          <p:cNvSpPr/>
          <p:nvPr/>
        </p:nvSpPr>
        <p:spPr>
          <a:xfrm>
            <a:off x="6029325" y="3886200"/>
            <a:ext cx="285750" cy="285750"/>
          </a:xfrm>
          <a:prstGeom prst="flowChartConnector">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a:p>
        </p:txBody>
      </p:sp>
    </p:spTree>
    <p:extLst>
      <p:ext uri="{BB962C8B-B14F-4D97-AF65-F5344CB8AC3E}">
        <p14:creationId xmlns:p14="http://schemas.microsoft.com/office/powerpoint/2010/main" val="420209912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err="1" smtClean="0">
                <a:solidFill>
                  <a:schemeClr val="accent6"/>
                </a:solidFill>
              </a:rPr>
              <a:t>Centrefold</a:t>
            </a:r>
            <a:r>
              <a:rPr lang="en-US" dirty="0" smtClean="0">
                <a:solidFill>
                  <a:schemeClr val="accent6"/>
                </a:solidFill>
              </a:rPr>
              <a:t> IV</a:t>
            </a:r>
            <a:endParaRPr lang="en-GB" dirty="0">
              <a:solidFill>
                <a:schemeClr val="accent6"/>
              </a:solidFill>
            </a:endParaRPr>
          </a:p>
        </p:txBody>
      </p:sp>
      <p:sp>
        <p:nvSpPr>
          <p:cNvPr id="5" name="Content Placeholder 4"/>
          <p:cNvSpPr>
            <a:spLocks noGrp="1"/>
          </p:cNvSpPr>
          <p:nvPr>
            <p:ph sz="half" idx="1"/>
          </p:nvPr>
        </p:nvSpPr>
        <p:spPr>
          <a:xfrm>
            <a:off x="838199" y="1196975"/>
            <a:ext cx="10582276" cy="5003800"/>
          </a:xfrm>
        </p:spPr>
        <p:txBody>
          <a:bodyPr/>
          <a:lstStyle/>
          <a:p>
            <a:pPr>
              <a:lnSpc>
                <a:spcPct val="130000"/>
              </a:lnSpc>
              <a:spcBef>
                <a:spcPts val="0"/>
              </a:spcBef>
              <a:spcAft>
                <a:spcPts val="1200"/>
              </a:spcAft>
            </a:pPr>
            <a:r>
              <a:rPr lang="en-US" b="1" dirty="0" smtClean="0"/>
              <a:t>Entity mentions</a:t>
            </a:r>
          </a:p>
          <a:p>
            <a:pPr>
              <a:lnSpc>
                <a:spcPct val="130000"/>
              </a:lnSpc>
              <a:spcBef>
                <a:spcPts val="0"/>
              </a:spcBef>
              <a:spcAft>
                <a:spcPts val="1200"/>
              </a:spcAft>
            </a:pPr>
            <a:r>
              <a:rPr lang="en-US" dirty="0" err="1"/>
              <a:t>Cogent’s</a:t>
            </a:r>
            <a:r>
              <a:rPr lang="en-US" dirty="0"/>
              <a:t> NLP (</a:t>
            </a:r>
            <a:r>
              <a:rPr lang="en-US" b="1" dirty="0"/>
              <a:t>Natural Language Processing</a:t>
            </a:r>
            <a:r>
              <a:rPr lang="en-US" dirty="0"/>
              <a:t>) capability automatically detects entity mentions in the article body. </a:t>
            </a:r>
            <a:r>
              <a:rPr lang="en-US" b="1" dirty="0"/>
              <a:t>Entities</a:t>
            </a:r>
            <a:r>
              <a:rPr lang="en-US" dirty="0"/>
              <a:t> are </a:t>
            </a:r>
            <a:r>
              <a:rPr lang="en-US" b="1" dirty="0"/>
              <a:t>the </a:t>
            </a:r>
            <a:r>
              <a:rPr lang="en-US" b="1" dirty="0" smtClean="0"/>
              <a:t>individuals </a:t>
            </a:r>
            <a:r>
              <a:rPr lang="en-US" b="1" dirty="0"/>
              <a:t>featured in the article</a:t>
            </a:r>
            <a:r>
              <a:rPr lang="en-US" dirty="0"/>
              <a:t>. </a:t>
            </a:r>
            <a:r>
              <a:rPr lang="en-US" dirty="0" smtClean="0"/>
              <a:t>Their</a:t>
            </a:r>
            <a:r>
              <a:rPr lang="en-GB" dirty="0" smtClean="0"/>
              <a:t> names</a:t>
            </a:r>
            <a:r>
              <a:rPr lang="en-US" dirty="0" smtClean="0"/>
              <a:t> </a:t>
            </a:r>
            <a:r>
              <a:rPr lang="en-US" dirty="0"/>
              <a:t>are highlighted in </a:t>
            </a:r>
            <a:r>
              <a:rPr lang="en-US" dirty="0">
                <a:solidFill>
                  <a:schemeClr val="accent4"/>
                </a:solidFill>
              </a:rPr>
              <a:t>green</a:t>
            </a:r>
            <a:r>
              <a:rPr lang="en-US" dirty="0"/>
              <a:t> (please refer to screenshot below). Entity detection is useful when establishing whether someone is a </a:t>
            </a:r>
            <a:r>
              <a:rPr lang="en-US" b="1" dirty="0"/>
              <a:t>spokesperson</a:t>
            </a:r>
            <a:r>
              <a:rPr lang="en-US" dirty="0"/>
              <a:t> or a </a:t>
            </a:r>
            <a:r>
              <a:rPr lang="en-US" b="1" dirty="0"/>
              <a:t>commentator</a:t>
            </a:r>
            <a:r>
              <a:rPr lang="en-US" dirty="0"/>
              <a:t>. If Cogent has not captured an individual’s name as an entity, you can add them manually by double-clicking on the name and then selecting </a:t>
            </a:r>
            <a:r>
              <a:rPr lang="en-US" b="1" dirty="0"/>
              <a:t>Add spokesperson</a:t>
            </a:r>
            <a:r>
              <a:rPr lang="en-US" dirty="0"/>
              <a:t> or </a:t>
            </a:r>
            <a:r>
              <a:rPr lang="en-US" b="1" dirty="0"/>
              <a:t>Add commentator</a:t>
            </a:r>
            <a:r>
              <a:rPr lang="en-US" dirty="0"/>
              <a:t>, depending on the </a:t>
            </a:r>
            <a:r>
              <a:rPr lang="en-US" dirty="0" smtClean="0"/>
              <a:t>case.</a:t>
            </a:r>
          </a:p>
        </p:txBody>
      </p:sp>
      <p:sp>
        <p:nvSpPr>
          <p:cNvPr id="3" name="Flowchart: Connector 2"/>
          <p:cNvSpPr/>
          <p:nvPr/>
        </p:nvSpPr>
        <p:spPr>
          <a:xfrm>
            <a:off x="6029325" y="3886200"/>
            <a:ext cx="285750" cy="285750"/>
          </a:xfrm>
          <a:prstGeom prst="flowChartConnector">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bg-BG"/>
          </a:p>
        </p:txBody>
      </p:sp>
      <p:pic>
        <p:nvPicPr>
          <p:cNvPr id="9" name="Picture 8"/>
          <p:cNvPicPr/>
          <p:nvPr/>
        </p:nvPicPr>
        <p:blipFill>
          <a:blip r:embed="rId2"/>
          <a:stretch>
            <a:fillRect/>
          </a:stretch>
        </p:blipFill>
        <p:spPr>
          <a:xfrm>
            <a:off x="838199" y="3433445"/>
            <a:ext cx="5972810" cy="530860"/>
          </a:xfrm>
          <a:prstGeom prst="rect">
            <a:avLst/>
          </a:prstGeom>
        </p:spPr>
      </p:pic>
      <p:sp>
        <p:nvSpPr>
          <p:cNvPr id="10" name="Rounded Rectangle 9"/>
          <p:cNvSpPr/>
          <p:nvPr/>
        </p:nvSpPr>
        <p:spPr>
          <a:xfrm>
            <a:off x="839788" y="4076956"/>
            <a:ext cx="10512425" cy="695070"/>
          </a:xfrm>
          <a:prstGeom prst="roundRect">
            <a:avLst/>
          </a:prstGeom>
          <a:solidFill>
            <a:srgbClr val="00FF87">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smtClean="0">
                <a:solidFill>
                  <a:schemeClr val="tx1"/>
                </a:solidFill>
              </a:rPr>
              <a:t>Do not worry if you don’t understand what a Spokesperson or a Commentator is – we will go through that in just a second when we explore the right-hand side of the screen with the coding metrics.</a:t>
            </a:r>
            <a:endParaRPr lang="bg-BG" sz="1400" dirty="0">
              <a:solidFill>
                <a:schemeClr val="tx1"/>
              </a:solidFill>
            </a:endParaRPr>
          </a:p>
        </p:txBody>
      </p:sp>
    </p:spTree>
    <p:extLst>
      <p:ext uri="{BB962C8B-B14F-4D97-AF65-F5344CB8AC3E}">
        <p14:creationId xmlns:p14="http://schemas.microsoft.com/office/powerpoint/2010/main" val="363284312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solidFill>
                  <a:schemeClr val="accent3"/>
                </a:solidFill>
              </a:rPr>
              <a:t>Right hand-side</a:t>
            </a:r>
            <a:endParaRPr lang="en-GB" dirty="0">
              <a:solidFill>
                <a:schemeClr val="accent3"/>
              </a:solidFill>
            </a:endParaRPr>
          </a:p>
        </p:txBody>
      </p:sp>
      <p:sp>
        <p:nvSpPr>
          <p:cNvPr id="5" name="Content Placeholder 4"/>
          <p:cNvSpPr>
            <a:spLocks noGrp="1"/>
          </p:cNvSpPr>
          <p:nvPr>
            <p:ph sz="half" idx="1"/>
          </p:nvPr>
        </p:nvSpPr>
        <p:spPr>
          <a:xfrm>
            <a:off x="838200" y="1196974"/>
            <a:ext cx="4070350" cy="4994275"/>
          </a:xfrm>
        </p:spPr>
        <p:txBody>
          <a:bodyPr/>
          <a:lstStyle/>
          <a:p>
            <a:pPr>
              <a:lnSpc>
                <a:spcPct val="130000"/>
              </a:lnSpc>
              <a:spcBef>
                <a:spcPts val="0"/>
              </a:spcBef>
              <a:spcAft>
                <a:spcPts val="1200"/>
              </a:spcAft>
            </a:pPr>
            <a:r>
              <a:rPr lang="en-US" dirty="0"/>
              <a:t>In MA View, the right side of the screen is dedicated to </a:t>
            </a:r>
            <a:r>
              <a:rPr lang="en-US" b="1" dirty="0"/>
              <a:t>the coding metrics that we assign to each article</a:t>
            </a:r>
            <a:r>
              <a:rPr lang="en-US" dirty="0"/>
              <a:t>. The analysis is carried out via this section.</a:t>
            </a:r>
            <a:endParaRPr lang="en-US" dirty="0">
              <a:solidFill>
                <a:schemeClr val="tx1">
                  <a:lumMod val="50000"/>
                  <a:lumOff val="50000"/>
                </a:schemeClr>
              </a:solidFill>
            </a:endParaRPr>
          </a:p>
        </p:txBody>
      </p:sp>
      <p:grpSp>
        <p:nvGrpSpPr>
          <p:cNvPr id="32" name="Group 31"/>
          <p:cNvGrpSpPr/>
          <p:nvPr/>
        </p:nvGrpSpPr>
        <p:grpSpPr>
          <a:xfrm>
            <a:off x="5476875" y="1171574"/>
            <a:ext cx="5616265" cy="5019675"/>
            <a:chOff x="5476875" y="1171574"/>
            <a:chExt cx="5616265" cy="5019675"/>
          </a:xfrm>
        </p:grpSpPr>
        <p:pic>
          <p:nvPicPr>
            <p:cNvPr id="3" name="Picture 2"/>
            <p:cNvPicPr>
              <a:picLocks noChangeAspect="1"/>
            </p:cNvPicPr>
            <p:nvPr/>
          </p:nvPicPr>
          <p:blipFill>
            <a:blip r:embed="rId2"/>
            <a:stretch>
              <a:fillRect/>
            </a:stretch>
          </p:blipFill>
          <p:spPr>
            <a:xfrm>
              <a:off x="7853663" y="1171574"/>
              <a:ext cx="3239477" cy="5019675"/>
            </a:xfrm>
            <a:prstGeom prst="rect">
              <a:avLst/>
            </a:prstGeom>
          </p:spPr>
        </p:pic>
        <p:sp>
          <p:nvSpPr>
            <p:cNvPr id="15" name="Rounded Rectangle 14"/>
            <p:cNvSpPr/>
            <p:nvPr/>
          </p:nvSpPr>
          <p:spPr>
            <a:xfrm>
              <a:off x="5476875" y="1196975"/>
              <a:ext cx="1485900" cy="231776"/>
            </a:xfrm>
            <a:prstGeom prst="roundRect">
              <a:avLst/>
            </a:prstGeom>
            <a:solidFill>
              <a:srgbClr val="00FF87">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chemeClr val="tx1"/>
                  </a:solidFill>
                </a:rPr>
                <a:t>Sentiment coding</a:t>
              </a:r>
              <a:endParaRPr lang="bg-BG" sz="1200" dirty="0">
                <a:solidFill>
                  <a:schemeClr val="tx1"/>
                </a:solidFill>
              </a:endParaRPr>
            </a:p>
          </p:txBody>
        </p:sp>
        <p:sp>
          <p:nvSpPr>
            <p:cNvPr id="16" name="Rounded Rectangle 15"/>
            <p:cNvSpPr/>
            <p:nvPr/>
          </p:nvSpPr>
          <p:spPr>
            <a:xfrm>
              <a:off x="5476875" y="1541644"/>
              <a:ext cx="1485900" cy="231776"/>
            </a:xfrm>
            <a:prstGeom prst="roundRect">
              <a:avLst/>
            </a:prstGeom>
            <a:solidFill>
              <a:srgbClr val="00FF87">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chemeClr val="tx1"/>
                  </a:solidFill>
                </a:rPr>
                <a:t>Relevancy coding</a:t>
              </a:r>
              <a:endParaRPr lang="bg-BG" sz="1200" dirty="0">
                <a:solidFill>
                  <a:schemeClr val="tx1"/>
                </a:solidFill>
              </a:endParaRPr>
            </a:p>
          </p:txBody>
        </p:sp>
        <p:sp>
          <p:nvSpPr>
            <p:cNvPr id="18" name="Rounded Rectangle 17"/>
            <p:cNvSpPr/>
            <p:nvPr/>
          </p:nvSpPr>
          <p:spPr>
            <a:xfrm>
              <a:off x="5594465" y="2075044"/>
              <a:ext cx="1158760" cy="266626"/>
            </a:xfrm>
            <a:prstGeom prst="roundRect">
              <a:avLst/>
            </a:prstGeom>
            <a:solidFill>
              <a:srgbClr val="00FF87">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chemeClr val="tx1"/>
                  </a:solidFill>
                </a:rPr>
                <a:t>Message tree</a:t>
              </a:r>
              <a:endParaRPr lang="bg-BG" sz="1200" dirty="0">
                <a:solidFill>
                  <a:schemeClr val="tx1"/>
                </a:solidFill>
              </a:endParaRPr>
            </a:p>
          </p:txBody>
        </p:sp>
        <p:sp>
          <p:nvSpPr>
            <p:cNvPr id="20" name="Rounded Rectangle 19"/>
            <p:cNvSpPr/>
            <p:nvPr/>
          </p:nvSpPr>
          <p:spPr>
            <a:xfrm>
              <a:off x="5476875" y="2789419"/>
              <a:ext cx="1514475" cy="277631"/>
            </a:xfrm>
            <a:prstGeom prst="roundRect">
              <a:avLst/>
            </a:prstGeom>
            <a:solidFill>
              <a:srgbClr val="00FF87">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chemeClr val="tx1"/>
                  </a:solidFill>
                </a:rPr>
                <a:t>Custom categories</a:t>
              </a:r>
              <a:endParaRPr lang="bg-BG" sz="1200" dirty="0">
                <a:solidFill>
                  <a:schemeClr val="tx1"/>
                </a:solidFill>
              </a:endParaRPr>
            </a:p>
          </p:txBody>
        </p:sp>
        <p:sp>
          <p:nvSpPr>
            <p:cNvPr id="22" name="Rounded Rectangle 21"/>
            <p:cNvSpPr/>
            <p:nvPr/>
          </p:nvSpPr>
          <p:spPr>
            <a:xfrm>
              <a:off x="5495775" y="5534024"/>
              <a:ext cx="1485900" cy="438149"/>
            </a:xfrm>
            <a:prstGeom prst="roundRect">
              <a:avLst/>
            </a:prstGeom>
            <a:solidFill>
              <a:srgbClr val="00FF87">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chemeClr val="tx1"/>
                  </a:solidFill>
                </a:rPr>
                <a:t>Spokespeople &amp; Commentators</a:t>
              </a:r>
              <a:endParaRPr lang="bg-BG" sz="1200" dirty="0">
                <a:solidFill>
                  <a:schemeClr val="tx1"/>
                </a:solidFill>
              </a:endParaRPr>
            </a:p>
          </p:txBody>
        </p:sp>
        <p:cxnSp>
          <p:nvCxnSpPr>
            <p:cNvPr id="8" name="Straight Arrow Connector 7"/>
            <p:cNvCxnSpPr>
              <a:stCxn id="15" idx="3"/>
            </p:cNvCxnSpPr>
            <p:nvPr/>
          </p:nvCxnSpPr>
          <p:spPr>
            <a:xfrm>
              <a:off x="6962775" y="1312863"/>
              <a:ext cx="7620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16" idx="0"/>
            </p:cNvCxnSpPr>
            <p:nvPr/>
          </p:nvCxnSpPr>
          <p:spPr>
            <a:xfrm>
              <a:off x="6219825" y="1541644"/>
              <a:ext cx="161448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a:off x="6747497" y="2188641"/>
              <a:ext cx="97727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a:off x="6975475" y="2932293"/>
              <a:ext cx="7493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a:off x="6962775" y="5714999"/>
              <a:ext cx="7493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95900384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solidFill>
                  <a:schemeClr val="accent3"/>
                </a:solidFill>
              </a:rPr>
              <a:t>Right hand-side II</a:t>
            </a:r>
            <a:endParaRPr lang="en-GB" dirty="0">
              <a:solidFill>
                <a:schemeClr val="accent3"/>
              </a:solidFill>
            </a:endParaRPr>
          </a:p>
        </p:txBody>
      </p:sp>
      <p:sp>
        <p:nvSpPr>
          <p:cNvPr id="5" name="Content Placeholder 4"/>
          <p:cNvSpPr>
            <a:spLocks noGrp="1"/>
          </p:cNvSpPr>
          <p:nvPr>
            <p:ph sz="half" idx="1"/>
          </p:nvPr>
        </p:nvSpPr>
        <p:spPr>
          <a:xfrm>
            <a:off x="838199" y="1196974"/>
            <a:ext cx="10514013" cy="5003801"/>
          </a:xfrm>
        </p:spPr>
        <p:txBody>
          <a:bodyPr/>
          <a:lstStyle/>
          <a:p>
            <a:pPr>
              <a:lnSpc>
                <a:spcPct val="130000"/>
              </a:lnSpc>
              <a:spcBef>
                <a:spcPts val="0"/>
              </a:spcBef>
              <a:spcAft>
                <a:spcPts val="1200"/>
              </a:spcAft>
            </a:pPr>
            <a:r>
              <a:rPr lang="en-US" b="1" dirty="0" smtClean="0"/>
              <a:t>Sentiment analysis</a:t>
            </a:r>
          </a:p>
          <a:p>
            <a:pPr>
              <a:lnSpc>
                <a:spcPct val="130000"/>
              </a:lnSpc>
              <a:spcBef>
                <a:spcPts val="0"/>
              </a:spcBef>
              <a:spcAft>
                <a:spcPts val="1200"/>
              </a:spcAft>
            </a:pPr>
            <a:r>
              <a:rPr lang="en-US" dirty="0"/>
              <a:t>The majority of projects use four-scale sentiment coding – </a:t>
            </a:r>
            <a:r>
              <a:rPr lang="en-US" dirty="0">
                <a:solidFill>
                  <a:schemeClr val="accent4"/>
                </a:solidFill>
              </a:rPr>
              <a:t>Positive</a:t>
            </a:r>
            <a:r>
              <a:rPr lang="en-US" dirty="0"/>
              <a:t>, </a:t>
            </a:r>
            <a:r>
              <a:rPr lang="en-US" dirty="0">
                <a:solidFill>
                  <a:schemeClr val="accent6"/>
                </a:solidFill>
              </a:rPr>
              <a:t>Balanced</a:t>
            </a:r>
            <a:r>
              <a:rPr lang="en-US" dirty="0"/>
              <a:t>, </a:t>
            </a:r>
            <a:r>
              <a:rPr lang="en-US" dirty="0">
                <a:solidFill>
                  <a:schemeClr val="tx2"/>
                </a:solidFill>
              </a:rPr>
              <a:t>Neutral</a:t>
            </a:r>
            <a:r>
              <a:rPr lang="en-US" dirty="0"/>
              <a:t> or </a:t>
            </a:r>
            <a:r>
              <a:rPr lang="en-US" dirty="0">
                <a:solidFill>
                  <a:srgbClr val="FF0000"/>
                </a:solidFill>
              </a:rPr>
              <a:t>Negative</a:t>
            </a:r>
            <a:r>
              <a:rPr lang="en-US" dirty="0"/>
              <a:t>. This coding gives information as to how the client is perceived by the publication</a:t>
            </a:r>
            <a:r>
              <a:rPr lang="en-US" dirty="0" smtClean="0"/>
              <a:t>.</a:t>
            </a:r>
          </a:p>
          <a:p>
            <a:pPr>
              <a:lnSpc>
                <a:spcPct val="130000"/>
              </a:lnSpc>
              <a:spcBef>
                <a:spcPts val="0"/>
              </a:spcBef>
              <a:spcAft>
                <a:spcPts val="1200"/>
              </a:spcAft>
            </a:pPr>
            <a:r>
              <a:rPr lang="en-US" dirty="0"/>
              <a:t>If the client is mentioned in a </a:t>
            </a:r>
            <a:r>
              <a:rPr lang="en-US" b="1" dirty="0"/>
              <a:t>positive context</a:t>
            </a:r>
            <a:r>
              <a:rPr lang="en-US" dirty="0"/>
              <a:t>, the article is considered </a:t>
            </a:r>
            <a:r>
              <a:rPr lang="en-US" dirty="0">
                <a:solidFill>
                  <a:schemeClr val="accent4"/>
                </a:solidFill>
              </a:rPr>
              <a:t>Positive</a:t>
            </a:r>
            <a:r>
              <a:rPr lang="en-US" dirty="0"/>
              <a:t> (the same goes for if the article is proactive, company-driven, with a spokesperson present). If the article is </a:t>
            </a:r>
            <a:r>
              <a:rPr lang="en-US" b="1" dirty="0"/>
              <a:t>overtly critical towards the client</a:t>
            </a:r>
            <a:r>
              <a:rPr lang="en-US" dirty="0"/>
              <a:t>, with no response from a spokesperson or redeeming statement, the article is </a:t>
            </a:r>
            <a:r>
              <a:rPr lang="en-US" dirty="0">
                <a:solidFill>
                  <a:srgbClr val="FF0000"/>
                </a:solidFill>
              </a:rPr>
              <a:t>Negative</a:t>
            </a:r>
            <a:r>
              <a:rPr lang="en-US" dirty="0"/>
              <a:t>. If there are </a:t>
            </a:r>
            <a:r>
              <a:rPr lang="en-US" b="1" dirty="0"/>
              <a:t>simultaneously positive and negative mentions of the client</a:t>
            </a:r>
            <a:r>
              <a:rPr lang="en-US" dirty="0"/>
              <a:t> in the article, or if the client is </a:t>
            </a:r>
            <a:r>
              <a:rPr lang="en-US" dirty="0" err="1"/>
              <a:t>criticised</a:t>
            </a:r>
            <a:r>
              <a:rPr lang="en-US" dirty="0"/>
              <a:t>, but has responded/has apologized, the article is </a:t>
            </a:r>
            <a:r>
              <a:rPr lang="en-US" dirty="0">
                <a:solidFill>
                  <a:schemeClr val="accent6"/>
                </a:solidFill>
              </a:rPr>
              <a:t>Balanced</a:t>
            </a:r>
            <a:r>
              <a:rPr lang="en-US" dirty="0"/>
              <a:t>. Any </a:t>
            </a:r>
            <a:r>
              <a:rPr lang="en-US" b="1" dirty="0"/>
              <a:t>passing, neutral mentions</a:t>
            </a:r>
            <a:r>
              <a:rPr lang="en-US" dirty="0"/>
              <a:t> or </a:t>
            </a:r>
            <a:r>
              <a:rPr lang="en-US" b="1" dirty="0"/>
              <a:t>factual information </a:t>
            </a:r>
            <a:r>
              <a:rPr lang="en-US" dirty="0"/>
              <a:t>are tagged as </a:t>
            </a:r>
            <a:r>
              <a:rPr lang="en-US" dirty="0" smtClean="0">
                <a:solidFill>
                  <a:schemeClr val="tx2"/>
                </a:solidFill>
              </a:rPr>
              <a:t>Neutral</a:t>
            </a:r>
            <a:r>
              <a:rPr lang="en-US" dirty="0" smtClean="0"/>
              <a:t>.</a:t>
            </a:r>
            <a:br>
              <a:rPr lang="en-US" dirty="0" smtClean="0"/>
            </a:br>
            <a:r>
              <a:rPr lang="en-US" dirty="0" smtClean="0"/>
              <a:t>Under </a:t>
            </a:r>
            <a:r>
              <a:rPr lang="en-US" dirty="0"/>
              <a:t>the sentiment coding tableau, you can see the </a:t>
            </a:r>
            <a:r>
              <a:rPr lang="en-US" b="1" dirty="0"/>
              <a:t>Not Relevant</a:t>
            </a:r>
            <a:r>
              <a:rPr lang="en-US" dirty="0"/>
              <a:t> button which </a:t>
            </a:r>
            <a:r>
              <a:rPr lang="en-GB" dirty="0"/>
              <a:t>marks </a:t>
            </a:r>
            <a:r>
              <a:rPr lang="en-US" dirty="0"/>
              <a:t>an article as not relevant. </a:t>
            </a:r>
            <a:endParaRPr lang="bg-BG" dirty="0"/>
          </a:p>
          <a:p>
            <a:pPr>
              <a:lnSpc>
                <a:spcPct val="130000"/>
              </a:lnSpc>
              <a:spcBef>
                <a:spcPts val="0"/>
              </a:spcBef>
              <a:spcAft>
                <a:spcPts val="1200"/>
              </a:spcAft>
            </a:pPr>
            <a:r>
              <a:rPr lang="en-US" dirty="0" smtClean="0"/>
              <a:t> </a:t>
            </a:r>
            <a:r>
              <a:rPr lang="en-US" dirty="0"/>
              <a:t>Once you’ve established whether the coverage is </a:t>
            </a:r>
            <a:r>
              <a:rPr lang="en-US" dirty="0">
                <a:solidFill>
                  <a:schemeClr val="accent4"/>
                </a:solidFill>
              </a:rPr>
              <a:t>Positive</a:t>
            </a:r>
            <a:r>
              <a:rPr lang="en-US" dirty="0"/>
              <a:t>, </a:t>
            </a:r>
            <a:r>
              <a:rPr lang="en-US" dirty="0">
                <a:solidFill>
                  <a:schemeClr val="accent6"/>
                </a:solidFill>
              </a:rPr>
              <a:t>Balanced</a:t>
            </a:r>
            <a:r>
              <a:rPr lang="en-US" dirty="0"/>
              <a:t>, </a:t>
            </a:r>
            <a:r>
              <a:rPr lang="en-US" dirty="0">
                <a:solidFill>
                  <a:schemeClr val="tx2"/>
                </a:solidFill>
              </a:rPr>
              <a:t>Neutral</a:t>
            </a:r>
            <a:r>
              <a:rPr lang="en-US" dirty="0"/>
              <a:t> or </a:t>
            </a:r>
            <a:r>
              <a:rPr lang="en-US" dirty="0">
                <a:solidFill>
                  <a:srgbClr val="FF0000"/>
                </a:solidFill>
              </a:rPr>
              <a:t>Negative</a:t>
            </a:r>
            <a:r>
              <a:rPr lang="en-US" dirty="0"/>
              <a:t> (or Not Relevant) and you click the respective button, the article is considered </a:t>
            </a:r>
            <a:r>
              <a:rPr lang="en-US" b="1" dirty="0" err="1"/>
              <a:t>analysed</a:t>
            </a:r>
            <a:r>
              <a:rPr lang="en-US" b="1" dirty="0"/>
              <a:t> </a:t>
            </a:r>
            <a:r>
              <a:rPr lang="en-US" dirty="0"/>
              <a:t>and will change its </a:t>
            </a:r>
            <a:r>
              <a:rPr lang="en-US" dirty="0" err="1"/>
              <a:t>colour</a:t>
            </a:r>
            <a:r>
              <a:rPr lang="en-US" dirty="0"/>
              <a:t> from </a:t>
            </a:r>
            <a:r>
              <a:rPr lang="en-US" dirty="0">
                <a:solidFill>
                  <a:srgbClr val="FF0000"/>
                </a:solidFill>
              </a:rPr>
              <a:t>red</a:t>
            </a:r>
            <a:r>
              <a:rPr lang="en-US" dirty="0"/>
              <a:t> to </a:t>
            </a:r>
            <a:r>
              <a:rPr lang="en-US" dirty="0">
                <a:solidFill>
                  <a:schemeClr val="accent4"/>
                </a:solidFill>
              </a:rPr>
              <a:t>green</a:t>
            </a:r>
            <a:r>
              <a:rPr lang="en-US" dirty="0"/>
              <a:t> in the list of articles (left-hand side of MA View). </a:t>
            </a:r>
            <a:r>
              <a:rPr lang="en-US" dirty="0" smtClean="0"/>
              <a:t>Most projects require the coding of other metrics in addition to sentiment coding, so I would suggest considering it as </a:t>
            </a:r>
            <a:r>
              <a:rPr lang="en-US" b="1" dirty="0" smtClean="0"/>
              <a:t>the </a:t>
            </a:r>
            <a:r>
              <a:rPr lang="en-US" b="1" dirty="0"/>
              <a:t>last step of the coding process</a:t>
            </a:r>
            <a:r>
              <a:rPr lang="en-US" dirty="0"/>
              <a:t>.</a:t>
            </a:r>
            <a:endParaRPr lang="bg-BG" dirty="0"/>
          </a:p>
          <a:p>
            <a:pPr>
              <a:lnSpc>
                <a:spcPct val="130000"/>
              </a:lnSpc>
              <a:spcBef>
                <a:spcPts val="0"/>
              </a:spcBef>
              <a:spcAft>
                <a:spcPts val="1200"/>
              </a:spcAft>
            </a:pPr>
            <a:endParaRPr lang="en-US" dirty="0"/>
          </a:p>
        </p:txBody>
      </p:sp>
      <p:pic>
        <p:nvPicPr>
          <p:cNvPr id="17" name="Picture 16"/>
          <p:cNvPicPr/>
          <p:nvPr/>
        </p:nvPicPr>
        <p:blipFill>
          <a:blip r:embed="rId2"/>
          <a:stretch>
            <a:fillRect/>
          </a:stretch>
        </p:blipFill>
        <p:spPr>
          <a:xfrm>
            <a:off x="2781300" y="1111249"/>
            <a:ext cx="1390650" cy="681824"/>
          </a:xfrm>
          <a:prstGeom prst="rect">
            <a:avLst/>
          </a:prstGeom>
        </p:spPr>
      </p:pic>
      <p:sp>
        <p:nvSpPr>
          <p:cNvPr id="19" name="Rounded Rectangle 18"/>
          <p:cNvSpPr/>
          <p:nvPr/>
        </p:nvSpPr>
        <p:spPr>
          <a:xfrm>
            <a:off x="838199" y="5772151"/>
            <a:ext cx="10514014" cy="428624"/>
          </a:xfrm>
          <a:prstGeom prst="roundRect">
            <a:avLst/>
          </a:prstGeom>
          <a:solidFill>
            <a:srgbClr val="00FF87">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smtClean="0">
                <a:solidFill>
                  <a:schemeClr val="tx1"/>
                </a:solidFill>
              </a:rPr>
              <a:t>The </a:t>
            </a:r>
            <a:r>
              <a:rPr lang="en-US" sz="1400" dirty="0" err="1" smtClean="0">
                <a:solidFill>
                  <a:schemeClr val="tx1"/>
                </a:solidFill>
              </a:rPr>
              <a:t>colours</a:t>
            </a:r>
            <a:r>
              <a:rPr lang="en-US" sz="1400" dirty="0" smtClean="0">
                <a:solidFill>
                  <a:schemeClr val="tx1"/>
                </a:solidFill>
              </a:rPr>
              <a:t> you see throughout this slide correspond to the </a:t>
            </a:r>
            <a:r>
              <a:rPr lang="en-US" sz="1400" dirty="0" err="1" smtClean="0">
                <a:solidFill>
                  <a:schemeClr val="tx1"/>
                </a:solidFill>
              </a:rPr>
              <a:t>colours</a:t>
            </a:r>
            <a:r>
              <a:rPr lang="en-US" sz="1400" dirty="0" smtClean="0">
                <a:solidFill>
                  <a:schemeClr val="tx1"/>
                </a:solidFill>
              </a:rPr>
              <a:t> of the buttons on the sentiment analysis tableau. Regardless of your choice of sentiment coding, once </a:t>
            </a:r>
            <a:r>
              <a:rPr lang="en-US" sz="1400" dirty="0" err="1" smtClean="0">
                <a:solidFill>
                  <a:schemeClr val="tx1"/>
                </a:solidFill>
              </a:rPr>
              <a:t>analysed</a:t>
            </a:r>
            <a:r>
              <a:rPr lang="en-US" sz="1400" dirty="0" smtClean="0">
                <a:solidFill>
                  <a:schemeClr val="tx1"/>
                </a:solidFill>
              </a:rPr>
              <a:t>, the article will appear green in the list of articles.</a:t>
            </a:r>
            <a:endParaRPr lang="bg-BG" sz="1400" dirty="0">
              <a:solidFill>
                <a:schemeClr val="tx1"/>
              </a:solidFill>
            </a:endParaRPr>
          </a:p>
        </p:txBody>
      </p:sp>
    </p:spTree>
    <p:extLst>
      <p:ext uri="{BB962C8B-B14F-4D97-AF65-F5344CB8AC3E}">
        <p14:creationId xmlns:p14="http://schemas.microsoft.com/office/powerpoint/2010/main" val="231008555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solidFill>
                  <a:schemeClr val="accent3"/>
                </a:solidFill>
              </a:rPr>
              <a:t>Right hand-side III</a:t>
            </a:r>
            <a:endParaRPr lang="en-GB" dirty="0">
              <a:solidFill>
                <a:schemeClr val="accent3"/>
              </a:solidFill>
            </a:endParaRPr>
          </a:p>
        </p:txBody>
      </p:sp>
      <p:sp>
        <p:nvSpPr>
          <p:cNvPr id="5" name="Content Placeholder 4"/>
          <p:cNvSpPr>
            <a:spLocks noGrp="1"/>
          </p:cNvSpPr>
          <p:nvPr>
            <p:ph sz="half" idx="1"/>
          </p:nvPr>
        </p:nvSpPr>
        <p:spPr>
          <a:xfrm>
            <a:off x="838199" y="1196974"/>
            <a:ext cx="4070351" cy="5003801"/>
          </a:xfrm>
        </p:spPr>
        <p:txBody>
          <a:bodyPr/>
          <a:lstStyle/>
          <a:p>
            <a:pPr>
              <a:lnSpc>
                <a:spcPct val="130000"/>
              </a:lnSpc>
              <a:spcBef>
                <a:spcPts val="0"/>
              </a:spcBef>
              <a:spcAft>
                <a:spcPts val="1200"/>
              </a:spcAft>
            </a:pPr>
            <a:r>
              <a:rPr lang="en-US" b="1" dirty="0" smtClean="0"/>
              <a:t>Message tree</a:t>
            </a:r>
          </a:p>
          <a:p>
            <a:pPr>
              <a:lnSpc>
                <a:spcPct val="130000"/>
              </a:lnSpc>
              <a:spcBef>
                <a:spcPts val="0"/>
              </a:spcBef>
              <a:spcAft>
                <a:spcPts val="1200"/>
              </a:spcAft>
            </a:pPr>
            <a:r>
              <a:rPr lang="en-US" dirty="0"/>
              <a:t>The </a:t>
            </a:r>
            <a:r>
              <a:rPr lang="en-US" b="1" dirty="0" smtClean="0"/>
              <a:t>message </a:t>
            </a:r>
            <a:r>
              <a:rPr lang="en-US" b="1" dirty="0"/>
              <a:t>tree </a:t>
            </a:r>
            <a:r>
              <a:rPr lang="en-US" dirty="0" smtClean="0"/>
              <a:t>is </a:t>
            </a:r>
            <a:r>
              <a:rPr lang="en-US" dirty="0"/>
              <a:t>employed in the most </a:t>
            </a:r>
            <a:r>
              <a:rPr lang="en-US" b="1" dirty="0"/>
              <a:t>complex</a:t>
            </a:r>
            <a:r>
              <a:rPr lang="en-US" dirty="0"/>
              <a:t> and time-consuming part of the analysis – </a:t>
            </a:r>
            <a:r>
              <a:rPr lang="en-US" b="1" dirty="0"/>
              <a:t>the </a:t>
            </a:r>
            <a:r>
              <a:rPr lang="en-US" b="1" dirty="0" smtClean="0"/>
              <a:t>message </a:t>
            </a:r>
            <a:r>
              <a:rPr lang="en-US" b="1" dirty="0"/>
              <a:t>coding</a:t>
            </a:r>
            <a:r>
              <a:rPr lang="en-US" dirty="0"/>
              <a:t>. </a:t>
            </a:r>
            <a:r>
              <a:rPr lang="en-US" dirty="0" smtClean="0"/>
              <a:t>On the basis of this coding, we can establish the main focus of reporting, thus helping the client understand how it is presented </a:t>
            </a:r>
            <a:r>
              <a:rPr lang="en-US" dirty="0"/>
              <a:t>in the </a:t>
            </a:r>
            <a:r>
              <a:rPr lang="en-US" dirty="0" smtClean="0"/>
              <a:t>media.</a:t>
            </a:r>
          </a:p>
          <a:p>
            <a:pPr>
              <a:lnSpc>
                <a:spcPct val="130000"/>
              </a:lnSpc>
              <a:spcBef>
                <a:spcPts val="0"/>
              </a:spcBef>
              <a:spcAft>
                <a:spcPts val="1200"/>
              </a:spcAft>
            </a:pPr>
            <a:r>
              <a:rPr lang="en-US" dirty="0" smtClean="0"/>
              <a:t>Each message </a:t>
            </a:r>
            <a:r>
              <a:rPr lang="en-US" dirty="0"/>
              <a:t>tree is </a:t>
            </a:r>
            <a:r>
              <a:rPr lang="en-US" b="1" dirty="0" smtClean="0"/>
              <a:t>unique</a:t>
            </a:r>
            <a:r>
              <a:rPr lang="en-US" dirty="0" smtClean="0"/>
              <a:t> </a:t>
            </a:r>
            <a:r>
              <a:rPr lang="en-US" dirty="0"/>
              <a:t>and is created with the client’s objectives in mind</a:t>
            </a:r>
            <a:r>
              <a:rPr lang="en-US" dirty="0" smtClean="0"/>
              <a:t>. Please, keep in mind that not all trees have the same elements thus the coding process could differ from project to project.</a:t>
            </a:r>
            <a:endParaRPr lang="en-US" dirty="0"/>
          </a:p>
          <a:p>
            <a:pPr>
              <a:lnSpc>
                <a:spcPct val="130000"/>
              </a:lnSpc>
              <a:spcBef>
                <a:spcPts val="0"/>
              </a:spcBef>
              <a:spcAft>
                <a:spcPts val="1200"/>
              </a:spcAft>
            </a:pPr>
            <a:endParaRPr lang="en-US" dirty="0"/>
          </a:p>
        </p:txBody>
      </p:sp>
      <p:sp>
        <p:nvSpPr>
          <p:cNvPr id="19" name="Rounded Rectangle 18"/>
          <p:cNvSpPr/>
          <p:nvPr/>
        </p:nvSpPr>
        <p:spPr>
          <a:xfrm>
            <a:off x="4920909" y="2688723"/>
            <a:ext cx="2586284" cy="2297112"/>
          </a:xfrm>
          <a:prstGeom prst="roundRect">
            <a:avLst/>
          </a:prstGeom>
          <a:solidFill>
            <a:srgbClr val="00FF87">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smtClean="0">
                <a:solidFill>
                  <a:schemeClr val="tx1"/>
                </a:solidFill>
              </a:rPr>
              <a:t>The messages panel has its own Search function which can help you find particular messages that contain a keyword. Once you’ve run your search, you can click on a button that enables you to see only the messages containing the keyword.</a:t>
            </a:r>
            <a:endParaRPr lang="bg-BG" sz="1400" dirty="0">
              <a:solidFill>
                <a:schemeClr val="tx1"/>
              </a:solidFill>
            </a:endParaRPr>
          </a:p>
        </p:txBody>
      </p:sp>
      <p:pic>
        <p:nvPicPr>
          <p:cNvPr id="2" name="Picture 1"/>
          <p:cNvPicPr>
            <a:picLocks noChangeAspect="1"/>
          </p:cNvPicPr>
          <p:nvPr/>
        </p:nvPicPr>
        <p:blipFill>
          <a:blip r:embed="rId2"/>
          <a:stretch>
            <a:fillRect/>
          </a:stretch>
        </p:blipFill>
        <p:spPr>
          <a:xfrm>
            <a:off x="5019675" y="1277495"/>
            <a:ext cx="3898106" cy="1027299"/>
          </a:xfrm>
          <a:prstGeom prst="rect">
            <a:avLst/>
          </a:prstGeom>
        </p:spPr>
      </p:pic>
      <p:pic>
        <p:nvPicPr>
          <p:cNvPr id="3" name="Picture 2"/>
          <p:cNvPicPr>
            <a:picLocks noChangeAspect="1"/>
          </p:cNvPicPr>
          <p:nvPr/>
        </p:nvPicPr>
        <p:blipFill>
          <a:blip r:embed="rId3"/>
          <a:stretch>
            <a:fillRect/>
          </a:stretch>
        </p:blipFill>
        <p:spPr>
          <a:xfrm>
            <a:off x="8007706" y="1593502"/>
            <a:ext cx="3289964" cy="4607273"/>
          </a:xfrm>
          <a:prstGeom prst="rect">
            <a:avLst/>
          </a:prstGeom>
        </p:spPr>
      </p:pic>
      <p:sp>
        <p:nvSpPr>
          <p:cNvPr id="8" name="TextBox 7"/>
          <p:cNvSpPr txBox="1"/>
          <p:nvPr/>
        </p:nvSpPr>
        <p:spPr>
          <a:xfrm>
            <a:off x="5763815" y="2214424"/>
            <a:ext cx="2409825" cy="430373"/>
          </a:xfrm>
          <a:prstGeom prst="rect">
            <a:avLst/>
          </a:prstGeom>
          <a:noFill/>
        </p:spPr>
        <p:txBody>
          <a:bodyPr wrap="square" rtlCol="0">
            <a:spAutoFit/>
          </a:bodyPr>
          <a:lstStyle/>
          <a:p>
            <a:r>
              <a:rPr lang="en-US" sz="1100" i="1" dirty="0" smtClean="0"/>
              <a:t>Examples of a very simple and a more complex message tree</a:t>
            </a:r>
            <a:endParaRPr lang="bg-BG" sz="1100" i="1" dirty="0"/>
          </a:p>
        </p:txBody>
      </p:sp>
      <p:pic>
        <p:nvPicPr>
          <p:cNvPr id="7" name="Picture 6"/>
          <p:cNvPicPr>
            <a:picLocks noChangeAspect="1"/>
          </p:cNvPicPr>
          <p:nvPr/>
        </p:nvPicPr>
        <p:blipFill>
          <a:blip r:embed="rId4"/>
          <a:stretch>
            <a:fillRect/>
          </a:stretch>
        </p:blipFill>
        <p:spPr>
          <a:xfrm>
            <a:off x="5026942" y="5029761"/>
            <a:ext cx="1682510" cy="158903"/>
          </a:xfrm>
          <a:prstGeom prst="rect">
            <a:avLst/>
          </a:prstGeom>
        </p:spPr>
      </p:pic>
      <p:pic>
        <p:nvPicPr>
          <p:cNvPr id="9" name="Picture 8"/>
          <p:cNvPicPr>
            <a:picLocks noChangeAspect="1"/>
          </p:cNvPicPr>
          <p:nvPr/>
        </p:nvPicPr>
        <p:blipFill>
          <a:blip r:embed="rId5"/>
          <a:stretch>
            <a:fillRect/>
          </a:stretch>
        </p:blipFill>
        <p:spPr>
          <a:xfrm>
            <a:off x="5025291" y="5240725"/>
            <a:ext cx="2377520" cy="1014220"/>
          </a:xfrm>
          <a:prstGeom prst="rect">
            <a:avLst/>
          </a:prstGeom>
        </p:spPr>
      </p:pic>
      <p:sp>
        <p:nvSpPr>
          <p:cNvPr id="11" name="Rounded Rectangle 10"/>
          <p:cNvSpPr/>
          <p:nvPr/>
        </p:nvSpPr>
        <p:spPr>
          <a:xfrm>
            <a:off x="7962911" y="1196974"/>
            <a:ext cx="3389302" cy="396527"/>
          </a:xfrm>
          <a:prstGeom prst="roundRect">
            <a:avLst/>
          </a:prstGeom>
          <a:solidFill>
            <a:srgbClr val="00FF87">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200" dirty="0" smtClean="0">
                <a:solidFill>
                  <a:schemeClr val="tx1"/>
                </a:solidFill>
              </a:rPr>
              <a:t>Messages are coded by clicking their respective check-box.</a:t>
            </a:r>
            <a:endParaRPr lang="bg-BG" sz="1200" dirty="0">
              <a:solidFill>
                <a:schemeClr val="tx1"/>
              </a:solidFill>
            </a:endParaRPr>
          </a:p>
        </p:txBody>
      </p:sp>
    </p:spTree>
    <p:extLst>
      <p:ext uri="{BB962C8B-B14F-4D97-AF65-F5344CB8AC3E}">
        <p14:creationId xmlns:p14="http://schemas.microsoft.com/office/powerpoint/2010/main" val="116912301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solidFill>
                  <a:schemeClr val="accent3"/>
                </a:solidFill>
              </a:rPr>
              <a:t>Right hand-side IV</a:t>
            </a:r>
            <a:endParaRPr lang="en-GB" dirty="0">
              <a:solidFill>
                <a:schemeClr val="accent3"/>
              </a:solidFill>
            </a:endParaRPr>
          </a:p>
        </p:txBody>
      </p:sp>
      <p:sp>
        <p:nvSpPr>
          <p:cNvPr id="5" name="Content Placeholder 4"/>
          <p:cNvSpPr>
            <a:spLocks noGrp="1"/>
          </p:cNvSpPr>
          <p:nvPr>
            <p:ph sz="half" idx="1"/>
          </p:nvPr>
        </p:nvSpPr>
        <p:spPr>
          <a:xfrm>
            <a:off x="838199" y="1196974"/>
            <a:ext cx="10514014" cy="3022601"/>
          </a:xfrm>
        </p:spPr>
        <p:txBody>
          <a:bodyPr/>
          <a:lstStyle/>
          <a:p>
            <a:pPr>
              <a:lnSpc>
                <a:spcPct val="130000"/>
              </a:lnSpc>
              <a:spcBef>
                <a:spcPts val="0"/>
              </a:spcBef>
              <a:spcAft>
                <a:spcPts val="1200"/>
              </a:spcAft>
            </a:pPr>
            <a:r>
              <a:rPr lang="en-US" b="1" dirty="0" smtClean="0"/>
              <a:t>Message tree</a:t>
            </a:r>
          </a:p>
          <a:p>
            <a:pPr>
              <a:lnSpc>
                <a:spcPct val="130000"/>
              </a:lnSpc>
              <a:spcBef>
                <a:spcPts val="0"/>
              </a:spcBef>
              <a:spcAft>
                <a:spcPts val="1200"/>
              </a:spcAft>
            </a:pPr>
            <a:r>
              <a:rPr lang="en-US" dirty="0"/>
              <a:t>The message tree is constituted of </a:t>
            </a:r>
            <a:r>
              <a:rPr lang="en-US" b="1" dirty="0"/>
              <a:t>the main topical drivers of coverage </a:t>
            </a:r>
            <a:r>
              <a:rPr lang="en-US" dirty="0"/>
              <a:t>as well as </a:t>
            </a:r>
            <a:r>
              <a:rPr lang="en-US" b="1" dirty="0"/>
              <a:t>the messages the client wants to convey with its media presence</a:t>
            </a:r>
            <a:r>
              <a:rPr lang="en-US" dirty="0"/>
              <a:t>. Some clients want to be perceived as leaders in industry debates, while others are focused on their image as a good employer. More often than not, how the client is actually perceived is completely different from how they want to be perceived. </a:t>
            </a:r>
          </a:p>
          <a:p>
            <a:pPr>
              <a:lnSpc>
                <a:spcPct val="130000"/>
              </a:lnSpc>
              <a:spcBef>
                <a:spcPts val="0"/>
              </a:spcBef>
              <a:spcAft>
                <a:spcPts val="1200"/>
              </a:spcAft>
            </a:pPr>
            <a:r>
              <a:rPr lang="en-US" dirty="0"/>
              <a:t>This is why we have </a:t>
            </a:r>
            <a:r>
              <a:rPr lang="en-US" b="1" dirty="0"/>
              <a:t>different types</a:t>
            </a:r>
            <a:r>
              <a:rPr lang="en-US" dirty="0"/>
              <a:t> of messages we can tag in an </a:t>
            </a:r>
            <a:r>
              <a:rPr lang="en-US" dirty="0" smtClean="0"/>
              <a:t>article: </a:t>
            </a:r>
            <a:endParaRPr lang="en-US" dirty="0"/>
          </a:p>
          <a:p>
            <a:pPr>
              <a:lnSpc>
                <a:spcPct val="130000"/>
              </a:lnSpc>
              <a:spcBef>
                <a:spcPts val="0"/>
              </a:spcBef>
              <a:spcAft>
                <a:spcPts val="1200"/>
              </a:spcAft>
            </a:pPr>
            <a:r>
              <a:rPr lang="en-US" b="1" dirty="0"/>
              <a:t>Predefined messages</a:t>
            </a:r>
            <a:r>
              <a:rPr lang="en-US" dirty="0"/>
              <a:t> – </a:t>
            </a:r>
            <a:r>
              <a:rPr lang="en-US" b="1" dirty="0"/>
              <a:t>provided by the client</a:t>
            </a:r>
            <a:r>
              <a:rPr lang="en-US" dirty="0"/>
              <a:t>, usually vague and PR-sounding (“Our people and talent attraction”; “We are a responsible supplier who has been around a long time</a:t>
            </a:r>
            <a:r>
              <a:rPr lang="en-US" dirty="0" smtClean="0"/>
              <a:t>”).</a:t>
            </a:r>
            <a:endParaRPr lang="en-US" dirty="0"/>
          </a:p>
          <a:p>
            <a:pPr>
              <a:lnSpc>
                <a:spcPct val="130000"/>
              </a:lnSpc>
              <a:spcBef>
                <a:spcPts val="0"/>
              </a:spcBef>
              <a:spcAft>
                <a:spcPts val="1200"/>
              </a:spcAft>
            </a:pPr>
            <a:r>
              <a:rPr lang="en-US" b="1" dirty="0"/>
              <a:t>Discovered messages</a:t>
            </a:r>
            <a:r>
              <a:rPr lang="en-US" dirty="0"/>
              <a:t> – </a:t>
            </a:r>
            <a:r>
              <a:rPr lang="en-US" b="1" dirty="0"/>
              <a:t>discovered by the analyst</a:t>
            </a:r>
            <a:r>
              <a:rPr lang="en-US" dirty="0"/>
              <a:t>, usually client-focused &amp; client-specific (“Centrica appoints Russell O’Brien as CFO”; “Centrica re-opens Rough gas storage facility”)</a:t>
            </a:r>
          </a:p>
        </p:txBody>
      </p:sp>
      <p:sp>
        <p:nvSpPr>
          <p:cNvPr id="10" name="Rounded Rectangle 9"/>
          <p:cNvSpPr/>
          <p:nvPr/>
        </p:nvSpPr>
        <p:spPr>
          <a:xfrm>
            <a:off x="839788" y="5020166"/>
            <a:ext cx="10514015" cy="499485"/>
          </a:xfrm>
          <a:prstGeom prst="roundRect">
            <a:avLst/>
          </a:prstGeom>
          <a:solidFill>
            <a:srgbClr val="00FF87">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rPr>
              <a:t>In stark difference to most other metrics</a:t>
            </a:r>
            <a:r>
              <a:rPr lang="en-US" sz="1400" b="1" dirty="0">
                <a:solidFill>
                  <a:schemeClr val="tx1"/>
                </a:solidFill>
              </a:rPr>
              <a:t>, one article can have more than one message</a:t>
            </a:r>
            <a:r>
              <a:rPr lang="en-US" sz="1400" dirty="0">
                <a:solidFill>
                  <a:schemeClr val="tx1"/>
                </a:solidFill>
              </a:rPr>
              <a:t>. This has a significant effect on how messages are exported via </a:t>
            </a:r>
            <a:r>
              <a:rPr lang="en-US" sz="1400" dirty="0" smtClean="0">
                <a:solidFill>
                  <a:schemeClr val="tx1"/>
                </a:solidFill>
              </a:rPr>
              <a:t>Pivot.</a:t>
            </a:r>
            <a:endParaRPr lang="bg-BG" sz="1400" dirty="0">
              <a:solidFill>
                <a:schemeClr val="tx1"/>
              </a:solidFill>
            </a:endParaRPr>
          </a:p>
        </p:txBody>
      </p:sp>
      <p:sp>
        <p:nvSpPr>
          <p:cNvPr id="11" name="Rounded Rectangle 10"/>
          <p:cNvSpPr/>
          <p:nvPr/>
        </p:nvSpPr>
        <p:spPr>
          <a:xfrm>
            <a:off x="839788" y="5579889"/>
            <a:ext cx="10512425" cy="620886"/>
          </a:xfrm>
          <a:prstGeom prst="roundRect">
            <a:avLst/>
          </a:prstGeom>
          <a:solidFill>
            <a:srgbClr val="00FF87">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smtClean="0">
                <a:solidFill>
                  <a:schemeClr val="tx1"/>
                </a:solidFill>
              </a:rPr>
              <a:t>This is very much so just scratching the surface when it comes to messaging and the types of messages we have – they could be </a:t>
            </a:r>
            <a:r>
              <a:rPr lang="en-US" sz="1400" dirty="0" err="1" smtClean="0">
                <a:solidFill>
                  <a:schemeClr val="tx1"/>
                </a:solidFill>
              </a:rPr>
              <a:t>visualised</a:t>
            </a:r>
            <a:r>
              <a:rPr lang="en-US" sz="1400" dirty="0" smtClean="0">
                <a:solidFill>
                  <a:schemeClr val="tx1"/>
                </a:solidFill>
              </a:rPr>
              <a:t> as </a:t>
            </a:r>
            <a:r>
              <a:rPr lang="en-US" sz="1400" b="1" dirty="0" smtClean="0">
                <a:solidFill>
                  <a:schemeClr val="tx1"/>
                </a:solidFill>
              </a:rPr>
              <a:t>Topics</a:t>
            </a:r>
            <a:r>
              <a:rPr lang="en-US" sz="1400" dirty="0" smtClean="0">
                <a:solidFill>
                  <a:schemeClr val="tx1"/>
                </a:solidFill>
              </a:rPr>
              <a:t> and </a:t>
            </a:r>
            <a:r>
              <a:rPr lang="en-US" sz="1400" b="1" dirty="0" smtClean="0">
                <a:solidFill>
                  <a:schemeClr val="tx1"/>
                </a:solidFill>
              </a:rPr>
              <a:t>sub-topics</a:t>
            </a:r>
            <a:r>
              <a:rPr lang="en-US" sz="1400" dirty="0" smtClean="0">
                <a:solidFill>
                  <a:schemeClr val="tx1"/>
                </a:solidFill>
              </a:rPr>
              <a:t> or described as “</a:t>
            </a:r>
            <a:r>
              <a:rPr lang="en-US" sz="1400" b="1" dirty="0" smtClean="0">
                <a:solidFill>
                  <a:schemeClr val="tx1"/>
                </a:solidFill>
              </a:rPr>
              <a:t>reputational dimensions</a:t>
            </a:r>
            <a:r>
              <a:rPr lang="en-US" sz="1400" dirty="0" smtClean="0">
                <a:solidFill>
                  <a:schemeClr val="tx1"/>
                </a:solidFill>
              </a:rPr>
              <a:t>” or “</a:t>
            </a:r>
            <a:r>
              <a:rPr lang="en-US" sz="1400" b="1" dirty="0" smtClean="0">
                <a:solidFill>
                  <a:schemeClr val="tx1"/>
                </a:solidFill>
              </a:rPr>
              <a:t>key messages</a:t>
            </a:r>
            <a:r>
              <a:rPr lang="en-US" sz="1400" dirty="0" smtClean="0">
                <a:solidFill>
                  <a:schemeClr val="tx1"/>
                </a:solidFill>
              </a:rPr>
              <a:t>”. As previously mentioned, this is all project-specific so it will be explored in detail when you start </a:t>
            </a:r>
            <a:r>
              <a:rPr lang="en-US" sz="1400" dirty="0" err="1" smtClean="0">
                <a:solidFill>
                  <a:schemeClr val="tx1"/>
                </a:solidFill>
              </a:rPr>
              <a:t>analysing</a:t>
            </a:r>
            <a:r>
              <a:rPr lang="en-US" sz="1400" dirty="0" smtClean="0">
                <a:solidFill>
                  <a:schemeClr val="tx1"/>
                </a:solidFill>
              </a:rPr>
              <a:t>.</a:t>
            </a:r>
            <a:endParaRPr lang="bg-BG" sz="1400" dirty="0">
              <a:solidFill>
                <a:schemeClr val="tx1"/>
              </a:solidFill>
            </a:endParaRPr>
          </a:p>
        </p:txBody>
      </p:sp>
    </p:spTree>
    <p:extLst>
      <p:ext uri="{BB962C8B-B14F-4D97-AF65-F5344CB8AC3E}">
        <p14:creationId xmlns:p14="http://schemas.microsoft.com/office/powerpoint/2010/main" val="1696671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solidFill>
                  <a:schemeClr val="accent3"/>
                </a:solidFill>
              </a:rPr>
              <a:t>Right hand-side V</a:t>
            </a:r>
            <a:endParaRPr lang="en-GB" dirty="0">
              <a:solidFill>
                <a:schemeClr val="accent3"/>
              </a:solidFill>
            </a:endParaRPr>
          </a:p>
        </p:txBody>
      </p:sp>
      <p:sp>
        <p:nvSpPr>
          <p:cNvPr id="5" name="Content Placeholder 4"/>
          <p:cNvSpPr>
            <a:spLocks noGrp="1"/>
          </p:cNvSpPr>
          <p:nvPr>
            <p:ph sz="half" idx="1"/>
          </p:nvPr>
        </p:nvSpPr>
        <p:spPr>
          <a:xfrm>
            <a:off x="838199" y="1196974"/>
            <a:ext cx="4070351" cy="5003801"/>
          </a:xfrm>
        </p:spPr>
        <p:txBody>
          <a:bodyPr/>
          <a:lstStyle/>
          <a:p>
            <a:pPr>
              <a:lnSpc>
                <a:spcPct val="130000"/>
              </a:lnSpc>
              <a:spcBef>
                <a:spcPts val="0"/>
              </a:spcBef>
              <a:spcAft>
                <a:spcPts val="1200"/>
              </a:spcAft>
            </a:pPr>
            <a:r>
              <a:rPr lang="en-US" b="1" dirty="0" smtClean="0"/>
              <a:t>Custom categories</a:t>
            </a:r>
          </a:p>
          <a:p>
            <a:pPr>
              <a:lnSpc>
                <a:spcPct val="130000"/>
              </a:lnSpc>
              <a:spcBef>
                <a:spcPts val="0"/>
              </a:spcBef>
              <a:spcAft>
                <a:spcPts val="1200"/>
              </a:spcAft>
            </a:pPr>
            <a:r>
              <a:rPr lang="en-US" dirty="0"/>
              <a:t>The Custom </a:t>
            </a:r>
            <a:r>
              <a:rPr lang="en-US" dirty="0" smtClean="0"/>
              <a:t>categories (or CCs) are </a:t>
            </a:r>
            <a:r>
              <a:rPr lang="en-US" b="1" dirty="0"/>
              <a:t>additional metrics </a:t>
            </a:r>
            <a:r>
              <a:rPr lang="en-US" dirty="0"/>
              <a:t>we are tracking in the media coverage. The key word here is the word </a:t>
            </a:r>
            <a:r>
              <a:rPr lang="en-US" b="1" dirty="0"/>
              <a:t>“custom” </a:t>
            </a:r>
            <a:r>
              <a:rPr lang="en-US" dirty="0"/>
              <a:t>– these metrics entirely depend on the client’s needs and are established on a project-to-project basis. Some of the more popular custom categories are </a:t>
            </a:r>
            <a:r>
              <a:rPr lang="en-US" b="1" dirty="0"/>
              <a:t>Country</a:t>
            </a:r>
            <a:r>
              <a:rPr lang="en-US" dirty="0"/>
              <a:t>, </a:t>
            </a:r>
            <a:r>
              <a:rPr lang="en-US" b="1" dirty="0"/>
              <a:t>Media Type </a:t>
            </a:r>
            <a:r>
              <a:rPr lang="en-US" dirty="0"/>
              <a:t>(Online vs Print vs Blog vs Broadcast), </a:t>
            </a:r>
            <a:r>
              <a:rPr lang="en-US" b="1" dirty="0"/>
              <a:t>Proactive vs. Reactive</a:t>
            </a:r>
            <a:r>
              <a:rPr lang="en-US" dirty="0" smtClean="0"/>
              <a:t>.</a:t>
            </a:r>
            <a:endParaRPr lang="en-US" dirty="0"/>
          </a:p>
        </p:txBody>
      </p:sp>
      <p:pic>
        <p:nvPicPr>
          <p:cNvPr id="6" name="Picture 5"/>
          <p:cNvPicPr>
            <a:picLocks noChangeAspect="1"/>
          </p:cNvPicPr>
          <p:nvPr/>
        </p:nvPicPr>
        <p:blipFill>
          <a:blip r:embed="rId2"/>
          <a:stretch>
            <a:fillRect/>
          </a:stretch>
        </p:blipFill>
        <p:spPr>
          <a:xfrm>
            <a:off x="5014555" y="1571516"/>
            <a:ext cx="5115639" cy="1562318"/>
          </a:xfrm>
          <a:prstGeom prst="rect">
            <a:avLst/>
          </a:prstGeom>
        </p:spPr>
      </p:pic>
      <p:sp>
        <p:nvSpPr>
          <p:cNvPr id="11" name="Rounded Rectangle 10"/>
          <p:cNvSpPr/>
          <p:nvPr/>
        </p:nvSpPr>
        <p:spPr>
          <a:xfrm>
            <a:off x="838198" y="5237018"/>
            <a:ext cx="10514015" cy="963757"/>
          </a:xfrm>
          <a:prstGeom prst="roundRect">
            <a:avLst/>
          </a:prstGeom>
          <a:solidFill>
            <a:srgbClr val="00FF87">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a:solidFill>
                  <a:schemeClr val="tx1"/>
                </a:solidFill>
              </a:rPr>
              <a:t>CCs are similar to metrics such as Sentiment or Publication because </a:t>
            </a:r>
            <a:r>
              <a:rPr lang="en-US" sz="1400" b="1" dirty="0">
                <a:solidFill>
                  <a:schemeClr val="tx1"/>
                </a:solidFill>
              </a:rPr>
              <a:t>they can only have one value</a:t>
            </a:r>
            <a:r>
              <a:rPr lang="en-US" sz="1400" dirty="0">
                <a:solidFill>
                  <a:schemeClr val="tx1"/>
                </a:solidFill>
              </a:rPr>
              <a:t> – the article is either Proactive or Reactive but it definitely cannot be both at the same time. Meanwhile, messages and spokesperson &amp; commentators can have more than one value i.e. one article can </a:t>
            </a:r>
            <a:r>
              <a:rPr lang="en-GB" sz="1400" dirty="0" smtClean="0">
                <a:solidFill>
                  <a:schemeClr val="tx1"/>
                </a:solidFill>
              </a:rPr>
              <a:t>contain</a:t>
            </a:r>
            <a:r>
              <a:rPr lang="en-US" sz="1400" dirty="0" smtClean="0">
                <a:solidFill>
                  <a:schemeClr val="tx1"/>
                </a:solidFill>
              </a:rPr>
              <a:t> </a:t>
            </a:r>
            <a:r>
              <a:rPr lang="en-US" sz="1400" dirty="0">
                <a:solidFill>
                  <a:schemeClr val="tx1"/>
                </a:solidFill>
              </a:rPr>
              <a:t>several messages, one article can have several commentators present. </a:t>
            </a:r>
            <a:endParaRPr lang="bg-BG" sz="1400" dirty="0">
              <a:solidFill>
                <a:schemeClr val="tx1"/>
              </a:solidFill>
            </a:endParaRPr>
          </a:p>
        </p:txBody>
      </p:sp>
      <p:pic>
        <p:nvPicPr>
          <p:cNvPr id="12" name="Picture 11"/>
          <p:cNvPicPr>
            <a:picLocks noChangeAspect="1"/>
          </p:cNvPicPr>
          <p:nvPr/>
        </p:nvPicPr>
        <p:blipFill>
          <a:blip r:embed="rId3"/>
          <a:stretch>
            <a:fillRect/>
          </a:stretch>
        </p:blipFill>
        <p:spPr>
          <a:xfrm>
            <a:off x="5014555" y="3584680"/>
            <a:ext cx="5068007" cy="1095528"/>
          </a:xfrm>
          <a:prstGeom prst="rect">
            <a:avLst/>
          </a:prstGeom>
        </p:spPr>
      </p:pic>
      <p:sp>
        <p:nvSpPr>
          <p:cNvPr id="14" name="TextBox 13"/>
          <p:cNvSpPr txBox="1"/>
          <p:nvPr/>
        </p:nvSpPr>
        <p:spPr>
          <a:xfrm>
            <a:off x="5014555" y="3133834"/>
            <a:ext cx="2409825" cy="261610"/>
          </a:xfrm>
          <a:prstGeom prst="rect">
            <a:avLst/>
          </a:prstGeom>
          <a:noFill/>
        </p:spPr>
        <p:txBody>
          <a:bodyPr wrap="square" rtlCol="0">
            <a:spAutoFit/>
          </a:bodyPr>
          <a:lstStyle/>
          <a:p>
            <a:r>
              <a:rPr lang="en-US" sz="1100" i="1" dirty="0" smtClean="0"/>
              <a:t>Examples of different types of CCs</a:t>
            </a:r>
            <a:endParaRPr lang="bg-BG" sz="1100" i="1" dirty="0"/>
          </a:p>
        </p:txBody>
      </p:sp>
    </p:spTree>
    <p:extLst>
      <p:ext uri="{BB962C8B-B14F-4D97-AF65-F5344CB8AC3E}">
        <p14:creationId xmlns:p14="http://schemas.microsoft.com/office/powerpoint/2010/main" val="125551815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solidFill>
                  <a:schemeClr val="accent3"/>
                </a:solidFill>
              </a:rPr>
              <a:t>Right hand-side VI</a:t>
            </a:r>
            <a:endParaRPr lang="en-GB" dirty="0">
              <a:solidFill>
                <a:schemeClr val="accent3"/>
              </a:solidFill>
            </a:endParaRPr>
          </a:p>
        </p:txBody>
      </p:sp>
      <p:sp>
        <p:nvSpPr>
          <p:cNvPr id="5" name="Content Placeholder 4"/>
          <p:cNvSpPr>
            <a:spLocks noGrp="1"/>
          </p:cNvSpPr>
          <p:nvPr>
            <p:ph sz="half" idx="1"/>
          </p:nvPr>
        </p:nvSpPr>
        <p:spPr>
          <a:xfrm>
            <a:off x="838199" y="1196974"/>
            <a:ext cx="10514014" cy="3022601"/>
          </a:xfrm>
        </p:spPr>
        <p:txBody>
          <a:bodyPr/>
          <a:lstStyle/>
          <a:p>
            <a:pPr>
              <a:lnSpc>
                <a:spcPct val="130000"/>
              </a:lnSpc>
              <a:spcBef>
                <a:spcPts val="0"/>
              </a:spcBef>
              <a:spcAft>
                <a:spcPts val="1200"/>
              </a:spcAft>
            </a:pPr>
            <a:r>
              <a:rPr lang="en-US" b="1" dirty="0" smtClean="0"/>
              <a:t>Spokespeople &amp; Commentators</a:t>
            </a:r>
          </a:p>
          <a:p>
            <a:pPr>
              <a:lnSpc>
                <a:spcPct val="130000"/>
              </a:lnSpc>
              <a:spcBef>
                <a:spcPts val="0"/>
              </a:spcBef>
              <a:spcAft>
                <a:spcPts val="1200"/>
              </a:spcAft>
            </a:pPr>
            <a:r>
              <a:rPr lang="en-US" dirty="0"/>
              <a:t>This is where we tag any spokespeople or commentators present in the article. A </a:t>
            </a:r>
            <a:r>
              <a:rPr lang="en-US" b="1" dirty="0"/>
              <a:t>spokesperson</a:t>
            </a:r>
            <a:r>
              <a:rPr lang="en-US" dirty="0"/>
              <a:t> is a </a:t>
            </a:r>
            <a:r>
              <a:rPr lang="en-US" b="1" dirty="0"/>
              <a:t>company representative </a:t>
            </a:r>
            <a:r>
              <a:rPr lang="en-US" dirty="0"/>
              <a:t>that has been quoted in the piece. A </a:t>
            </a:r>
            <a:r>
              <a:rPr lang="en-US" b="1" dirty="0"/>
              <a:t>commentator</a:t>
            </a:r>
            <a:r>
              <a:rPr lang="en-US" dirty="0"/>
              <a:t> is a </a:t>
            </a:r>
            <a:r>
              <a:rPr lang="en-US" b="1" dirty="0"/>
              <a:t>third-party representative </a:t>
            </a:r>
            <a:r>
              <a:rPr lang="en-US" dirty="0"/>
              <a:t>that has issued a statement in relation to the client</a:t>
            </a:r>
            <a:r>
              <a:rPr lang="en-US" b="1" dirty="0"/>
              <a:t>. A mere mention does not equal a spokesperson/commentator quote – the person should be featured with a statement in order for them to qualify as a spokesperson/commentator</a:t>
            </a:r>
            <a:r>
              <a:rPr lang="en-US" dirty="0"/>
              <a:t>. </a:t>
            </a:r>
            <a:endParaRPr lang="en-US" dirty="0" smtClean="0"/>
          </a:p>
          <a:p>
            <a:pPr>
              <a:lnSpc>
                <a:spcPct val="130000"/>
              </a:lnSpc>
              <a:spcBef>
                <a:spcPts val="0"/>
              </a:spcBef>
              <a:spcAft>
                <a:spcPts val="1200"/>
              </a:spcAft>
            </a:pPr>
            <a:r>
              <a:rPr lang="en-GB" dirty="0"/>
              <a:t>Thanks to the NLP function, Cogent gives suggestions for people’s names i.e., all people coloured in </a:t>
            </a:r>
            <a:r>
              <a:rPr lang="en-GB" dirty="0">
                <a:solidFill>
                  <a:schemeClr val="accent4"/>
                </a:solidFill>
              </a:rPr>
              <a:t>green</a:t>
            </a:r>
            <a:r>
              <a:rPr lang="en-GB" dirty="0"/>
              <a:t> in the article body should appear under the Spokespeople coding menu as suggestions. This </a:t>
            </a:r>
            <a:r>
              <a:rPr lang="en-GB" b="1" dirty="0"/>
              <a:t>does not mean they are spokespeople or commentators</a:t>
            </a:r>
            <a:r>
              <a:rPr lang="en-GB" dirty="0"/>
              <a:t> but it’s worth checking if they are. If you want to add a name that is not present as suggestion, you can do so by clicking on the +SP or +Com button. </a:t>
            </a:r>
            <a:endParaRPr lang="bg-BG" dirty="0"/>
          </a:p>
        </p:txBody>
      </p:sp>
      <p:pic>
        <p:nvPicPr>
          <p:cNvPr id="8" name="Picture 7"/>
          <p:cNvPicPr/>
          <p:nvPr/>
        </p:nvPicPr>
        <p:blipFill rotWithShape="1">
          <a:blip r:embed="rId2"/>
          <a:srcRect l="-1" r="919" b="2892"/>
          <a:stretch/>
        </p:blipFill>
        <p:spPr>
          <a:xfrm>
            <a:off x="998696" y="4757738"/>
            <a:ext cx="5049679" cy="1119188"/>
          </a:xfrm>
          <a:prstGeom prst="rect">
            <a:avLst/>
          </a:prstGeom>
        </p:spPr>
      </p:pic>
      <p:pic>
        <p:nvPicPr>
          <p:cNvPr id="9" name="Picture 8"/>
          <p:cNvPicPr/>
          <p:nvPr/>
        </p:nvPicPr>
        <p:blipFill>
          <a:blip r:embed="rId3"/>
          <a:stretch>
            <a:fillRect/>
          </a:stretch>
        </p:blipFill>
        <p:spPr>
          <a:xfrm>
            <a:off x="7759065" y="4189730"/>
            <a:ext cx="2865120" cy="2011045"/>
          </a:xfrm>
          <a:prstGeom prst="rect">
            <a:avLst/>
          </a:prstGeom>
        </p:spPr>
      </p:pic>
      <p:sp>
        <p:nvSpPr>
          <p:cNvPr id="6" name="TextBox 5"/>
          <p:cNvSpPr txBox="1"/>
          <p:nvPr/>
        </p:nvSpPr>
        <p:spPr>
          <a:xfrm>
            <a:off x="838199" y="5939165"/>
            <a:ext cx="6269183" cy="261610"/>
          </a:xfrm>
          <a:prstGeom prst="rect">
            <a:avLst/>
          </a:prstGeom>
          <a:noFill/>
        </p:spPr>
        <p:txBody>
          <a:bodyPr wrap="square" rtlCol="0">
            <a:spAutoFit/>
          </a:bodyPr>
          <a:lstStyle/>
          <a:p>
            <a:r>
              <a:rPr lang="en-US" sz="1100" i="1" dirty="0"/>
              <a:t>The menu is titled SPOKESPEOPLE, but it features both spokespeople &amp; commentators coding</a:t>
            </a:r>
            <a:endParaRPr lang="bg-BG" sz="1100" i="1" dirty="0"/>
          </a:p>
        </p:txBody>
      </p:sp>
    </p:spTree>
    <p:extLst>
      <p:ext uri="{BB962C8B-B14F-4D97-AF65-F5344CB8AC3E}">
        <p14:creationId xmlns:p14="http://schemas.microsoft.com/office/powerpoint/2010/main" val="253320350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solidFill>
                  <a:schemeClr val="accent3"/>
                </a:solidFill>
              </a:rPr>
              <a:t>Right hand-side VII</a:t>
            </a:r>
            <a:endParaRPr lang="en-GB" dirty="0">
              <a:solidFill>
                <a:schemeClr val="accent3"/>
              </a:solidFill>
            </a:endParaRPr>
          </a:p>
        </p:txBody>
      </p:sp>
      <p:sp>
        <p:nvSpPr>
          <p:cNvPr id="5" name="Content Placeholder 4"/>
          <p:cNvSpPr>
            <a:spLocks noGrp="1"/>
          </p:cNvSpPr>
          <p:nvPr>
            <p:ph sz="half" idx="1"/>
          </p:nvPr>
        </p:nvSpPr>
        <p:spPr>
          <a:xfrm>
            <a:off x="838199" y="1196974"/>
            <a:ext cx="10514014" cy="3022601"/>
          </a:xfrm>
        </p:spPr>
        <p:txBody>
          <a:bodyPr/>
          <a:lstStyle/>
          <a:p>
            <a:pPr>
              <a:lnSpc>
                <a:spcPct val="130000"/>
              </a:lnSpc>
              <a:spcBef>
                <a:spcPts val="0"/>
              </a:spcBef>
              <a:spcAft>
                <a:spcPts val="1200"/>
              </a:spcAft>
            </a:pPr>
            <a:r>
              <a:rPr lang="en-US" b="1" dirty="0" smtClean="0"/>
              <a:t>Spokespeople &amp; Commentators II</a:t>
            </a:r>
          </a:p>
          <a:p>
            <a:pPr>
              <a:lnSpc>
                <a:spcPct val="130000"/>
              </a:lnSpc>
              <a:spcBef>
                <a:spcPts val="0"/>
              </a:spcBef>
              <a:spcAft>
                <a:spcPts val="1200"/>
              </a:spcAft>
            </a:pPr>
            <a:r>
              <a:rPr lang="en-US" dirty="0"/>
              <a:t>Spokespeople &amp; Commentators have their own </a:t>
            </a:r>
            <a:r>
              <a:rPr lang="en-US" b="1" dirty="0"/>
              <a:t>roles</a:t>
            </a:r>
            <a:r>
              <a:rPr lang="en-US" dirty="0"/>
              <a:t> which are basically their </a:t>
            </a:r>
            <a:r>
              <a:rPr lang="en-US" b="1" dirty="0"/>
              <a:t>business occupation</a:t>
            </a:r>
            <a:r>
              <a:rPr lang="en-US" dirty="0"/>
              <a:t>. If the person has already been tagged as a spokes or </a:t>
            </a:r>
            <a:r>
              <a:rPr lang="en-US" dirty="0" err="1"/>
              <a:t>comms</a:t>
            </a:r>
            <a:r>
              <a:rPr lang="en-US" dirty="0"/>
              <a:t> in the Cogent environment, regardless if this has happened in this or any other project, the role will be filled in automatically. If not, you have to add it manually. </a:t>
            </a:r>
            <a:endParaRPr lang="en-US" dirty="0" smtClean="0"/>
          </a:p>
          <a:p>
            <a:pPr>
              <a:lnSpc>
                <a:spcPct val="130000"/>
              </a:lnSpc>
              <a:spcBef>
                <a:spcPts val="0"/>
              </a:spcBef>
              <a:spcAft>
                <a:spcPts val="1200"/>
              </a:spcAft>
            </a:pPr>
            <a:endParaRPr lang="en-US" dirty="0"/>
          </a:p>
          <a:p>
            <a:pPr>
              <a:lnSpc>
                <a:spcPct val="130000"/>
              </a:lnSpc>
              <a:spcBef>
                <a:spcPts val="0"/>
              </a:spcBef>
              <a:spcAft>
                <a:spcPts val="1200"/>
              </a:spcAft>
            </a:pPr>
            <a:r>
              <a:rPr lang="en-US" dirty="0"/>
              <a:t>The only difference between Spokesperson and Commentator coding is that </a:t>
            </a:r>
            <a:r>
              <a:rPr lang="en-US" b="1" dirty="0"/>
              <a:t>commentators have their own sentiment</a:t>
            </a:r>
            <a:r>
              <a:rPr lang="en-US" dirty="0"/>
              <a:t>. </a:t>
            </a:r>
            <a:r>
              <a:rPr lang="en-US" b="1" dirty="0"/>
              <a:t>This </a:t>
            </a:r>
            <a:r>
              <a:rPr lang="en-US" b="1" dirty="0" err="1"/>
              <a:t>favourability</a:t>
            </a:r>
            <a:r>
              <a:rPr lang="en-US" b="1" dirty="0"/>
              <a:t> is different from the overall sentiment coding</a:t>
            </a:r>
            <a:r>
              <a:rPr lang="en-US" dirty="0"/>
              <a:t> </a:t>
            </a:r>
            <a:r>
              <a:rPr lang="en-US" b="1" dirty="0"/>
              <a:t>of the article </a:t>
            </a:r>
            <a:r>
              <a:rPr lang="en-US" dirty="0"/>
              <a:t>and refers to that individual’s own thoughts and opinions on the client. Commentator sentiment is coded on the </a:t>
            </a:r>
            <a:r>
              <a:rPr lang="en-US" dirty="0" err="1"/>
              <a:t>Spokepeople</a:t>
            </a:r>
            <a:r>
              <a:rPr lang="en-US" dirty="0"/>
              <a:t> </a:t>
            </a:r>
            <a:r>
              <a:rPr lang="en-US" dirty="0" err="1"/>
              <a:t>Favourability</a:t>
            </a:r>
            <a:r>
              <a:rPr lang="en-US" dirty="0"/>
              <a:t> tableau (please see pic above) and is three-scale – </a:t>
            </a:r>
            <a:r>
              <a:rPr lang="en-US" dirty="0">
                <a:solidFill>
                  <a:schemeClr val="accent4"/>
                </a:solidFill>
              </a:rPr>
              <a:t>Positive</a:t>
            </a:r>
            <a:r>
              <a:rPr lang="en-US" dirty="0"/>
              <a:t>; </a:t>
            </a:r>
            <a:r>
              <a:rPr lang="en-US" dirty="0">
                <a:solidFill>
                  <a:schemeClr val="tx2"/>
                </a:solidFill>
              </a:rPr>
              <a:t>Neutral</a:t>
            </a:r>
            <a:r>
              <a:rPr lang="en-US" dirty="0"/>
              <a:t> (which often includes Balanced comments) and </a:t>
            </a:r>
            <a:r>
              <a:rPr lang="en-US" dirty="0" smtClean="0">
                <a:solidFill>
                  <a:srgbClr val="FF0000"/>
                </a:solidFill>
              </a:rPr>
              <a:t>Negative.</a:t>
            </a:r>
            <a:endParaRPr lang="en-US" dirty="0">
              <a:solidFill>
                <a:srgbClr val="FF0000"/>
              </a:solidFill>
            </a:endParaRPr>
          </a:p>
        </p:txBody>
      </p:sp>
      <p:pic>
        <p:nvPicPr>
          <p:cNvPr id="2" name="Picture 1"/>
          <p:cNvPicPr>
            <a:picLocks noChangeAspect="1"/>
          </p:cNvPicPr>
          <p:nvPr/>
        </p:nvPicPr>
        <p:blipFill>
          <a:blip r:embed="rId2"/>
          <a:stretch>
            <a:fillRect/>
          </a:stretch>
        </p:blipFill>
        <p:spPr>
          <a:xfrm>
            <a:off x="3014305" y="2708274"/>
            <a:ext cx="5115639" cy="409632"/>
          </a:xfrm>
          <a:prstGeom prst="rect">
            <a:avLst/>
          </a:prstGeom>
        </p:spPr>
      </p:pic>
      <p:sp>
        <p:nvSpPr>
          <p:cNvPr id="6" name="Rounded Rectangle 5"/>
          <p:cNvSpPr/>
          <p:nvPr/>
        </p:nvSpPr>
        <p:spPr>
          <a:xfrm>
            <a:off x="838198" y="4903788"/>
            <a:ext cx="10400609" cy="590925"/>
          </a:xfrm>
          <a:prstGeom prst="roundRect">
            <a:avLst/>
          </a:prstGeom>
          <a:solidFill>
            <a:srgbClr val="00FF87">
              <a:alpha val="5019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dirty="0" smtClean="0">
                <a:solidFill>
                  <a:schemeClr val="tx1"/>
                </a:solidFill>
              </a:rPr>
              <a:t>That’s all when it comes to the basic of the basics! That said, Cogent is huge so stay tuned for Cogent basics part II </a:t>
            </a:r>
            <a:r>
              <a:rPr lang="en-US" sz="1400" dirty="0" smtClean="0">
                <a:solidFill>
                  <a:schemeClr val="tx1"/>
                </a:solidFill>
                <a:sym typeface="Wingdings" panose="05000000000000000000" pitchFamily="2" charset="2"/>
              </a:rPr>
              <a:t></a:t>
            </a:r>
            <a:endParaRPr lang="bg-BG" sz="1400" dirty="0">
              <a:solidFill>
                <a:schemeClr val="tx1"/>
              </a:solidFill>
            </a:endParaRPr>
          </a:p>
        </p:txBody>
      </p:sp>
    </p:spTree>
    <p:extLst>
      <p:ext uri="{BB962C8B-B14F-4D97-AF65-F5344CB8AC3E}">
        <p14:creationId xmlns:p14="http://schemas.microsoft.com/office/powerpoint/2010/main" val="103703899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35158286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Commetric 2019">
      <a:dk1>
        <a:srgbClr val="000000"/>
      </a:dk1>
      <a:lt1>
        <a:srgbClr val="FFFFFF"/>
      </a:lt1>
      <a:dk2>
        <a:srgbClr val="404040"/>
      </a:dk2>
      <a:lt2>
        <a:srgbClr val="CCCCCC"/>
      </a:lt2>
      <a:accent1>
        <a:srgbClr val="35485F"/>
      </a:accent1>
      <a:accent2>
        <a:srgbClr val="0081C5"/>
      </a:accent2>
      <a:accent3>
        <a:srgbClr val="005F5F"/>
      </a:accent3>
      <a:accent4>
        <a:srgbClr val="689F38"/>
      </a:accent4>
      <a:accent5>
        <a:srgbClr val="FCB535"/>
      </a:accent5>
      <a:accent6>
        <a:srgbClr val="FF7043"/>
      </a:accent6>
      <a:hlink>
        <a:srgbClr val="0081C5"/>
      </a:hlink>
      <a:folHlink>
        <a:srgbClr val="AB47B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ommetric PPT Template 16-9-2023" id="{E4A68EA4-8D64-4474-94AD-380604E6431A}" vid="{271293DF-FE82-4708-A21E-EA7F531208C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Commetric PPT Template 16-9-2023</Template>
  <TotalTime>5077</TotalTime>
  <Words>3729</Words>
  <Application>Microsoft Office PowerPoint</Application>
  <PresentationFormat>Widescreen</PresentationFormat>
  <Paragraphs>164</Paragraphs>
  <Slides>27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Arial</vt:lpstr>
      <vt:lpstr>Calibri</vt:lpstr>
      <vt:lpstr>Wingdings</vt:lpstr>
      <vt:lpstr>Office Theme</vt:lpstr>
      <vt:lpstr>Cogent basics</vt:lpstr>
      <vt:lpstr>Table of contents</vt:lpstr>
      <vt:lpstr>What is Cogent?</vt:lpstr>
      <vt:lpstr>No, really, what is it?</vt:lpstr>
      <vt:lpstr>Signing in</vt:lpstr>
      <vt:lpstr>PowerPoint Presentation</vt:lpstr>
      <vt:lpstr>Where do all the articles come from?</vt:lpstr>
      <vt:lpstr>Media Analysis View</vt:lpstr>
      <vt:lpstr>To open a project in the Media Analysis View, click on its name in the project list</vt:lpstr>
      <vt:lpstr>Left-hand side</vt:lpstr>
      <vt:lpstr>Left-hand side II</vt:lpstr>
      <vt:lpstr>Left-hand side III</vt:lpstr>
      <vt:lpstr>Left-hand side IV</vt:lpstr>
      <vt:lpstr>Left-hand side V</vt:lpstr>
      <vt:lpstr>Left-hand side VI</vt:lpstr>
      <vt:lpstr>Centrefold</vt:lpstr>
      <vt:lpstr>Centrefold II</vt:lpstr>
      <vt:lpstr>Centrefold III</vt:lpstr>
      <vt:lpstr>Centrefold IV</vt:lpstr>
      <vt:lpstr>Right hand-side</vt:lpstr>
      <vt:lpstr>Right hand-side II</vt:lpstr>
      <vt:lpstr>Right hand-side III</vt:lpstr>
      <vt:lpstr>Right hand-side IV</vt:lpstr>
      <vt:lpstr>Right hand-side V</vt:lpstr>
      <vt:lpstr>Right hand-side VI</vt:lpstr>
      <vt:lpstr>Right hand-side VII</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Cogent basics</dc:title>
  <dc:creator>user</dc:creator>
  <cp:lastModifiedBy>Radina Ivanova</cp:lastModifiedBy>
  <cp:revision>80</cp:revision>
  <dcterms:created xsi:type="dcterms:W3CDTF">2023-05-11T05:35:44Z</dcterms:created>
  <dcterms:modified xsi:type="dcterms:W3CDTF">2023-05-25T12:50:26Z</dcterms:modified>
</cp:coreProperties>
</file>